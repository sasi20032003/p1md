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87" r:id="rId5"/>
    <p:sldId id="2147470512" r:id="rId25"/>
    <p:sldId id="2147470494" r:id="rId6"/>
    <p:sldId id="2147470511" r:id="rId24"/>
    <p:sldId id="2147470501" r:id="rId7"/>
    <p:sldId id="2147470510" r:id="rId23"/>
    <p:sldId id="2147470498" r:id="rId8"/>
    <p:sldId id="2147470509" r:id="rId22"/>
    <p:sldId id="2147470497" r:id="rId9"/>
    <p:sldId id="2147470508" r:id="rId21"/>
    <p:sldId id="2147470507" r:id="rId20"/>
    <p:sldId id="2147470506" r:id="rId19"/>
    <p:sldId id="2147470516" r:id="rId29"/>
    <p:sldId id="2147470515" r:id="rId28"/>
    <p:sldId id="2147470514" r:id="rId27"/>
    <p:sldId id="2147470518" r:id="rId31"/>
    <p:sldId id="2147470517" r:id="rId30"/>
    <p:sldId id="2147470499" r:id="rId10"/>
    <p:sldId id="2147470505" r:id="rId18"/>
    <p:sldId id="2147470503" r:id="rId12"/>
    <p:sldId id="2147470513" r:id="rId26"/>
    <p:sldId id="2147470504" r:id="rId17"/>
    <p:sldId id="2147470519" r:id="rId32"/>
    <p:sldId id="214747052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212" y="16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8.xml"/><Relationship Id="rId8" Type="http://schemas.openxmlformats.org/officeDocument/2006/relationships/slide" Target="slides/slide10.xml"/><Relationship Id="rId9" Type="http://schemas.openxmlformats.org/officeDocument/2006/relationships/slide" Target="slides/slide12.xml"/><Relationship Id="rId10" Type="http://schemas.openxmlformats.org/officeDocument/2006/relationships/slide" Target="slides/slide21.xml"/><Relationship Id="rId11" Type="http://schemas.openxmlformats.org/officeDocument/2006/relationships/notesMaster" Target="notesMasters/notesMaster1.xml"/><Relationship Id="rId12" Type="http://schemas.openxmlformats.org/officeDocument/2006/relationships/slide" Target="slides/slide23.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25.xml"/><Relationship Id="rId18" Type="http://schemas.openxmlformats.org/officeDocument/2006/relationships/slide" Target="slides/slide22.xml"/><Relationship Id="rId19" Type="http://schemas.openxmlformats.org/officeDocument/2006/relationships/slide" Target="slides/slide15.xml"/><Relationship Id="rId20" Type="http://schemas.openxmlformats.org/officeDocument/2006/relationships/slide" Target="slides/slide14.xml"/><Relationship Id="rId21" Type="http://schemas.openxmlformats.org/officeDocument/2006/relationships/slide" Target="slides/slide13.xml"/><Relationship Id="rId22" Type="http://schemas.openxmlformats.org/officeDocument/2006/relationships/slide" Target="slides/slide11.xml"/><Relationship Id="rId23" Type="http://schemas.openxmlformats.org/officeDocument/2006/relationships/slide" Target="slides/slide9.xml"/><Relationship Id="rId24" Type="http://schemas.openxmlformats.org/officeDocument/2006/relationships/slide" Target="slides/slide7.xml"/><Relationship Id="rId25" Type="http://schemas.openxmlformats.org/officeDocument/2006/relationships/slide" Target="slides/slide5.xml"/><Relationship Id="rId26" Type="http://schemas.openxmlformats.org/officeDocument/2006/relationships/slide" Target="slides/slide24.xml"/><Relationship Id="rId27" Type="http://schemas.openxmlformats.org/officeDocument/2006/relationships/slide" Target="slides/slide18.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20.xml"/><Relationship Id="rId31" Type="http://schemas.openxmlformats.org/officeDocument/2006/relationships/slide" Target="slides/slide19.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4E79"/>
                </a:solidFill>
              </a:rPr>
              <a:t>Layer scores: mean 0.0298 → ALLOW</a:t>
            </a:r>
          </a:p>
        </c:rich>
      </c:tx>
      <c:layout/>
      <c:overlay val="0"/>
    </c:title>
    <c:autoTitleDeleted val="0"/>
    <c:plotArea>
      <c:barChart>
        <c:barDir val="col"/>
        <c:grouping val="clustered"/>
        <c:ser>
          <c:idx val="0"/>
          <c:order val="0"/>
          <c:tx>
            <c:strRef>
              <c:f>Sheet1!$B$1</c:f>
              <c:strCache>
                <c:ptCount val="1"/>
                <c:pt idx="0">
                  <c:v>Anomaly score</c:v>
                </c:pt>
              </c:strCache>
            </c:strRef>
          </c:tx>
          <c:spPr>
            <a:solidFill>
              <a:srgbClr val="C8561F"/>
            </a:solidFill>
          </c:spPr>
          <c:cat>
            <c:strRef>
              <c:f>Sheet1!$A$2:$A$10</c:f>
              <c:strCache>
                <c:ptCount val="9"/>
                <c:pt idx="0">
                  <c:v>L1</c:v>
                </c:pt>
                <c:pt idx="1">
                  <c:v>L2</c:v>
                </c:pt>
                <c:pt idx="2">
                  <c:v>L3</c:v>
                </c:pt>
                <c:pt idx="3">
                  <c:v>L4</c:v>
                </c:pt>
                <c:pt idx="4">
                  <c:v>L5</c:v>
                </c:pt>
                <c:pt idx="5">
                  <c:v>L6</c:v>
                </c:pt>
                <c:pt idx="6">
                  <c:v>L7</c:v>
                </c:pt>
                <c:pt idx="7">
                  <c:v>L8</c:v>
                </c:pt>
                <c:pt idx="8">
                  <c:v>L100</c:v>
                </c:pt>
              </c:strCache>
            </c:strRef>
          </c:cat>
          <c:val>
            <c:numRef>
              <c:f>Sheet1!$B$2:$B$10</c:f>
              <c:numCache>
                <c:formatCode>General</c:formatCode>
                <c:ptCount val="9"/>
                <c:pt idx="0">
                  <c:v>0.98</c:v>
                </c:pt>
                <c:pt idx="1">
                  <c:v>0.02</c:v>
                </c:pt>
                <c:pt idx="2">
                  <c:v>0.02</c:v>
                </c:pt>
                <c:pt idx="3">
                  <c:v>0.02</c:v>
                </c:pt>
                <c:pt idx="4">
                  <c:v>0.02</c:v>
                </c:pt>
                <c:pt idx="5">
                  <c:v>0.02</c:v>
                </c:pt>
                <c:pt idx="6">
                  <c:v>0.02</c:v>
                </c:pt>
                <c:pt idx="7">
                  <c:v>0.02</c:v>
                </c:pt>
                <c:pt idx="8">
                  <c:v>0.02</c:v>
                </c:pt>
              </c:numCache>
            </c:numRef>
          </c:val>
        </c:ser>
        <c:dLbls>
          <c:numFmt formatCode="0.00" sourceLinked="0"/>
          <c:txPr>
            <a:bodyPr/>
            <a:lstStyle/>
            <a:p>
              <a:pPr>
                <a:defRPr sz="1100"/>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A6A6A6"/>
            </a:solidFill>
          </a:ln>
        </c:spPr>
        <c:txPr>
          <a:bodyPr/>
          <a:lstStyle/>
          <a:p>
            <a:pPr>
              <a:defRPr sz="1200"/>
            </a:pPr>
          </a:p>
        </c:txPr>
        <c:crossAx val="-2113994440"/>
        <c:crosses val="autoZero"/>
        <c:auto val="1"/>
        <c:lblAlgn val="ctr"/>
        <c:lblOffset val="100"/>
        <c:noMultiLvlLbl val="0"/>
      </c:catAx>
      <c:valAx>
        <c:axId val="-2113994440"/>
        <c:scaling>
          <c:max val="1.2"/>
          <c:min val="0.0"/>
        </c:scaling>
        <c:delete/>
        <c:axPos val="l"/>
        <c:majorTickMark val="out"/>
        <c:minorTickMark val="none"/>
        <c:tickLblPos val="nextTo"/>
        <c:crossAx val="-2068027336"/>
        <c:crosses val="autoZero"/>
      </c:valAx>
    </c:plotArea>
    <c:dispBlanksAs val="gap"/>
  </c:chart>
  <c:txPr>
    <a:bodyPr/>
    <a:lstStyle/>
    <a:p>
      <a:pPr>
        <a:defRPr sz="1200">
          <a:solidFill>
            <a:srgbClr val="2B3A55"/>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4E79"/>
                </a:solidFill>
              </a:rPr>
              <a:t>Cross-validation performance</a:t>
            </a:r>
          </a:p>
        </c:rich>
      </c:tx>
      <c:layout/>
      <c:overlay val="0"/>
    </c:title>
    <c:autoTitleDeleted val="0"/>
    <c:plotArea>
      <c:barChart>
        <c:barDir val="col"/>
        <c:grouping val="clustered"/>
        <c:ser>
          <c:idx val="0"/>
          <c:order val="0"/>
          <c:tx>
            <c:strRef>
              <c:f>Sheet1!$B$1</c:f>
              <c:strCache>
                <c:ptCount val="1"/>
                <c:pt idx="0">
                  <c:v>Accuracy (%)</c:v>
                </c:pt>
              </c:strCache>
            </c:strRef>
          </c:tx>
          <c:spPr>
            <a:solidFill>
              <a:srgbClr val="1C4D98"/>
            </a:solidFill>
          </c:spPr>
          <c:cat>
            <c:strRef>
              <c:f>Sheet1!$A$2:$A$4</c:f>
              <c:strCache>
                <c:ptCount val="3"/>
                <c:pt idx="0">
                  <c:v>Distributional alone</c:v>
                </c:pt>
                <c:pt idx="1">
                  <c:v>Spectral alone</c:v>
                </c:pt>
                <c:pt idx="2">
                  <c:v>Combined</c:v>
                </c:pt>
              </c:strCache>
            </c:strRef>
          </c:cat>
          <c:val>
            <c:numRef>
              <c:f>Sheet1!$B$2:$B$4</c:f>
              <c:numCache>
                <c:formatCode>General</c:formatCode>
                <c:ptCount val="3"/>
                <c:pt idx="0">
                  <c:v>90.0</c:v>
                </c:pt>
                <c:pt idx="1">
                  <c:v>96.5</c:v>
                </c:pt>
                <c:pt idx="2">
                  <c:v>96.5</c:v>
                </c:pt>
              </c:numCache>
            </c:numRef>
          </c:val>
        </c:ser>
        <c:ser>
          <c:idx val="1"/>
          <c:order val="1"/>
          <c:tx>
            <c:strRef>
              <c:f>Sheet1!$C$1</c:f>
              <c:strCache>
                <c:ptCount val="1"/>
                <c:pt idx="0">
                  <c:v>ROC-AUC (x100)</c:v>
                </c:pt>
              </c:strCache>
            </c:strRef>
          </c:tx>
          <c:spPr>
            <a:solidFill>
              <a:srgbClr val="47BDAF"/>
            </a:solidFill>
          </c:spPr>
          <c:cat>
            <c:strRef>
              <c:f>Sheet1!$A$2:$A$4</c:f>
              <c:strCache>
                <c:ptCount val="3"/>
                <c:pt idx="0">
                  <c:v>Distributional alone</c:v>
                </c:pt>
                <c:pt idx="1">
                  <c:v>Spectral alone</c:v>
                </c:pt>
                <c:pt idx="2">
                  <c:v>Combined</c:v>
                </c:pt>
              </c:strCache>
            </c:strRef>
          </c:cat>
          <c:val>
            <c:numRef>
              <c:f>Sheet1!$C$2:$C$4</c:f>
              <c:numCache>
                <c:formatCode>General</c:formatCode>
                <c:ptCount val="3"/>
                <c:pt idx="0">
                  <c:v>94.7</c:v>
                </c:pt>
                <c:pt idx="1">
                  <c:v>98.7</c:v>
                </c:pt>
                <c:pt idx="2">
                  <c:v>98.7</c:v>
                </c:pt>
              </c:numCache>
            </c:numRef>
          </c:val>
        </c:ser>
        <c:dLbls>
          <c:numFmt formatCode="0.0&quot;%&quot;" sourceLinked="0"/>
          <c:txPr>
            <a:bodyPr/>
            <a:lstStyle/>
            <a:p>
              <a:pPr>
                <a:defRPr sz="1100"/>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A6A6A6"/>
            </a:solidFill>
          </a:ln>
        </c:spPr>
        <c:txPr>
          <a:bodyPr/>
          <a:lstStyle/>
          <a:p>
            <a:pPr>
              <a:defRPr sz="1200"/>
            </a:pPr>
          </a:p>
        </c:txPr>
        <c:crossAx val="-2113994440"/>
        <c:crosses val="autoZero"/>
        <c:auto val="1"/>
        <c:lblAlgn val="ctr"/>
        <c:lblOffset val="100"/>
        <c:noMultiLvlLbl val="0"/>
      </c:catAx>
      <c:valAx>
        <c:axId val="-2113994440"/>
        <c:scaling>
          <c:max val="115.0"/>
          <c:min val="0.0"/>
        </c:scaling>
        <c:delete/>
        <c:axPos val="l"/>
        <c:majorTickMark val="out"/>
        <c:minorTickMark val="none"/>
        <c:tickLblPos val="nextTo"/>
        <c:crossAx val="-2068027336"/>
        <c:crosses val="autoZero"/>
      </c:valAx>
    </c:plotArea>
    <c:legend>
      <c:legendPos val="b"/>
      <c:overlay val="0"/>
      <c:txPr>
        <a:bodyPr/>
        <a:lstStyle/>
        <a:p>
          <a:pPr>
            <a:defRPr sz="1200"/>
          </a:pPr>
        </a:p>
      </c:txPr>
    </c:legend>
    <c:dispBlanksAs val="gap"/>
  </c:chart>
  <c:txPr>
    <a:bodyPr/>
    <a:lstStyle/>
    <a:p>
      <a:pPr>
        <a:defRPr sz="1200">
          <a:solidFill>
            <a:srgbClr val="2B3A55"/>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4E79"/>
                </a:solidFill>
              </a:rPr>
              <a:t>Detection accuracy (%)</a:t>
            </a:r>
          </a:p>
        </c:rich>
      </c:tx>
      <c:layout/>
      <c:overlay val="0"/>
    </c:title>
    <c:autoTitleDeleted val="0"/>
    <c:plotArea>
      <c:barChart>
        <c:barDir val="col"/>
        <c:grouping val="clustered"/>
        <c:ser>
          <c:idx val="0"/>
          <c:order val="0"/>
          <c:tx>
            <c:strRef>
              <c:f>Sheet1!$B$1</c:f>
              <c:strCache>
                <c:ptCount val="1"/>
                <c:pt idx="0">
                  <c:v>Pre-optimization</c:v>
                </c:pt>
              </c:strCache>
            </c:strRef>
          </c:tx>
          <c:spPr>
            <a:solidFill>
              <a:srgbClr val="A6A6A6"/>
            </a:solidFill>
          </c:spPr>
          <c:cat>
            <c:strRef>
              <c:f>Sheet1!$A$2:$A$5</c:f>
              <c:strCache>
                <c:ptCount val="4"/>
                <c:pt idx="0">
                  <c:v>outlier_spike</c:v>
                </c:pt>
                <c:pt idx="1">
                  <c:v>repeated_const</c:v>
                </c:pt>
                <c:pt idx="2">
                  <c:v>bimodal_trigger</c:v>
                </c:pt>
                <c:pt idx="3">
                  <c:v>kurtosis_skew</c:v>
                </c:pt>
              </c:strCache>
            </c:strRef>
          </c:cat>
          <c:val>
            <c:numRef>
              <c:f>Sheet1!$B$2:$B$5</c:f>
              <c:numCache>
                <c:formatCode>General</c:formatCode>
                <c:ptCount val="4"/>
                <c:pt idx="0">
                  <c:v>96.2</c:v>
                </c:pt>
                <c:pt idx="1">
                  <c:v>71.4</c:v>
                </c:pt>
                <c:pt idx="2">
                  <c:v>24.0</c:v>
                </c:pt>
                <c:pt idx="3">
                  <c:v>86.7</c:v>
                </c:pt>
              </c:numCache>
            </c:numRef>
          </c:val>
        </c:ser>
        <c:ser>
          <c:idx val="1"/>
          <c:order val="1"/>
          <c:tx>
            <c:strRef>
              <c:f>Sheet1!$C$1</c:f>
              <c:strCache>
                <c:ptCount val="1"/>
                <c:pt idx="0">
                  <c:v>Post-optimization</c:v>
                </c:pt>
              </c:strCache>
            </c:strRef>
          </c:tx>
          <c:spPr>
            <a:solidFill>
              <a:srgbClr val="1C4D98"/>
            </a:solidFill>
          </c:spPr>
          <c:cat>
            <c:strRef>
              <c:f>Sheet1!$A$2:$A$5</c:f>
              <c:strCache>
                <c:ptCount val="4"/>
                <c:pt idx="0">
                  <c:v>outlier_spike</c:v>
                </c:pt>
                <c:pt idx="1">
                  <c:v>repeated_const</c:v>
                </c:pt>
                <c:pt idx="2">
                  <c:v>bimodal_trigger</c:v>
                </c:pt>
                <c:pt idx="3">
                  <c:v>kurtosis_skew</c:v>
                </c:pt>
              </c:strCache>
            </c:strRef>
          </c:cat>
          <c:val>
            <c:numRef>
              <c:f>Sheet1!$C$2:$C$5</c:f>
              <c:numCache>
                <c:formatCode>General</c:formatCode>
                <c:ptCount val="4"/>
                <c:pt idx="0">
                  <c:v>100.0</c:v>
                </c:pt>
                <c:pt idx="1">
                  <c:v>100.0</c:v>
                </c:pt>
                <c:pt idx="2">
                  <c:v>96.0</c:v>
                </c:pt>
                <c:pt idx="3">
                  <c:v>86.7</c:v>
                </c:pt>
              </c:numCache>
            </c:numRef>
          </c:val>
        </c:ser>
        <c:dLbls>
          <c:numFmt formatCode="0.0&quot;%&quot;" sourceLinked="0"/>
          <c:txPr>
            <a:bodyPr/>
            <a:lstStyle/>
            <a:p>
              <a:pPr>
                <a:defRPr sz="1100"/>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A6A6A6"/>
            </a:solidFill>
          </a:ln>
        </c:spPr>
        <c:txPr>
          <a:bodyPr/>
          <a:lstStyle/>
          <a:p>
            <a:pPr>
              <a:defRPr sz="1200"/>
            </a:pPr>
          </a:p>
        </c:txPr>
        <c:crossAx val="-2113994440"/>
        <c:crosses val="autoZero"/>
        <c:auto val="1"/>
        <c:lblAlgn val="ctr"/>
        <c:lblOffset val="100"/>
        <c:noMultiLvlLbl val="0"/>
      </c:catAx>
      <c:valAx>
        <c:axId val="-2113994440"/>
        <c:scaling>
          <c:max val="115.0"/>
          <c:min val="0.0"/>
        </c:scaling>
        <c:delete/>
        <c:axPos val="l"/>
        <c:majorTickMark val="out"/>
        <c:minorTickMark val="none"/>
        <c:tickLblPos val="nextTo"/>
        <c:crossAx val="-2068027336"/>
        <c:crosses val="autoZero"/>
      </c:valAx>
    </c:plotArea>
    <c:legend>
      <c:legendPos val="b"/>
      <c:overlay val="0"/>
      <c:txPr>
        <a:bodyPr/>
        <a:lstStyle/>
        <a:p>
          <a:pPr>
            <a:defRPr sz="1200"/>
          </a:pPr>
        </a:p>
      </c:txPr>
    </c:legend>
    <c:dispBlanksAs val="gap"/>
  </c:chart>
  <c:txPr>
    <a:bodyPr/>
    <a:lstStyle/>
    <a:p>
      <a:pPr>
        <a:defRPr sz="1200">
          <a:solidFill>
            <a:srgbClr val="2B3A55"/>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sz="1100" b="1"/>
              <a:t>⏱ TIME:  0:00–0:30  |  Slide 1 Title</a:t>
            </a:r>
          </a:p>
          <a:p>
            <a:r>
              <a:rPr sz="1100" b="0"/>
              <a:t/>
            </a:r>
          </a:p>
          <a:p>
            <a:r>
              <a:rPr sz="1100" b="1"/>
              <a:t>👆 POINT TO:  The project title text, then yourself. Smile, pause one beat.</a:t>
            </a:r>
          </a:p>
          <a:p>
            <a:r>
              <a:rPr sz="1100" b="0"/>
              <a:t/>
            </a:r>
          </a:p>
          <a:p>
            <a:r>
              <a:rPr sz="1100" b="1"/>
              <a:t>🗣 SAY:</a:t>
            </a:r>
          </a:p>
          <a:p>
            <a:r>
              <a:rPr sz="1100" b="0"/>
              <a:t>Companies download open-source AI models from Hugging Face and Civitai, but traditional .pt and .bin pickle files risk arbitrary code execution on load. SafeTensors reduces this by storing tensors without pickle, but a safe file format does not guarantee safe weights — this is the SafeTensors Fallacy.</a:t>
            </a:r>
          </a:p>
          <a:p>
            <a:r>
              <a:rPr sz="1100" b="0"/>
              <a:t/>
            </a:r>
          </a:p>
          <a:p>
            <a:r>
              <a:rPr sz="1100" b="0"/>
              <a:t>Attackers may manipulate weights to introduce backdoors, create unusual attention patterns, or hide data in floating-point representations. Existing scanners miss these weight-level modifications. Layer dilution makes it harder still: an anomaly in one layer can disappear when scores are averaged across the model.</a:t>
            </a:r>
          </a:p>
          <a:p>
            <a:r>
              <a:rPr sz="1100" b="0"/>
              <a:t/>
            </a:r>
          </a:p>
          <a:p>
            <a:r>
              <a:rPr sz="1100" b="0"/>
              <a:t>In short: the envelope may be safe, but the letter inside may still be malicious.</a:t>
            </a:r>
          </a:p>
          <a:p>
            <a:r>
              <a:rPr sz="1100" b="0"/>
              <a:t/>
            </a:r>
          </a:p>
          <a:p>
            <a:r>
              <a:rPr sz="1100" b="1"/>
              <a:t>🆘 IF YOU BLANK:  "ModelSentinel: AI model supply-chain security."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0:30–1:15  |  Slide 2 Introduction</a:t>
            </a:r>
          </a:p>
          <a:p>
            <a:r>
              <a:t/>
            </a:r>
          </a:p>
          <a:p>
            <a:r>
              <a:rPr b="1" sz="1100"/>
              <a:t>👆 POINT TO:</a:t>
            </a:r>
          </a:p>
          <a:p>
            <a:r>
              <a:rPr sz="1100"/>
              <a:t>The SafeTensors Fallacy comparison table on the right.</a:t>
            </a:r>
          </a:p>
          <a:p>
            <a:r>
              <a:t/>
            </a:r>
          </a:p>
          <a:p>
            <a:r>
              <a:rPr b="1" sz="1100"/>
              <a:t>🗣 SAY:</a:t>
            </a:r>
          </a:p>
          <a:p>
            <a:r>
              <a:rPr sz="1100"/>
              <a:t>INTRODUCTION &amp; PROBLEM STATEMENT</a:t>
            </a:r>
          </a:p>
          <a:p>
            <a:r>
              <a:rPr sz="1100"/>
              <a:t/>
            </a:r>
          </a:p>
          <a:p>
            <a:r>
              <a:rPr sz="1100"/>
              <a:t>Companies download open-source AI models from Hugging Face and Civitai, but traditional .pt and .bin pickle files risk arbitrary code execution on load. SafeTensors reduces this by storing tensors without pickle, but a safe file format does not guarantee safe weights — this is the SafeTensors Fallacy.</a:t>
            </a:r>
          </a:p>
          <a:p>
            <a:r>
              <a:rPr sz="1100"/>
              <a:t/>
            </a:r>
          </a:p>
          <a:p>
            <a:r>
              <a:rPr sz="1100"/>
              <a:t>Attackers may manipulate weights to introduce backdoors, create unusual attention patterns, or hide data in floating-point representations. Existing scanners miss these weight-level modifications. Layer dilution makes it harder still: an anomaly in one layer can disappear when scores are averaged across the model.</a:t>
            </a:r>
          </a:p>
          <a:p>
            <a:r>
              <a:rPr sz="1100"/>
              <a:t/>
            </a:r>
          </a:p>
          <a:p>
            <a:r>
              <a:rPr sz="1100"/>
              <a:t>In short: the envelope may be safe, but the letter inside may still be malicious.</a:t>
            </a:r>
          </a:p>
          <a:p>
            <a:r>
              <a:t/>
            </a:r>
          </a:p>
          <a:p>
            <a:r>
              <a:rPr b="1" sz="1100"/>
              <a:t>🆘 IF YOU BLANK:</a:t>
            </a:r>
          </a:p>
          <a:p>
            <a:r>
              <a:rPr sz="1100"/>
              <a:t>Envelope safe, letter malicious.</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1:15–2:00  |  Slide 3 Objective</a:t>
            </a:r>
          </a:p>
          <a:p>
            <a:r>
              <a:t/>
            </a:r>
          </a:p>
          <a:p>
            <a:r>
              <a:rPr b="1" sz="1100"/>
              <a:t>👆 POINT TO:</a:t>
            </a:r>
          </a:p>
          <a:p>
            <a:r>
              <a:rPr sz="1100"/>
              <a:t>Six KPI cards — touch 0.0% false quarantine.</a:t>
            </a:r>
          </a:p>
          <a:p>
            <a:r>
              <a:t/>
            </a:r>
          </a:p>
          <a:p>
            <a:r>
              <a:rPr b="1" sz="1100"/>
              <a:t>🗣 SAY:</a:t>
            </a:r>
          </a:p>
          <a:p>
            <a:r>
              <a:rPr sz="1100"/>
              <a:t>OBJECTIVE &amp; ARCHITECTURE</a:t>
            </a:r>
          </a:p>
          <a:p>
            <a:r>
              <a:rPr sz="1100"/>
              <a:t/>
            </a:r>
          </a:p>
          <a:p>
            <a:r>
              <a:rPr sz="1100"/>
              <a:t>ModelSentinel is a static forensic scanner that analyses SafeTensors weights as numerical data without executing the model, producing an explainable ALLOW / REVIEW / QUARANTINE verdict.</a:t>
            </a:r>
          </a:p>
          <a:p>
            <a:r>
              <a:rPr sz="1100"/>
              <a:t/>
            </a:r>
          </a:p>
          <a:p>
            <a:r>
              <a:rPr sz="1100"/>
              <a:t>10-stage pipeline:</a:t>
            </a:r>
          </a:p>
          <a:p>
            <a:r>
              <a:rPr sz="1100"/>
              <a:t>1. Memory-mapped ingestion, SHA-256 hashing, fail-closed validation — parsing errors never produce ALLOW.</a:t>
            </a:r>
          </a:p>
          <a:p>
            <a:r>
              <a:rPr sz="1100"/>
              <a:t>2. Tensor stratification into functional groups (linear, norm, conv, embedding) to avoid misleading cross-type comparisons.</a:t>
            </a:r>
          </a:p>
          <a:p>
            <a:r>
              <a:rPr sz="1100"/>
              <a:t>3. Feature extraction: distributional statistics + RMT spectral analysis + attention structural checks.</a:t>
            </a:r>
          </a:p>
          <a:p>
            <a:r>
              <a:rPr sz="1100"/>
              <a:t>4. LSE-MIL aggregation — emphasises suspicious individual layers instead of diluting them in a global average.</a:t>
            </a:r>
          </a:p>
          <a:p>
            <a:r>
              <a:rPr sz="1100"/>
              <a:t>5. Remediation investigation — identifies surgical fixes for suspicious low-rank components without touching the rest of the model.</a:t>
            </a:r>
          </a:p>
          <a:p>
            <a:r>
              <a:t/>
            </a:r>
          </a:p>
          <a:p>
            <a:r>
              <a:rPr b="1" sz="1100"/>
              <a:t>🆘 IF YOU BLANK:</a:t>
            </a:r>
          </a:p>
          <a:p>
            <a:r>
              <a:rPr sz="1100"/>
              <a:t>Zero code execution, explainable verdict.</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1:15–2:00  |  Slide 4 Architecture stages</a:t>
            </a:r>
          </a:p>
          <a:p>
            <a:r>
              <a:t/>
            </a:r>
          </a:p>
          <a:p>
            <a:r>
              <a:rPr b="1" sz="1100"/>
              <a:t>👆 POINT TO:</a:t>
            </a:r>
          </a:p>
          <a:p>
            <a:r>
              <a:rPr sz="1100"/>
              <a:t>Stage 1, Stage 2, then circle Stage 7 (LSE-MIL) and Stage 10 (remediation).</a:t>
            </a:r>
          </a:p>
          <a:p>
            <a:r>
              <a:t/>
            </a:r>
          </a:p>
          <a:p>
            <a:r>
              <a:rPr b="1" sz="1100"/>
              <a:t>🗣 SAY:</a:t>
            </a:r>
          </a:p>
          <a:p>
            <a:r>
              <a:rPr sz="1100"/>
              <a:t>OBJECTIVE &amp; ARCHITECTURE</a:t>
            </a:r>
          </a:p>
          <a:p>
            <a:r>
              <a:rPr sz="1100"/>
              <a:t/>
            </a:r>
          </a:p>
          <a:p>
            <a:r>
              <a:rPr sz="1100"/>
              <a:t>ModelSentinel is a static forensic scanner that analyses SafeTensors weights as numerical data without executing the model, producing an explainable ALLOW / REVIEW / QUARANTINE verdict.</a:t>
            </a:r>
          </a:p>
          <a:p>
            <a:r>
              <a:rPr sz="1100"/>
              <a:t/>
            </a:r>
          </a:p>
          <a:p>
            <a:r>
              <a:rPr sz="1100"/>
              <a:t>10-stage pipeline:</a:t>
            </a:r>
          </a:p>
          <a:p>
            <a:r>
              <a:rPr sz="1100"/>
              <a:t>1. Memory-mapped ingestion, SHA-256 hashing, fail-closed validation — parsing errors never produce ALLOW.</a:t>
            </a:r>
          </a:p>
          <a:p>
            <a:r>
              <a:rPr sz="1100"/>
              <a:t>2. Tensor stratification into functional groups (linear, norm, conv, embedding) to avoid misleading cross-type comparisons.</a:t>
            </a:r>
          </a:p>
          <a:p>
            <a:r>
              <a:rPr sz="1100"/>
              <a:t>3. Feature extraction: distributional statistics + RMT spectral analysis + attention structural checks.</a:t>
            </a:r>
          </a:p>
          <a:p>
            <a:r>
              <a:rPr sz="1100"/>
              <a:t>4. LSE-MIL aggregation — emphasises suspicious individual layers instead of diluting them in a global average.</a:t>
            </a:r>
          </a:p>
          <a:p>
            <a:r>
              <a:rPr sz="1100"/>
              <a:t>5. Remediation investigation — identifies surgical fixes for suspicious low-rank components without touching the rest of the model.</a:t>
            </a:r>
          </a:p>
          <a:p>
            <a:r>
              <a:t/>
            </a:r>
          </a:p>
          <a:p>
            <a:r>
              <a:rPr b="1" sz="1100"/>
              <a:t>🆘 IF YOU BLANK:</a:t>
            </a:r>
          </a:p>
          <a:p>
            <a:r>
              <a:rPr sz="1100"/>
              <a:t>10 stages; LSE-MIL kills layer dilution; SVD repair in 2 seconds.</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Flash 10 s  |  Slide 5 Pipeline flowchart</a:t>
            </a:r>
          </a:p>
          <a:p>
            <a:r>
              <a:t/>
            </a:r>
          </a:p>
          <a:p>
            <a:r>
              <a:rPr b="1" sz="1100"/>
              <a:t>👆 POINT TO:</a:t>
            </a:r>
          </a:p>
          <a:p>
            <a:r>
              <a:rPr sz="1100"/>
              <a:t>Trace top row left→right, drop down, bottom row right→left.</a:t>
            </a:r>
          </a:p>
          <a:p>
            <a:r>
              <a:t/>
            </a:r>
          </a:p>
          <a:p>
            <a:r>
              <a:rPr b="1" sz="1100"/>
              <a:t>🗣 SAY:</a:t>
            </a:r>
          </a:p>
          <a:p>
            <a:r>
              <a:rPr sz="1100"/>
              <a:t>Trace the pipeline with your finger: file in, ingestion, stratification, dual engine, scoring, pooling, localization, decision engine, then API and dashboard. Nothing ever executed.</a:t>
            </a:r>
          </a:p>
          <a:p>
            <a:r>
              <a:t/>
            </a:r>
          </a:p>
          <a:p>
            <a:r>
              <a:rPr b="1" sz="1100"/>
              <a:t>🆘 IF YOU BLANK:</a:t>
            </a:r>
          </a:p>
          <a:p>
            <a:r>
              <a:rPr sz="1100"/>
              <a:t>File in, verdict out, nothing executed.</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0:30–1:15  |  Slide 6 Problem Statement</a:t>
            </a:r>
          </a:p>
          <a:p>
            <a:r>
              <a:t/>
            </a:r>
          </a:p>
          <a:p>
            <a:r>
              <a:rPr b="1" sz="1100"/>
              <a:t>👆 POINT TO:</a:t>
            </a:r>
          </a:p>
          <a:p>
            <a:r>
              <a:rPr sz="1100"/>
              <a:t>Read the quote, then the three threat cards left to right.</a:t>
            </a:r>
          </a:p>
          <a:p>
            <a:r>
              <a:t/>
            </a:r>
          </a:p>
          <a:p>
            <a:r>
              <a:rPr b="1" sz="1100"/>
              <a:t>🗣 SAY:</a:t>
            </a:r>
          </a:p>
          <a:p>
            <a:r>
              <a:rPr sz="1100"/>
              <a:t>INTRODUCTION &amp; PROBLEM STATEMENT</a:t>
            </a:r>
          </a:p>
          <a:p>
            <a:r>
              <a:rPr sz="1100"/>
              <a:t/>
            </a:r>
          </a:p>
          <a:p>
            <a:r>
              <a:rPr sz="1100"/>
              <a:t>Companies download open-source AI models from Hugging Face and Civitai, but traditional .pt and .bin pickle files risk arbitrary code execution on load. SafeTensors reduces this by storing tensors without pickle, but a safe file format does not guarantee safe weights — this is the SafeTensors Fallacy.</a:t>
            </a:r>
          </a:p>
          <a:p>
            <a:r>
              <a:rPr sz="1100"/>
              <a:t/>
            </a:r>
          </a:p>
          <a:p>
            <a:r>
              <a:rPr sz="1100"/>
              <a:t>Attackers may manipulate weights to introduce backdoors, create unusual attention patterns, or hide data in floating-point representations. Existing scanners miss these weight-level modifications. Layer dilution makes it harder still: an anomaly in one layer can disappear when scores are averaged across the model.</a:t>
            </a:r>
          </a:p>
          <a:p>
            <a:r>
              <a:rPr sz="1100"/>
              <a:t/>
            </a:r>
          </a:p>
          <a:p>
            <a:r>
              <a:rPr sz="1100"/>
              <a:t>In short: the envelope may be safe, but the letter inside may still be malicious.</a:t>
            </a:r>
          </a:p>
          <a:p>
            <a:r>
              <a:t/>
            </a:r>
          </a:p>
          <a:p>
            <a:r>
              <a:rPr b="1" sz="1100"/>
              <a:t>🆘 IF YOU BLANK:</a:t>
            </a:r>
          </a:p>
          <a:p>
            <a:r>
              <a:rPr sz="1100"/>
              <a:t>Three attacks: Trojan, hijacking, stego.</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0:30–1:15 tail  |  Slide 7 Why tools fail</a:t>
            </a:r>
          </a:p>
          <a:p>
            <a:r>
              <a:t/>
            </a:r>
          </a:p>
          <a:p>
            <a:r>
              <a:rPr b="1" sz="1100"/>
              <a:t>👆 POINT TO:</a:t>
            </a:r>
          </a:p>
          <a:p>
            <a:r>
              <a:rPr sz="1100"/>
              <a:t>PickleScan row, then the dilution bar chart.</a:t>
            </a:r>
          </a:p>
          <a:p>
            <a:r>
              <a:t/>
            </a:r>
          </a:p>
          <a:p>
            <a:r>
              <a:rPr b="1" sz="1100"/>
              <a:t>🗣 SAY:</a:t>
            </a:r>
          </a:p>
          <a:p>
            <a:r>
              <a:rPr sz="1100"/>
              <a:t>INTRODUCTION &amp; PROBLEM STATEMENT</a:t>
            </a:r>
          </a:p>
          <a:p>
            <a:r>
              <a:rPr sz="1100"/>
              <a:t/>
            </a:r>
          </a:p>
          <a:p>
            <a:r>
              <a:rPr sz="1100"/>
              <a:t>Companies download open-source AI models from Hugging Face and Civitai, but traditional .pt and .bin pickle files risk arbitrary code execution on load. SafeTensors reduces this by storing tensors without pickle, but a safe file format does not guarantee safe weights — this is the SafeTensors Fallacy.</a:t>
            </a:r>
          </a:p>
          <a:p>
            <a:r>
              <a:rPr sz="1100"/>
              <a:t/>
            </a:r>
          </a:p>
          <a:p>
            <a:r>
              <a:rPr sz="1100"/>
              <a:t>Attackers may manipulate weights to introduce backdoors, create unusual attention patterns, or hide data in floating-point representations. Existing scanners miss these weight-level modifications. Layer dilution makes it harder still: an anomaly in one layer can disappear when scores are averaged across the model.</a:t>
            </a:r>
          </a:p>
          <a:p>
            <a:r>
              <a:rPr sz="1100"/>
              <a:t/>
            </a:r>
          </a:p>
          <a:p>
            <a:r>
              <a:rPr sz="1100"/>
              <a:t>In short: the envelope may be safe, but the letter inside may still be malicious.</a:t>
            </a:r>
          </a:p>
          <a:p>
            <a:r>
              <a:t/>
            </a:r>
          </a:p>
          <a:p>
            <a:r>
              <a:rPr b="1" sz="1100"/>
              <a:t>🆘 IF YOU BLANK:</a:t>
            </a:r>
          </a:p>
          <a:p>
            <a:r>
              <a:rPr sz="1100"/>
              <a:t>Green checkmark on a trojaned file; 0.95 diluted to 0.0095.</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Flash 10 s  |  Slide 8 Methodology cards</a:t>
            </a:r>
          </a:p>
          <a:p>
            <a:r>
              <a:t/>
            </a:r>
          </a:p>
          <a:p>
            <a:r>
              <a:rPr b="1" sz="1100"/>
              <a:t>👆 POINT TO:</a:t>
            </a:r>
          </a:p>
          <a:p>
            <a:r>
              <a:rPr sz="1100"/>
              <a:t>Cards 6.1 and 6.4 (anti-dilution).</a:t>
            </a:r>
          </a:p>
          <a:p>
            <a:r>
              <a:t/>
            </a:r>
          </a:p>
          <a:p>
            <a:r>
              <a:rPr b="1" sz="1100"/>
              <a:t>🗣 SAY:</a:t>
            </a:r>
          </a:p>
          <a:p>
            <a:r>
              <a:rPr sz="1100"/>
              <a:t>METHODOLOGY &amp; ALGORITHMS</a:t>
            </a:r>
          </a:p>
          <a:p>
            <a:r>
              <a:rPr sz="1100"/>
              <a:t/>
            </a:r>
          </a:p>
          <a:p>
            <a:r>
              <a:rPr sz="1100"/>
              <a:t>Three principal techniques:</a:t>
            </a:r>
          </a:p>
          <a:p>
            <a:r>
              <a:rPr sz="1100"/>
              <a:t/>
            </a:r>
          </a:p>
          <a:p>
            <a:r>
              <a:rPr sz="1100"/>
              <a:t>1. Sarle's Bimodality Coefficient — identifies unusual or bimodal weight distributions that conventional statistics overlook. Lifted bimodal-trigger detection from 24% to 96%.</a:t>
            </a:r>
          </a:p>
          <a:p>
            <a:r>
              <a:rPr sz="1100"/>
              <a:t/>
            </a:r>
          </a:p>
          <a:p>
            <a:r>
              <a:rPr sz="1100"/>
              <a:t>2. RMT + BBP Phase Transition — identifies unusually large singular values that indicate structured weight changes. Robust MAD estimation of the spectral noise level prevents extreme values from distorting the reference. Threshold σ₁/λ₊ &gt; 1.25 gives 100% recall on rank-1 Trojans.</a:t>
            </a:r>
          </a:p>
          <a:p>
            <a:r>
              <a:rPr sz="1100"/>
              <a:t/>
            </a:r>
          </a:p>
          <a:p>
            <a:r>
              <a:rPr sz="1100"/>
              <a:t>3. IEEE 754 Mantissa Bitplane Entropy — examines lower bits of float32 values for suspicious entropy patterns that indicate hidden encoded information. 100% stego recall.</a:t>
            </a:r>
          </a:p>
          <a:p>
            <a:r>
              <a:rPr sz="1100"/>
              <a:t/>
            </a:r>
          </a:p>
          <a:p>
            <a:r>
              <a:rPr sz="1100"/>
              <a:t>Classifier: logistic regression on a 28-dim feature vector. Chosen because it is computationally efficient, easy to audit, and avoids overfitting on a 200-model dataset.</a:t>
            </a:r>
          </a:p>
          <a:p>
            <a:r>
              <a:t/>
            </a:r>
          </a:p>
          <a:p>
            <a:r>
              <a:rPr b="1" sz="1100"/>
              <a:t>🆘 IF YOU BLANK:</a:t>
            </a:r>
          </a:p>
          <a:p>
            <a:r>
              <a:rPr sz="1100"/>
              <a:t>RMT plus MIL, 15 folds.</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Flash 10 s  |  Slide 9 Methodology overview</a:t>
            </a:r>
          </a:p>
          <a:p>
            <a:r>
              <a:t/>
            </a:r>
          </a:p>
          <a:p>
            <a:r>
              <a:rPr b="1" sz="1100"/>
              <a:t>👆 POINT TO:</a:t>
            </a:r>
          </a:p>
          <a:p>
            <a:r>
              <a:rPr sz="1100"/>
              <a:t>Green LSE-MIL box, then orange remediation box.</a:t>
            </a:r>
          </a:p>
          <a:p>
            <a:r>
              <a:t/>
            </a:r>
          </a:p>
          <a:p>
            <a:r>
              <a:rPr b="1" sz="1100"/>
              <a:t>🗣 SAY:</a:t>
            </a:r>
          </a:p>
          <a:p>
            <a:r>
              <a:rPr sz="1100"/>
              <a:t>METHODOLOGY &amp; ALGORITHMS</a:t>
            </a:r>
          </a:p>
          <a:p>
            <a:r>
              <a:rPr sz="1100"/>
              <a:t/>
            </a:r>
          </a:p>
          <a:p>
            <a:r>
              <a:rPr sz="1100"/>
              <a:t>Three principal techniques:</a:t>
            </a:r>
          </a:p>
          <a:p>
            <a:r>
              <a:rPr sz="1100"/>
              <a:t/>
            </a:r>
          </a:p>
          <a:p>
            <a:r>
              <a:rPr sz="1100"/>
              <a:t>1. Sarle's Bimodality Coefficient — identifies unusual or bimodal weight distributions that conventional statistics overlook. Lifted bimodal-trigger detection from 24% to 96%.</a:t>
            </a:r>
          </a:p>
          <a:p>
            <a:r>
              <a:rPr sz="1100"/>
              <a:t/>
            </a:r>
          </a:p>
          <a:p>
            <a:r>
              <a:rPr sz="1100"/>
              <a:t>2. RMT + BBP Phase Transition — identifies unusually large singular values that indicate structured weight changes. Robust MAD estimation of the spectral noise level prevents extreme values from distorting the reference. Threshold σ₁/λ₊ &gt; 1.25 gives 100% recall on rank-1 Trojans.</a:t>
            </a:r>
          </a:p>
          <a:p>
            <a:r>
              <a:rPr sz="1100"/>
              <a:t/>
            </a:r>
          </a:p>
          <a:p>
            <a:r>
              <a:rPr sz="1100"/>
              <a:t>3. IEEE 754 Mantissa Bitplane Entropy — examines lower bits of float32 values for suspicious entropy patterns that indicate hidden encoded information. 100% stego recall.</a:t>
            </a:r>
          </a:p>
          <a:p>
            <a:r>
              <a:rPr sz="1100"/>
              <a:t/>
            </a:r>
          </a:p>
          <a:p>
            <a:r>
              <a:rPr sz="1100"/>
              <a:t>Classifier: logistic regression on a 28-dim feature vector. Chosen because it is computationally efficient, easy to audit, and avoids overfitting on a 200-model dataset.</a:t>
            </a:r>
          </a:p>
          <a:p>
            <a:r>
              <a:t/>
            </a:r>
          </a:p>
          <a:p>
            <a:r>
              <a:rPr b="1" sz="1100"/>
              <a:t>🆘 IF YOU BLANK:</a:t>
            </a:r>
          </a:p>
          <a:p>
            <a:r>
              <a:rPr sz="1100"/>
              <a:t>Pool, decide, repair.</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2:00–2:45  |  Slide 10 Algorithms</a:t>
            </a:r>
          </a:p>
          <a:p>
            <a:r>
              <a:t/>
            </a:r>
          </a:p>
          <a:p>
            <a:r>
              <a:rPr b="1" sz="1100"/>
              <a:t>👆 POINT TO:</a:t>
            </a:r>
          </a:p>
          <a:p>
            <a:r>
              <a:rPr sz="1100"/>
              <a:t>Three rows only: Sarle's BC, BBP Spike Ratio, Mantissa Entropy.</a:t>
            </a:r>
          </a:p>
          <a:p>
            <a:r>
              <a:t/>
            </a:r>
          </a:p>
          <a:p>
            <a:r>
              <a:rPr b="1" sz="1100"/>
              <a:t>🗣 SAY:</a:t>
            </a:r>
          </a:p>
          <a:p>
            <a:r>
              <a:rPr sz="1100"/>
              <a:t>METHODOLOGY &amp; ALGORITHMS</a:t>
            </a:r>
          </a:p>
          <a:p>
            <a:r>
              <a:rPr sz="1100"/>
              <a:t/>
            </a:r>
          </a:p>
          <a:p>
            <a:r>
              <a:rPr sz="1100"/>
              <a:t>Three principal techniques:</a:t>
            </a:r>
          </a:p>
          <a:p>
            <a:r>
              <a:rPr sz="1100"/>
              <a:t/>
            </a:r>
          </a:p>
          <a:p>
            <a:r>
              <a:rPr sz="1100"/>
              <a:t>1. Sarle's Bimodality Coefficient — identifies unusual or bimodal weight distributions that conventional statistics overlook. Lifted bimodal-trigger detection from 24% to 96%.</a:t>
            </a:r>
          </a:p>
          <a:p>
            <a:r>
              <a:rPr sz="1100"/>
              <a:t/>
            </a:r>
          </a:p>
          <a:p>
            <a:r>
              <a:rPr sz="1100"/>
              <a:t>2. RMT + BBP Phase Transition — identifies unusually large singular values that indicate structured weight changes. Robust MAD estimation of the spectral noise level prevents extreme values from distorting the reference. Threshold σ₁/λ₊ &gt; 1.25 gives 100% recall on rank-1 Trojans.</a:t>
            </a:r>
          </a:p>
          <a:p>
            <a:r>
              <a:rPr sz="1100"/>
              <a:t/>
            </a:r>
          </a:p>
          <a:p>
            <a:r>
              <a:rPr sz="1100"/>
              <a:t>3. IEEE 754 Mantissa Bitplane Entropy — examines lower bits of float32 values for suspicious entropy patterns that indicate hidden encoded information. 100% stego recall.</a:t>
            </a:r>
          </a:p>
          <a:p>
            <a:r>
              <a:rPr sz="1100"/>
              <a:t/>
            </a:r>
          </a:p>
          <a:p>
            <a:r>
              <a:rPr sz="1100"/>
              <a:t>Classifier: logistic regression on a 28-dim feature vector. Chosen because it is computationally efficient, easy to audit, and avoids overfitting on a 200-model dataset.</a:t>
            </a:r>
          </a:p>
          <a:p>
            <a:r>
              <a:t/>
            </a:r>
          </a:p>
          <a:p>
            <a:r>
              <a:rPr b="1" sz="1100"/>
              <a:t>🆘 IF YOU BLANK:</a:t>
            </a:r>
          </a:p>
          <a:p>
            <a:r>
              <a:rPr sz="1100"/>
              <a:t>Sarle's BC 24→96%. BBP 100% Trojan. Mantissa entropy 100% stego.</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2:00–2:45 tail  |  Slide 11 Stack &amp; classifier</a:t>
            </a:r>
          </a:p>
          <a:p>
            <a:r>
              <a:t/>
            </a:r>
          </a:p>
          <a:p>
            <a:r>
              <a:rPr b="1" sz="1100"/>
              <a:t>👆 POINT TO:</a:t>
            </a:r>
          </a:p>
          <a:p>
            <a:r>
              <a:rPr sz="1100"/>
              <a:t>Machine-learning model card, bottom right.</a:t>
            </a:r>
          </a:p>
          <a:p>
            <a:r>
              <a:t/>
            </a:r>
          </a:p>
          <a:p>
            <a:r>
              <a:rPr b="1" sz="1100"/>
              <a:t>🗣 SAY:</a:t>
            </a:r>
          </a:p>
          <a:p>
            <a:r>
              <a:rPr sz="1100"/>
              <a:t>METHODOLOGY &amp; ALGORITHMS</a:t>
            </a:r>
          </a:p>
          <a:p>
            <a:r>
              <a:rPr sz="1100"/>
              <a:t/>
            </a:r>
          </a:p>
          <a:p>
            <a:r>
              <a:rPr sz="1100"/>
              <a:t>Three principal techniques:</a:t>
            </a:r>
          </a:p>
          <a:p>
            <a:r>
              <a:rPr sz="1100"/>
              <a:t/>
            </a:r>
          </a:p>
          <a:p>
            <a:r>
              <a:rPr sz="1100"/>
              <a:t>1. Sarle's Bimodality Coefficient — identifies unusual or bimodal weight distributions that conventional statistics overlook. Lifted bimodal-trigger detection from 24% to 96%.</a:t>
            </a:r>
          </a:p>
          <a:p>
            <a:r>
              <a:rPr sz="1100"/>
              <a:t/>
            </a:r>
          </a:p>
          <a:p>
            <a:r>
              <a:rPr sz="1100"/>
              <a:t>2. RMT + BBP Phase Transition — identifies unusually large singular values that indicate structured weight changes. Robust MAD estimation of the spectral noise level prevents extreme values from distorting the reference. Threshold σ₁/λ₊ &gt; 1.25 gives 100% recall on rank-1 Trojans.</a:t>
            </a:r>
          </a:p>
          <a:p>
            <a:r>
              <a:rPr sz="1100"/>
              <a:t/>
            </a:r>
          </a:p>
          <a:p>
            <a:r>
              <a:rPr sz="1100"/>
              <a:t>3. IEEE 754 Mantissa Bitplane Entropy — examines lower bits of float32 values for suspicious entropy patterns that indicate hidden encoded information. 100% stego recall.</a:t>
            </a:r>
          </a:p>
          <a:p>
            <a:r>
              <a:rPr sz="1100"/>
              <a:t/>
            </a:r>
          </a:p>
          <a:p>
            <a:r>
              <a:rPr sz="1100"/>
              <a:t>Classifier: logistic regression on a 28-dim feature vector. Chosen because it is computationally efficient, easy to audit, and avoids overfitting on a 200-model dataset.</a:t>
            </a:r>
          </a:p>
          <a:p>
            <a:r>
              <a:t/>
            </a:r>
          </a:p>
          <a:p>
            <a:r>
              <a:rPr b="1" sz="1100"/>
              <a:t>🆘 IF YOU BLANK:</a:t>
            </a:r>
          </a:p>
          <a:p>
            <a:r>
              <a:rPr sz="1100"/>
              <a:t>Auditable, no overfit, microseconds.</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2:45–3:30  |  Slide 12 Cross-validation results</a:t>
            </a:r>
          </a:p>
          <a:p>
            <a:r>
              <a:t/>
            </a:r>
          </a:p>
          <a:p>
            <a:r>
              <a:rPr b="1" sz="1100"/>
              <a:t>👆 POINT TO:</a:t>
            </a:r>
          </a:p>
          <a:p>
            <a:r>
              <a:rPr sz="1100"/>
              <a:t>Three stat cards (96.5%, 0.987, 0.0%), then the table's last row.</a:t>
            </a:r>
          </a:p>
          <a:p>
            <a:r>
              <a:t/>
            </a:r>
          </a:p>
          <a:p>
            <a:r>
              <a:rPr b="1" sz="1100"/>
              <a:t>🗣 SAY:</a:t>
            </a:r>
          </a:p>
          <a:p>
            <a:r>
              <a:rPr sz="1100"/>
              <a:t>RESULTS &amp; VALIDATION</a:t>
            </a:r>
          </a:p>
          <a:p>
            <a:r>
              <a:rPr sz="1100"/>
              <a:t/>
            </a:r>
          </a:p>
          <a:p>
            <a:r>
              <a:rPr sz="1100"/>
              <a:t>Benchmark: 200 model checkpoints (clean + anomaly categories).</a:t>
            </a:r>
          </a:p>
          <a:p>
            <a:r>
              <a:rPr sz="1100"/>
              <a:t>Protocol: stratified 5-fold cross-validation × 3 random seeds = 15 evaluation folds.</a:t>
            </a:r>
          </a:p>
          <a:p>
            <a:r>
              <a:rPr sz="1100"/>
              <a:t/>
            </a:r>
          </a:p>
          <a:p>
            <a:r>
              <a:rPr sz="1100"/>
              <a:t>Results:</a:t>
            </a:r>
          </a:p>
          <a:p>
            <a:r>
              <a:rPr sz="1100"/>
              <a:t>• 96.5% accuracy (±2.4%)</a:t>
            </a:r>
          </a:p>
          <a:p>
            <a:r>
              <a:rPr sz="1100"/>
              <a:t>• ROC-AUC 0.987</a:t>
            </a:r>
          </a:p>
          <a:p>
            <a:r>
              <a:rPr sz="1100"/>
              <a:t>• 0.0% false-quarantine rate on clean models</a:t>
            </a:r>
          </a:p>
          <a:p>
            <a:r>
              <a:rPr sz="1100"/>
              <a:t>• 100% recall on tested low-rank Trojans and mantissa steganography</a:t>
            </a:r>
          </a:p>
          <a:p>
            <a:r>
              <a:rPr sz="1100"/>
              <a:t>• 1.42 s average scan on a laptop CPU, &lt; 512 MB RAM</a:t>
            </a:r>
          </a:p>
          <a:p>
            <a:r>
              <a:rPr sz="1100"/>
              <a:t/>
            </a:r>
          </a:p>
          <a:p>
            <a:r>
              <a:rPr sz="1100"/>
              <a:t>Key ablation finding: spectral-only baseline reached 0.965 accuracy — similar to the combined system. Distributional features were retained because they give interpretable explanations for security analysts and catch anomalies that spectral analysis alone misses (unusual constants, discrete bit-pattern irregularities).</a:t>
            </a:r>
          </a:p>
          <a:p>
            <a:r>
              <a:rPr sz="1100"/>
              <a:t/>
            </a:r>
          </a:p>
          <a:p>
            <a:r>
              <a:rPr sz="1100"/>
              <a:t>Important: results describe the evaluated benchmark and should not be generalised as a guarantee against every real-world attack.</a:t>
            </a:r>
          </a:p>
          <a:p>
            <a:r>
              <a:t/>
            </a:r>
          </a:p>
          <a:p>
            <a:r>
              <a:rPr b="1" sz="1100"/>
              <a:t>🆘 IF YOU BLANK:</a:t>
            </a:r>
          </a:p>
          <a:p>
            <a:r>
              <a:rPr sz="1100"/>
              <a:t>15-fold CV: 96.5%, 0.987 AUC, zero false quarantine.</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2:45–3:30 tail  |  Slide 13 Ablation</a:t>
            </a:r>
          </a:p>
          <a:p>
            <a:r>
              <a:t/>
            </a:r>
          </a:p>
          <a:p>
            <a:r>
              <a:rPr b="1" sz="1100"/>
              <a:t>👆 POINT TO:</a:t>
            </a:r>
          </a:p>
          <a:p>
            <a:r>
              <a:rPr sz="1100"/>
              <a:t>Bimodal_trigger bars: 24%→96%. Spectral-alone row in the table.</a:t>
            </a:r>
          </a:p>
          <a:p>
            <a:r>
              <a:t/>
            </a:r>
          </a:p>
          <a:p>
            <a:r>
              <a:rPr b="1" sz="1100"/>
              <a:t>🗣 SAY:</a:t>
            </a:r>
          </a:p>
          <a:p>
            <a:r>
              <a:rPr sz="1100"/>
              <a:t>RESULTS &amp; VALIDATION</a:t>
            </a:r>
          </a:p>
          <a:p>
            <a:r>
              <a:rPr sz="1100"/>
              <a:t/>
            </a:r>
          </a:p>
          <a:p>
            <a:r>
              <a:rPr sz="1100"/>
              <a:t>Benchmark: 200 model checkpoints (clean + anomaly categories).</a:t>
            </a:r>
          </a:p>
          <a:p>
            <a:r>
              <a:rPr sz="1100"/>
              <a:t>Protocol: stratified 5-fold cross-validation × 3 random seeds = 15 evaluation folds.</a:t>
            </a:r>
          </a:p>
          <a:p>
            <a:r>
              <a:rPr sz="1100"/>
              <a:t/>
            </a:r>
          </a:p>
          <a:p>
            <a:r>
              <a:rPr sz="1100"/>
              <a:t>Results:</a:t>
            </a:r>
          </a:p>
          <a:p>
            <a:r>
              <a:rPr sz="1100"/>
              <a:t>• 96.5% accuracy (±2.4%)</a:t>
            </a:r>
          </a:p>
          <a:p>
            <a:r>
              <a:rPr sz="1100"/>
              <a:t>• ROC-AUC 0.987</a:t>
            </a:r>
          </a:p>
          <a:p>
            <a:r>
              <a:rPr sz="1100"/>
              <a:t>• 0.0% false-quarantine rate on clean models</a:t>
            </a:r>
          </a:p>
          <a:p>
            <a:r>
              <a:rPr sz="1100"/>
              <a:t>• 100% recall on tested low-rank Trojans and mantissa steganography</a:t>
            </a:r>
          </a:p>
          <a:p>
            <a:r>
              <a:rPr sz="1100"/>
              <a:t>• 1.42 s average scan on a laptop CPU, &lt; 512 MB RAM</a:t>
            </a:r>
          </a:p>
          <a:p>
            <a:r>
              <a:rPr sz="1100"/>
              <a:t/>
            </a:r>
          </a:p>
          <a:p>
            <a:r>
              <a:rPr sz="1100"/>
              <a:t>Key ablation finding: spectral-only baseline reached 0.965 accuracy — similar to the combined system. Distributional features were retained because they give interpretable explanations for security analysts and catch anomalies that spectral analysis alone misses (unusual constants, discrete bit-pattern irregularities).</a:t>
            </a:r>
          </a:p>
          <a:p>
            <a:r>
              <a:rPr sz="1100"/>
              <a:t/>
            </a:r>
          </a:p>
          <a:p>
            <a:r>
              <a:rPr sz="1100"/>
              <a:t>Important: results describe the evaluated benchmark and should not be generalised as a guarantee against every real-world attack.</a:t>
            </a:r>
          </a:p>
          <a:p>
            <a:r>
              <a:t/>
            </a:r>
          </a:p>
          <a:p>
            <a:r>
              <a:rPr b="1" sz="1100"/>
              <a:t>🆘 IF YOU BLANK:</a:t>
            </a:r>
          </a:p>
          <a:p>
            <a:r>
              <a:rPr sz="1100"/>
              <a:t>Spectral alone matched; kept distributional features for auditability.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Backup / Q&amp;A  |  Slide 14 SOTA</a:t>
            </a:r>
          </a:p>
          <a:p>
            <a:r>
              <a:t/>
            </a:r>
          </a:p>
          <a:p>
            <a:r>
              <a:rPr b="1" sz="1100"/>
              <a:t>👆 POINT TO:</a:t>
            </a:r>
          </a:p>
          <a:p>
            <a:r>
              <a:rPr sz="1100"/>
              <a:t>ModelSentinel column: every row a Yes or best value.</a:t>
            </a:r>
          </a:p>
          <a:p>
            <a:r>
              <a:t/>
            </a:r>
          </a:p>
          <a:p>
            <a:r>
              <a:rPr b="1" sz="1100"/>
              <a:t>🗣 SAY:</a:t>
            </a:r>
          </a:p>
          <a:p>
            <a:r>
              <a:rPr sz="1100"/>
              <a:t>RESULTS &amp; VALIDATION</a:t>
            </a:r>
          </a:p>
          <a:p>
            <a:r>
              <a:rPr sz="1100"/>
              <a:t/>
            </a:r>
          </a:p>
          <a:p>
            <a:r>
              <a:rPr sz="1100"/>
              <a:t>Benchmark: 200 model checkpoints (clean + anomaly categories).</a:t>
            </a:r>
          </a:p>
          <a:p>
            <a:r>
              <a:rPr sz="1100"/>
              <a:t>Protocol: stratified 5-fold cross-validation × 3 random seeds = 15 evaluation folds.</a:t>
            </a:r>
          </a:p>
          <a:p>
            <a:r>
              <a:rPr sz="1100"/>
              <a:t/>
            </a:r>
          </a:p>
          <a:p>
            <a:r>
              <a:rPr sz="1100"/>
              <a:t>Results:</a:t>
            </a:r>
          </a:p>
          <a:p>
            <a:r>
              <a:rPr sz="1100"/>
              <a:t>• 96.5% accuracy (±2.4%)</a:t>
            </a:r>
          </a:p>
          <a:p>
            <a:r>
              <a:rPr sz="1100"/>
              <a:t>• ROC-AUC 0.987</a:t>
            </a:r>
          </a:p>
          <a:p>
            <a:r>
              <a:rPr sz="1100"/>
              <a:t>• 0.0% false-quarantine rate on clean models</a:t>
            </a:r>
          </a:p>
          <a:p>
            <a:r>
              <a:rPr sz="1100"/>
              <a:t>• 100% recall on tested low-rank Trojans and mantissa steganography</a:t>
            </a:r>
          </a:p>
          <a:p>
            <a:r>
              <a:rPr sz="1100"/>
              <a:t>• 1.42 s average scan on a laptop CPU, &lt; 512 MB RAM</a:t>
            </a:r>
          </a:p>
          <a:p>
            <a:r>
              <a:rPr sz="1100"/>
              <a:t/>
            </a:r>
          </a:p>
          <a:p>
            <a:r>
              <a:rPr sz="1100"/>
              <a:t>Key ablation finding: spectral-only baseline reached 0.965 accuracy — similar to the combined system. Distributional features were retained because they give interpretable explanations for security analysts and catch anomalies that spectral analysis alone misses (unusual constants, discrete bit-pattern irregularities).</a:t>
            </a:r>
          </a:p>
          <a:p>
            <a:r>
              <a:rPr sz="1100"/>
              <a:t/>
            </a:r>
          </a:p>
          <a:p>
            <a:r>
              <a:rPr sz="1100"/>
              <a:t>Important: results describe the evaluated benchmark and should not be generalised as a guarantee against every real-world attack.</a:t>
            </a:r>
          </a:p>
          <a:p>
            <a:r>
              <a:t/>
            </a:r>
          </a:p>
          <a:p>
            <a:r>
              <a:rPr b="1" sz="1100"/>
              <a:t>🆘 IF YOU BLANK:</a:t>
            </a:r>
          </a:p>
          <a:p>
            <a:r>
              <a:rPr sz="1100"/>
              <a:t>Only column with every capability.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Flash 5 s  |  Slide 15 Key metrics</a:t>
            </a:r>
          </a:p>
          <a:p>
            <a:r>
              <a:t/>
            </a:r>
          </a:p>
          <a:p>
            <a:r>
              <a:rPr b="1" sz="1100"/>
              <a:t>👆 POINT TO:</a:t>
            </a:r>
          </a:p>
          <a:p>
            <a:r>
              <a:rPr sz="1100"/>
              <a:t>1.42 s and &lt; 512 MB rows.</a:t>
            </a:r>
          </a:p>
          <a:p>
            <a:r>
              <a:t/>
            </a:r>
          </a:p>
          <a:p>
            <a:r>
              <a:rPr b="1" sz="1100"/>
              <a:t>🗣 SAY:</a:t>
            </a:r>
          </a:p>
          <a:p>
            <a:r>
              <a:rPr sz="1100"/>
              <a:t>RESULTS &amp; VALIDATION</a:t>
            </a:r>
          </a:p>
          <a:p>
            <a:r>
              <a:rPr sz="1100"/>
              <a:t/>
            </a:r>
          </a:p>
          <a:p>
            <a:r>
              <a:rPr sz="1100"/>
              <a:t>Benchmark: 200 model checkpoints (clean + anomaly categories).</a:t>
            </a:r>
          </a:p>
          <a:p>
            <a:r>
              <a:rPr sz="1100"/>
              <a:t>Protocol: stratified 5-fold cross-validation × 3 random seeds = 15 evaluation folds.</a:t>
            </a:r>
          </a:p>
          <a:p>
            <a:r>
              <a:rPr sz="1100"/>
              <a:t/>
            </a:r>
          </a:p>
          <a:p>
            <a:r>
              <a:rPr sz="1100"/>
              <a:t>Results:</a:t>
            </a:r>
          </a:p>
          <a:p>
            <a:r>
              <a:rPr sz="1100"/>
              <a:t>• 96.5% accuracy (±2.4%)</a:t>
            </a:r>
          </a:p>
          <a:p>
            <a:r>
              <a:rPr sz="1100"/>
              <a:t>• ROC-AUC 0.987</a:t>
            </a:r>
          </a:p>
          <a:p>
            <a:r>
              <a:rPr sz="1100"/>
              <a:t>• 0.0% false-quarantine rate on clean models</a:t>
            </a:r>
          </a:p>
          <a:p>
            <a:r>
              <a:rPr sz="1100"/>
              <a:t>• 100% recall on tested low-rank Trojans and mantissa steganography</a:t>
            </a:r>
          </a:p>
          <a:p>
            <a:r>
              <a:rPr sz="1100"/>
              <a:t>• 1.42 s average scan on a laptop CPU, &lt; 512 MB RAM</a:t>
            </a:r>
          </a:p>
          <a:p>
            <a:r>
              <a:rPr sz="1100"/>
              <a:t/>
            </a:r>
          </a:p>
          <a:p>
            <a:r>
              <a:rPr sz="1100"/>
              <a:t>Key ablation finding: spectral-only baseline reached 0.965 accuracy — similar to the combined system. Distributional features were retained because they give interpretable explanations for security analysts and catch anomalies that spectral analysis alone misses (unusual constants, discrete bit-pattern irregularities).</a:t>
            </a:r>
          </a:p>
          <a:p>
            <a:r>
              <a:rPr sz="1100"/>
              <a:t/>
            </a:r>
          </a:p>
          <a:p>
            <a:r>
              <a:rPr sz="1100"/>
              <a:t>Important: results describe the evaluated benchmark and should not be generalised as a guarantee against every real-world attack.</a:t>
            </a:r>
          </a:p>
          <a:p>
            <a:r>
              <a:t/>
            </a:r>
          </a:p>
          <a:p>
            <a:r>
              <a:rPr b="1" sz="1100"/>
              <a:t>🆘 IF YOU BLANK:</a:t>
            </a:r>
          </a:p>
          <a:p>
            <a:r>
              <a:rPr sz="1100"/>
              <a:t>Seconds on a laptop.</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3:30–4:00  |  Slide 16 Why this approach</a:t>
            </a:r>
          </a:p>
          <a:p>
            <a:r>
              <a:t/>
            </a:r>
          </a:p>
          <a:p>
            <a:r>
              <a:rPr b="1" sz="1100"/>
              <a:t>👆 POINT TO:</a:t>
            </a:r>
          </a:p>
          <a:p>
            <a:r>
              <a:rPr sz="1100"/>
              <a:t>Left card, middle card, right card; finish on the navy banner.</a:t>
            </a:r>
          </a:p>
          <a:p>
            <a:r>
              <a:t/>
            </a:r>
          </a:p>
          <a:p>
            <a:r>
              <a:rPr b="1" sz="1100"/>
              <a:t>🗣 SAY:</a:t>
            </a:r>
          </a:p>
          <a:p>
            <a:r>
              <a:rPr sz="1100"/>
              <a:t>WHY THIS APPROACH</a:t>
            </a:r>
          </a:p>
          <a:p>
            <a:r>
              <a:rPr sz="1100"/>
              <a:t/>
            </a:r>
          </a:p>
          <a:p>
            <a:r>
              <a:rPr sz="1100"/>
              <a:t>Static, not dynamic: executing an untrusted model can introduce security risks; dynamic backdoor testing may require the trigger token or clean validation data — neither is guaranteed in enterprise settings.</a:t>
            </a:r>
          </a:p>
          <a:p>
            <a:r>
              <a:rPr sz="1100"/>
              <a:t/>
            </a:r>
          </a:p>
          <a:p>
            <a:r>
              <a:rPr sz="1100"/>
              <a:t>RMT, not just moments: a structured weight modification shifts the singular-value spectrum even when mean, std and skewness are unchanged. RMT is the only mathematical frame that catches rank-1 injection in theory.</a:t>
            </a:r>
          </a:p>
          <a:p>
            <a:r>
              <a:rPr sz="1100"/>
              <a:t/>
            </a:r>
          </a:p>
          <a:p>
            <a:r>
              <a:rPr sz="1100"/>
              <a:t>Logistic regression, not a DNN: transparent decision mechanism — easier to investigate why a model was flagged; avoids overfitting on 200 training samples; microsecond inference.</a:t>
            </a:r>
          </a:p>
          <a:p>
            <a:r>
              <a:rPr sz="1100"/>
              <a:t/>
            </a:r>
          </a:p>
          <a:p>
            <a:r>
              <a:rPr sz="1100"/>
              <a:t>Honest trade-off: the distributional engine adds explainability and coverage even though the spectral engine alone matches the headline accuracy. These choices prioritise safe inspection, efficiency, and explainability — not treating a single score as unquestionable proof of security.</a:t>
            </a:r>
          </a:p>
          <a:p>
            <a:r>
              <a:t/>
            </a:r>
          </a:p>
          <a:p>
            <a:r>
              <a:rPr b="1" sz="1100"/>
              <a:t>🆘 IF YOU BLANK:</a:t>
            </a:r>
          </a:p>
          <a:p>
            <a:r>
              <a:rPr sz="1100"/>
              <a:t>Static, not dynamic: Execution Paradox. RMT, not moments: rank collapse.</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4:00–4:30  |  Slide 17 Business view</a:t>
            </a:r>
          </a:p>
          <a:p>
            <a:r>
              <a:t/>
            </a:r>
          </a:p>
          <a:p>
            <a:r>
              <a:rPr b="1" sz="1100"/>
              <a:t>👆 POINT TO:</a:t>
            </a:r>
          </a:p>
          <a:p>
            <a:r>
              <a:rPr sz="1100"/>
              <a:t>Three market cards left to right; end on trust banner.</a:t>
            </a:r>
          </a:p>
          <a:p>
            <a:r>
              <a:t/>
            </a:r>
          </a:p>
          <a:p>
            <a:r>
              <a:rPr b="1" sz="1100"/>
              <a:t>🗣 SAY:</a:t>
            </a:r>
          </a:p>
          <a:p>
            <a:r>
              <a:rPr sz="1100"/>
              <a:t>BUSINESS PERSPECTIVE</a:t>
            </a:r>
          </a:p>
          <a:p>
            <a:r>
              <a:rPr sz="1100"/>
              <a:t/>
            </a:r>
          </a:p>
          <a:p>
            <a:r>
              <a:rPr sz="1100"/>
              <a:t>Three potential offerings:</a:t>
            </a:r>
          </a:p>
          <a:p>
            <a:r>
              <a:rPr sz="1100"/>
              <a:t/>
            </a:r>
          </a:p>
          <a:p>
            <a:r>
              <a:rPr sz="1100"/>
              <a:t>1. SaaS for CI/CD — scan every AI model before it enters the registry. The 0.0% false-quarantine rate is essential: excessive false alarms disrupt development workflows and destroy trust in security tooling.</a:t>
            </a:r>
          </a:p>
          <a:p>
            <a:r>
              <a:rPr sz="1100"/>
              <a:t/>
            </a:r>
          </a:p>
          <a:p>
            <a:r>
              <a:rPr sz="1100"/>
              <a:t>2. On-premises deployment — financial institutions, healthcare, and other regulated environments with strict data-isolation requirements. CPU-only, &lt; 512 MB RAM makes air-gapped deployment straightforward.</a:t>
            </a:r>
          </a:p>
          <a:p>
            <a:r>
              <a:rPr sz="1100"/>
              <a:t/>
            </a:r>
          </a:p>
          <a:p>
            <a:r>
              <a:rPr sz="1100"/>
              <a:t>3. Threat intelligence — updated detection rules, attack indicators, and analysis of emerging model-security threats as a premium subscription tier.</a:t>
            </a:r>
          </a:p>
          <a:p>
            <a:r>
              <a:rPr sz="1100"/>
              <a:t/>
            </a:r>
          </a:p>
          <a:p>
            <a:r>
              <a:rPr sz="1100"/>
              <a:t>Key enterprise message: for any security tool to be adopted, it must balance detection capability with false-positive control.</a:t>
            </a:r>
          </a:p>
          <a:p>
            <a:r>
              <a:t/>
            </a:r>
          </a:p>
          <a:p>
            <a:r>
              <a:rPr b="1" sz="1100"/>
              <a:t>🆘 IF YOU BLANK:</a:t>
            </a:r>
          </a:p>
          <a:p>
            <a:r>
              <a:rPr sz="1100"/>
              <a:t>SaaS, on-prem, threat intel. Zero false alarms = trust.</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4:30–4:55  |  Slide 18 Resume &amp; closing</a:t>
            </a:r>
          </a:p>
          <a:p>
            <a:r>
              <a:t/>
            </a:r>
          </a:p>
          <a:p>
            <a:r>
              <a:rPr b="1" sz="1100"/>
              <a:t>👆 POINT TO:</a:t>
            </a:r>
          </a:p>
          <a:p>
            <a:r>
              <a:rPr sz="1100"/>
              <a:t>Tick down the five bullets, then pause and read the soundbite slowly.</a:t>
            </a:r>
          </a:p>
          <a:p>
            <a:r>
              <a:t/>
            </a:r>
          </a:p>
          <a:p>
            <a:r>
              <a:rPr b="1" sz="1100"/>
              <a:t>🗣 SAY:</a:t>
            </a:r>
          </a:p>
          <a:p>
            <a:r>
              <a:rPr sz="1100"/>
              <a:t>RESUME VALUE &amp; CONCLUSION</a:t>
            </a:r>
          </a:p>
          <a:p>
            <a:r>
              <a:rPr sz="1100"/>
              <a:t/>
            </a:r>
          </a:p>
          <a:p>
            <a:r>
              <a:rPr sz="1100"/>
              <a:t>This project demonstrates:</a:t>
            </a:r>
          </a:p>
          <a:p>
            <a:r>
              <a:rPr sz="1100"/>
              <a:t>• AI model security and zero-trust design</a:t>
            </a:r>
          </a:p>
          <a:p>
            <a:r>
              <a:rPr sz="1100"/>
              <a:t>• Random Matrix Theory applied to production systems</a:t>
            </a:r>
          </a:p>
          <a:p>
            <a:r>
              <a:rPr sz="1100"/>
              <a:t>• Statistical feature engineering</a:t>
            </a:r>
          </a:p>
          <a:p>
            <a:r>
              <a:rPr sz="1100"/>
              <a:t>• MLSecOps: Python package, CLI, FastAPI, Streamlit, MCP, Docker</a:t>
            </a:r>
          </a:p>
          <a:p>
            <a:r>
              <a:rPr sz="1100"/>
              <a:t>• Business judgment: kept interpretable features even when metrics said I could drop them</a:t>
            </a:r>
          </a:p>
          <a:p>
            <a:r>
              <a:rPr sz="1100"/>
              <a:t>• Rigorous validation: 15-fold cross-validation with honest limitation disclosure</a:t>
            </a:r>
          </a:p>
          <a:p>
            <a:r>
              <a:rPr sz="1100"/>
              <a:t/>
            </a:r>
          </a:p>
          <a:p>
            <a:r>
              <a:rPr sz="1100"/>
              <a:t>Central message:</a:t>
            </a:r>
          </a:p>
          <a:p>
            <a:r>
              <a:rPr sz="1100"/>
              <a:t>SafeTensors helps secure the envelope.</a:t>
            </a:r>
          </a:p>
          <a:p>
            <a:r>
              <a:rPr sz="1100"/>
              <a:t>ModelSentinel acts like an X-ray machine that examines the letter inside without executing the model.</a:t>
            </a:r>
          </a:p>
          <a:p>
            <a:r>
              <a:rPr sz="1100"/>
              <a:t/>
            </a:r>
          </a:p>
          <a:p>
            <a:r>
              <a:rPr sz="1100"/>
              <a:t>Thank you. I am happy to answer your questions.</a:t>
            </a:r>
          </a:p>
          <a:p>
            <a:r>
              <a:t/>
            </a:r>
          </a:p>
          <a:p>
            <a:r>
              <a:rPr b="1" sz="1100"/>
              <a:t>🆘 IF YOU BLANK:</a:t>
            </a:r>
          </a:p>
          <a:p>
            <a:r>
              <a:rPr sz="1100"/>
              <a:t>X-ray machine for AI weights. Thank you.</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4:55–5:00  |  Slide 21 Conclusion (leave on during Q&amp;A)</a:t>
            </a:r>
          </a:p>
          <a:p>
            <a:r>
              <a:t/>
            </a:r>
          </a:p>
          <a:p>
            <a:r>
              <a:rPr b="1" sz="1100"/>
              <a:t>👆 POINT TO:</a:t>
            </a:r>
          </a:p>
          <a:p>
            <a:r>
              <a:rPr sz="1100"/>
              <a:t>Four achievement cards on the right.</a:t>
            </a:r>
          </a:p>
          <a:p>
            <a:r>
              <a:t/>
            </a:r>
          </a:p>
          <a:p>
            <a:r>
              <a:rPr b="1" sz="1100"/>
              <a:t>🗣 SAY:</a:t>
            </a:r>
          </a:p>
          <a:p>
            <a:r>
              <a:rPr sz="1100"/>
              <a:t>RESUME VALUE &amp; CONCLUSION</a:t>
            </a:r>
          </a:p>
          <a:p>
            <a:r>
              <a:rPr sz="1100"/>
              <a:t/>
            </a:r>
          </a:p>
          <a:p>
            <a:r>
              <a:rPr sz="1100"/>
              <a:t>This project demonstrates:</a:t>
            </a:r>
          </a:p>
          <a:p>
            <a:r>
              <a:rPr sz="1100"/>
              <a:t>• AI model security and zero-trust design</a:t>
            </a:r>
          </a:p>
          <a:p>
            <a:r>
              <a:rPr sz="1100"/>
              <a:t>• Random Matrix Theory applied to production systems</a:t>
            </a:r>
          </a:p>
          <a:p>
            <a:r>
              <a:rPr sz="1100"/>
              <a:t>• Statistical feature engineering</a:t>
            </a:r>
          </a:p>
          <a:p>
            <a:r>
              <a:rPr sz="1100"/>
              <a:t>• MLSecOps: Python package, CLI, FastAPI, Streamlit, MCP, Docker</a:t>
            </a:r>
          </a:p>
          <a:p>
            <a:r>
              <a:rPr sz="1100"/>
              <a:t>• Business judgment: kept interpretable features even when metrics said I could drop them</a:t>
            </a:r>
          </a:p>
          <a:p>
            <a:r>
              <a:rPr sz="1100"/>
              <a:t>• Rigorous validation: 15-fold cross-validation with honest limitation disclosure</a:t>
            </a:r>
          </a:p>
          <a:p>
            <a:r>
              <a:rPr sz="1100"/>
              <a:t/>
            </a:r>
          </a:p>
          <a:p>
            <a:r>
              <a:rPr sz="1100"/>
              <a:t>Central message:</a:t>
            </a:r>
          </a:p>
          <a:p>
            <a:r>
              <a:rPr sz="1100"/>
              <a:t>SafeTensors helps secure the envelope.</a:t>
            </a:r>
          </a:p>
          <a:p>
            <a:r>
              <a:rPr sz="1100"/>
              <a:t>ModelSentinel acts like an X-ray machine that examines the letter inside without executing the model.</a:t>
            </a:r>
          </a:p>
          <a:p>
            <a:r>
              <a:rPr sz="1100"/>
              <a:t/>
            </a:r>
          </a:p>
          <a:p>
            <a:r>
              <a:rPr sz="1100"/>
              <a:t>Thank you. I am happy to answer your questions.</a:t>
            </a:r>
          </a:p>
          <a:p>
            <a:r>
              <a:t/>
            </a:r>
          </a:p>
          <a:p>
            <a:r>
              <a:rPr b="1" sz="1100"/>
              <a:t>🆘 IF YOU BLANK:</a:t>
            </a:r>
          </a:p>
          <a:p>
            <a:r>
              <a:rPr sz="1100"/>
              <a:t>96.5%, 0.987, zero false quarantine, 1.42 seconds.</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Q&amp;A backup  |  Slide 22 Limitations</a:t>
            </a:r>
          </a:p>
          <a:p>
            <a:r>
              <a:t/>
            </a:r>
          </a:p>
          <a:p>
            <a:r>
              <a:rPr b="1" sz="1100"/>
              <a:t>👆 POINT TO:</a:t>
            </a:r>
          </a:p>
          <a:p>
            <a:r>
              <a:rPr sz="1100"/>
              <a:t>Left = limitation, right = next step.</a:t>
            </a:r>
          </a:p>
          <a:p>
            <a:r>
              <a:t/>
            </a:r>
          </a:p>
          <a:p>
            <a:r>
              <a:rPr b="1" sz="1100"/>
              <a:t>🗣 SAY:</a:t>
            </a:r>
          </a:p>
          <a:p>
            <a:r>
              <a:rPr sz="1100"/>
              <a:t>Limitations: exact SVD slow on 70B+ (fix: randomised SVD); only FP32/FP16/BF16 (fix: GGUF/AWQ/GPTQ streaming); in-memory store (fix: Redis + PostgreSQL + Celery); adaptive adversaries (fix: add runtime monitoring); kurtosis-skew cases (fix: hard override at 0.95).</a:t>
            </a:r>
          </a:p>
          <a:p>
            <a:r>
              <a:t/>
            </a:r>
          </a:p>
          <a:p>
            <a:r>
              <a:rPr b="1" sz="1100"/>
              <a:t>🆘 IF YOU BLANK:</a:t>
            </a:r>
          </a:p>
          <a:p>
            <a:r>
              <a:rPr sz="1100"/>
              <a:t>Known limits, each with a concrete next step.</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Q&amp;A backup  |  Slide 23 References</a:t>
            </a:r>
          </a:p>
          <a:p>
            <a:r>
              <a:t/>
            </a:r>
          </a:p>
          <a:p>
            <a:r>
              <a:rPr b="1" sz="1100"/>
              <a:t>👆 POINT TO:</a:t>
            </a:r>
          </a:p>
          <a:p>
            <a:r>
              <a:rPr sz="1100"/>
              <a:t>Keep behind Conclusion.</a:t>
            </a:r>
          </a:p>
          <a:p>
            <a:r>
              <a:t/>
            </a:r>
          </a:p>
          <a:p>
            <a:r>
              <a:rPr b="1" sz="1100"/>
              <a:t>🗣 SAY:</a:t>
            </a:r>
          </a:p>
          <a:p>
            <a:r>
              <a:rPr sz="1100"/>
              <a:t>Foundations: Marchenko-Pastur (1967), Baik-Ben Arous-Péché (2005), Martin &amp; Mahoney (2021), Sarle (1990).</a:t>
            </a:r>
          </a:p>
          <a:p>
            <a:r>
              <a:t/>
            </a:r>
          </a:p>
          <a:p>
            <a:r>
              <a:rPr b="1" sz="1100"/>
              <a:t>🆘 IF YOU BLANK:</a:t>
            </a:r>
          </a:p>
          <a:p>
            <a:r>
              <a:rPr sz="1100"/>
              <a:t>Marchenko-Pastur and BBP are the theory base.</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Q&amp;A backup  |  Slide 24 References continued</a:t>
            </a:r>
          </a:p>
          <a:p>
            <a:r>
              <a:t/>
            </a:r>
          </a:p>
          <a:p>
            <a:r>
              <a:rPr b="1" sz="1100"/>
              <a:t>👆 POINT TO:</a:t>
            </a:r>
          </a:p>
          <a:p>
            <a:r>
              <a:rPr sz="1100"/>
              <a:t>Keep behind Conclusion.</a:t>
            </a:r>
          </a:p>
          <a:p>
            <a:r>
              <a:t/>
            </a:r>
          </a:p>
          <a:p>
            <a:r>
              <a:rPr b="1" sz="1100"/>
              <a:t>🗣 SAY:</a:t>
            </a:r>
          </a:p>
          <a:p>
            <a:r>
              <a:rPr sz="1100"/>
              <a:t>Tooling refs: FastAPI, Streamlit, Typer, scikit-learn, MCP.</a:t>
            </a:r>
          </a:p>
          <a:p>
            <a:r>
              <a:t/>
            </a:r>
          </a:p>
          <a:p>
            <a:r>
              <a:rPr b="1" sz="1100"/>
              <a:t>🆘 IF YOU BLANK:</a:t>
            </a:r>
          </a:p>
          <a:p>
            <a:r>
              <a:rPr sz="1100"/>
              <a:t>Standard open-source tooling.</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Hidden slide — print or open on phone</a:t>
            </a:r>
          </a:p>
          <a:p>
            <a:r>
              <a:t/>
            </a:r>
          </a:p>
          <a:p>
            <a:r>
              <a:rPr b="1" sz="1100"/>
              <a:t>👆 POINT TO:</a:t>
            </a:r>
          </a:p>
          <a:p>
            <a:r>
              <a:rPr sz="1100"/>
              <a:t>Not shown in slideshow. Open Presenter View or print.</a:t>
            </a:r>
          </a:p>
          <a:p>
            <a:r>
              <a:t/>
            </a:r>
          </a:p>
          <a:p>
            <a:r>
              <a:rPr b="1" sz="1100"/>
              <a:t>🗣 SAY:</a:t>
            </a:r>
          </a:p>
          <a:p>
            <a:r>
              <a:rPr sz="1100"/>
              <a:t>Story spine: ENVELOPE (problem) → X-RAY (solution) → PROOF (validation) → TRUST (business)</a:t>
            </a:r>
          </a:p>
          <a:p>
            <a:r>
              <a:rPr sz="1100"/>
              <a:t/>
            </a:r>
          </a:p>
          <a:p>
            <a:r>
              <a:rPr sz="1100"/>
              <a:t>0:00 Slide 1  ModelSentinel: AI model supply-chain security.</a:t>
            </a:r>
          </a:p>
          <a:p>
            <a:r>
              <a:rPr sz="1100"/>
              <a:t>0:30 Slide 2→6  Envelope safe, letter malicious.</a:t>
            </a:r>
          </a:p>
          <a:p>
            <a:r>
              <a:rPr sz="1100"/>
              <a:t>1:15 Slide 3→4  10-stage pipeline; LSE-MIL kills layer dilution.</a:t>
            </a:r>
          </a:p>
          <a:p>
            <a:r>
              <a:rPr sz="1100"/>
              <a:t>2:00 Slide 10  Sarle's BC 24→96%. BBP 100% Trojan. Mantissa entropy 100% stego.</a:t>
            </a:r>
          </a:p>
          <a:p>
            <a:r>
              <a:rPr sz="1100"/>
              <a:t>2:45 Slide 12→13  15-fold CV: 96.5%, 0.987 AUC, 0.0% FQ. Kept distributional for auditability.</a:t>
            </a:r>
          </a:p>
          <a:p>
            <a:r>
              <a:rPr sz="1100"/>
              <a:t>3:30 Slide 16  Static not dynamic. RMT not moments.</a:t>
            </a:r>
          </a:p>
          <a:p>
            <a:r>
              <a:rPr sz="1100"/>
              <a:t>4:00 Slide 17  SaaS, on-prem, threat intel. Zero false alarms = trust.</a:t>
            </a:r>
          </a:p>
          <a:p>
            <a:r>
              <a:rPr sz="1100"/>
              <a:t>4:30 Slide 18  X-ray machine. Thank you.</a:t>
            </a:r>
          </a:p>
          <a:p>
            <a:r>
              <a:rPr sz="1100"/>
              <a:t>4:55 Slide 21  96.5% · 0.987 · 0.0% · 100% · 1.42 s · 99.8%.</a:t>
            </a:r>
          </a:p>
          <a:p>
            <a:r>
              <a:t/>
            </a:r>
          </a:p>
          <a:p>
            <a:r>
              <a:rPr b="1" sz="1100"/>
              <a:t>🆘 IF YOU BLANK:</a:t>
            </a:r>
          </a:p>
          <a:p>
            <a:r>
              <a:rPr sz="1100"/>
              <a:t>ENVELOPE → X-RAY → PROOF → TRUST</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Backup / Q&amp;A  |  Slide 19 Infographic 1/2</a:t>
            </a:r>
          </a:p>
          <a:p>
            <a:r>
              <a:t/>
            </a:r>
          </a:p>
          <a:p>
            <a:r>
              <a:rPr b="1" sz="1100"/>
              <a:t>👆 POINT TO:</a:t>
            </a:r>
          </a:p>
          <a:p>
            <a:r>
              <a:rPr sz="1100"/>
              <a:t>Left panel (red box), then right panel (blue box), then the three threat tiles.</a:t>
            </a:r>
          </a:p>
          <a:p>
            <a:r>
              <a:t/>
            </a:r>
          </a:p>
          <a:p>
            <a:r>
              <a:rPr b="1" sz="1100"/>
              <a:t>🗣 SAY:</a:t>
            </a:r>
          </a:p>
          <a:p>
            <a:r>
              <a:rPr sz="1100"/>
              <a:t>They read the envelope; I read the letter. Same three attacks — only one side sees them.</a:t>
            </a:r>
          </a:p>
          <a:p>
            <a:r>
              <a:t/>
            </a:r>
          </a:p>
          <a:p>
            <a:r>
              <a:rPr b="1" sz="1100"/>
              <a:t>🆘 IF YOU BLANK:</a:t>
            </a:r>
          </a:p>
          <a:p>
            <a:r>
              <a:rPr sz="1100"/>
              <a:t>They read the envelope; I read the letter.</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rPr b="1" sz="1100"/>
              <a:t>⏱ TIME:</a:t>
            </a:r>
          </a:p>
          <a:p>
            <a:r>
              <a:rPr sz="1100"/>
              <a:t>Backup / Q&amp;A  |  Slide 20 Infographic 2/2</a:t>
            </a:r>
          </a:p>
          <a:p>
            <a:r>
              <a:t/>
            </a:r>
          </a:p>
          <a:p>
            <a:r>
              <a:rPr b="1" sz="1100"/>
              <a:t>👆 POINT TO:</a:t>
            </a:r>
          </a:p>
          <a:p>
            <a:r>
              <a:rPr sz="1100"/>
              <a:t>Right-hand column of ticks, then the four dark-banner badges.</a:t>
            </a:r>
          </a:p>
          <a:p>
            <a:r>
              <a:t/>
            </a:r>
          </a:p>
          <a:p>
            <a:r>
              <a:rPr b="1" sz="1100"/>
              <a:t>🗣 SAY:</a:t>
            </a:r>
          </a:p>
          <a:p>
            <a:r>
              <a:rPr sz="1100"/>
              <a:t>Row by row: Trojans detected, dilution solved, stego caught, no model execution, explainable, repairable, enterprise-ready.</a:t>
            </a:r>
          </a:p>
          <a:p>
            <a:r>
              <a:t/>
            </a:r>
          </a:p>
          <a:p>
            <a:r>
              <a:rPr b="1" sz="1100"/>
              <a:t>🆘 IF YOU BLANK:</a:t>
            </a:r>
          </a:p>
          <a:p>
            <a:r>
              <a:rPr sz="1100"/>
              <a:t>Real threats, no dilution, explainable, enterprise-ready.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TIME: Backup / Q&amp;A — use if asked ‘explain your algorithms’</a:t>
            </a:r>
          </a:p>
          <a:p/>
          <a:p>
            <a:r>
              <a:t>👆 POINT TO: Each header box left to right. Name the algorithm then give the one-line reason.</a:t>
            </a:r>
          </a:p>
          <a:p/>
          <a:p>
            <a:r>
              <a:t>🗣 SAY: Five algorithms, each chosen for a specific blind spot existing tools miss.</a:t>
            </a:r>
          </a:p>
          <a:p>
            <a:r>
              <a:t>Sarle’s BC catches bimodal weight triggers that mean and std overlook (24→96%).</a:t>
            </a:r>
          </a:p>
          <a:p>
            <a:r>
              <a:t>BBP spike ratio catches rank-1 Trojans via a singular-value spike outside the MP boundary (100% recall).</a:t>
            </a:r>
          </a:p>
          <a:p>
            <a:r>
              <a:t>Mantissa bitplane entropy catches steganography hidden in float bits (100% recall).</a:t>
            </a:r>
          </a:p>
          <a:p>
            <a:r>
              <a:t>LSE-MIL ensures one poisoned layer cannot hide inside a global average (mathematical guarantee).</a:t>
            </a:r>
          </a:p>
          <a:p>
            <a:r>
              <a:t>Logistic regression keeps the verdict auditable and avoids overfitting on 200 training samples.</a:t>
            </a:r>
          </a:p>
          <a:p/>
          <a:p>
            <a:r>
              <a:t>🆘 IF YOU BLANK: Five algorithms, five blind spots covered.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TIME: Backup / Q&amp;A — use if asked ‘why cross-validation?’ or ‘is the result reliable?’</a:t>
            </a:r>
          </a:p>
          <a:p/>
          <a:p>
            <a:r>
              <a:t>👆 POINT TO: Left navy card (small dataset), then right teal card (imbalanced classes), then the bottom strip.</a:t>
            </a:r>
          </a:p>
          <a:p/>
          <a:p>
            <a:r>
              <a:t>🗣 SAY: Two reasons.</a:t>
            </a:r>
          </a:p>
          <a:p>
            <a:r>
              <a:t>First, we only have 200 models. A single train-test split is unreliable; one lucky cut can shift reported accuracy by 10 points. Running 15 independent folds and reporting a mean plus standard deviation proves 96.5% is stable.</a:t>
            </a:r>
          </a:p>
          <a:p>
            <a:r>
              <a:t>Second, clean models outnumber trojaned ones. A random split could put almost all trojaned models in training, making recall look artificially high. Stratified CV forces every fold to have the same ratio, so no fold is accidentally easy.</a:t>
            </a:r>
          </a:p>
          <a:p>
            <a:r>
              <a:t>Together: 15-fold stratified CV proves the result is both stable and fair.</a:t>
            </a:r>
          </a:p>
          <a:p/>
          <a:p>
            <a:r>
              <a:t>🆘 IF YOU BLANK: 15 folds: stable. Stratified: fair.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 Id="rId16" Type="http://schemas.openxmlformats.org/officeDocument/2006/relationships/image" Target="../media/image2.png"/><Relationship Id="rId17" Type="http://schemas.microsoft.com/office/2007/relationships/hdphoto" Target="../media/hdphoto1.wdp"/><Relationship Id="rId18" Type="http://schemas.openxmlformats.org/officeDocument/2006/relationships/image" Target="../media/image3.png"/><Relationship Id="rId19"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image" Target="../media/image5.png"/><Relationship Id="rId4" Type="http://schemas.microsoft.com/office/2007/relationships/hdphoto" Target="../media/hdphoto3.wdp"/><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38404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solidFill>
                  <a:prstClr val="white"/>
                </a:solidFill>
                <a:cs typeface="Calibri" panose="020F0502020204030204" pitchFamily="34" charset="0"/>
              </a:rPr>
              <a:t>ModelSentinel: Static Forensic Analysis and Uncertainty-Aware Defense Framework for AI Model Supply-Chain Security</a:t>
            </a:r>
          </a:p>
          <a:p>
            <a:pPr lvl="0" algn="ctr">
              <a:defRPr/>
              <a:spcBef>
                <a:spcPts val="2400"/>
              </a:spcBef>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SASI (Candidate ID: T9928)</a:t>
            </a: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6032" y="1280160"/>
            <a:ext cx="6766560" cy="4389120"/>
          </a:xfrm>
        </p:spPr>
        <p:txBody>
          <a:bodyPr>
            <a:noAutofit/>
          </a:bodyPr>
          <a:lstStyle/>
          <a:p>
            <a:pPr marL="292608" indent="-292608">
              <a:lnSpc>
                <a:spcPct val="100000"/>
              </a:lnSpc>
              <a:spcBef>
                <a:spcPts val="0"/>
              </a:spcBef>
              <a:spcAft>
                <a:spcPts val="700"/>
              </a:spcAft>
              <a:buClr>
                <a:srgbClr val="2A7F8F"/>
              </a:buClr>
              <a:buFont typeface="Arial"/>
              <a:buChar char="•"/>
            </a:pPr>
            <a:r>
              <a:rPr sz="1800" b="0" i="0">
                <a:solidFill>
                  <a:srgbClr val="2B3A55"/>
                </a:solidFill>
                <a:latin typeface="+mn-lt"/>
              </a:rPr>
              <a:t>The AI industry relies on open-source pre-trained weights from Hugging Face, Civitai, and third-party vendors.</a:t>
            </a:r>
          </a:p>
          <a:p>
            <a:pPr marL="292608" indent="-292608">
              <a:lnSpc>
                <a:spcPct val="100000"/>
              </a:lnSpc>
              <a:spcBef>
                <a:spcPts val="0"/>
              </a:spcBef>
              <a:spcAft>
                <a:spcPts val="700"/>
              </a:spcAft>
              <a:buClr>
                <a:srgbClr val="2A7F8F"/>
              </a:buClr>
              <a:buFont typeface="Arial"/>
              <a:buChar char="•"/>
            </a:pPr>
            <a:r>
              <a:rPr sz="1800" b="0" i="0">
                <a:solidFill>
                  <a:srgbClr val="2B3A55"/>
                </a:solidFill>
                <a:latin typeface="+mn-lt"/>
              </a:rPr>
              <a:t>Legacy formats (.bin, .pt) used Python pickle, allowing Arbitrary Code Execution (RCE) via __reduce__ payloads.</a:t>
            </a:r>
          </a:p>
          <a:p>
            <a:pPr marL="292608" indent="-292608">
              <a:lnSpc>
                <a:spcPct val="100000"/>
              </a:lnSpc>
              <a:spcBef>
                <a:spcPts val="0"/>
              </a:spcBef>
              <a:spcAft>
                <a:spcPts val="700"/>
              </a:spcAft>
              <a:buClr>
                <a:srgbClr val="2A7F8F"/>
              </a:buClr>
              <a:buFont typeface="Arial"/>
              <a:buChar char="•"/>
            </a:pPr>
            <a:r>
              <a:rPr sz="1800" b="0" i="0">
                <a:solidFill>
                  <a:srgbClr val="2B3A55"/>
                </a:solidFill>
                <a:latin typeface="+mn-lt"/>
              </a:rPr>
              <a:t>Hugging Face introduced .safetensors to eliminate code execution: raw binary floats + JSON header.</a:t>
            </a:r>
          </a:p>
          <a:p>
            <a:pPr marL="292608" indent="-292608">
              <a:lnSpc>
                <a:spcPct val="100000"/>
              </a:lnSpc>
              <a:spcBef>
                <a:spcPts val="0"/>
              </a:spcBef>
              <a:spcAft>
                <a:spcPts val="700"/>
              </a:spcAft>
              <a:buClr>
                <a:srgbClr val="2A7F8F"/>
              </a:buClr>
              <a:buFont typeface="Arial"/>
              <a:buChar char="•"/>
            </a:pPr>
            <a:r>
              <a:rPr sz="1800" b="0" i="0">
                <a:solidFill>
                  <a:srgbClr val="2B3A55"/>
                </a:solidFill>
                <a:latin typeface="+mn-lt"/>
              </a:rPr>
              <a:t>This created the </a:t>
            </a:r>
            <a:r>
              <a:rPr sz="1800" b="1" i="0">
                <a:solidFill>
                  <a:srgbClr val="1C4D98"/>
                </a:solidFill>
                <a:latin typeface="+mn-lt"/>
              </a:rPr>
              <a:t>“SafeTensors Fallacy”</a:t>
            </a:r>
            <a:r>
              <a:rPr sz="1800" b="0" i="0">
                <a:solidFill>
                  <a:srgbClr val="2B3A55"/>
                </a:solidFill>
                <a:latin typeface="+mn-lt"/>
              </a:rPr>
              <a:t>: a file that cannot execute code is assumed to hold benign weights.</a:t>
            </a:r>
          </a:p>
          <a:p>
            <a:pPr marL="292608" indent="-292608">
              <a:lnSpc>
                <a:spcPct val="100000"/>
              </a:lnSpc>
              <a:spcBef>
                <a:spcPts val="0"/>
              </a:spcBef>
              <a:spcAft>
                <a:spcPts val="700"/>
              </a:spcAft>
              <a:buClr>
                <a:srgbClr val="2A7F8F"/>
              </a:buClr>
              <a:buFont typeface="Arial"/>
              <a:buChar char="•"/>
            </a:pPr>
            <a:r>
              <a:rPr sz="1800" b="1" i="0">
                <a:solidFill>
                  <a:srgbClr val="1C4D98"/>
                </a:solidFill>
                <a:latin typeface="+mn-lt"/>
              </a:rPr>
              <a:t>Reality:</a:t>
            </a:r>
            <a:r>
              <a:rPr sz="1800" b="0" i="0">
                <a:solidFill>
                  <a:srgbClr val="2B3A55"/>
                </a:solidFill>
                <a:latin typeface="+mn-lt"/>
              </a:rPr>
              <a:t> attackers embed neural Trojans, backdoors, attention hijacking, and encrypted steganography inside weight matrices.</a:t>
            </a:r>
          </a:p>
          <a:p>
            <a:pPr marL="292608" indent="-292608">
              <a:lnSpc>
                <a:spcPct val="100000"/>
              </a:lnSpc>
              <a:spcBef>
                <a:spcPts val="0"/>
              </a:spcBef>
              <a:spcAft>
                <a:spcPts val="700"/>
              </a:spcAft>
              <a:buClr>
                <a:srgbClr val="2A7F8F"/>
              </a:buClr>
              <a:buFont typeface="Arial"/>
              <a:buChar char="•"/>
            </a:pPr>
            <a:r>
              <a:rPr sz="1800" b="1" i="0">
                <a:solidFill>
                  <a:srgbClr val="1C4D98"/>
                </a:solidFill>
                <a:latin typeface="+mn-lt"/>
              </a:rPr>
              <a:t>ModelSentinel:</a:t>
            </a:r>
            <a:r>
              <a:rPr sz="1800" b="0" i="0">
                <a:solidFill>
                  <a:srgbClr val="2B3A55"/>
                </a:solidFill>
                <a:latin typeface="+mn-lt"/>
              </a:rPr>
              <a:t> zero-code-execution static forensics that localizes the corrupted block and issues an explainable ALLOW / REVIEW / QUARANTINE verdict.</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292608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sp>
        <p:nvSpPr>
          <p:cNvPr id="6" name="TextBox 5"/>
          <p:cNvSpPr txBox="1"/>
          <p:nvPr/>
        </p:nvSpPr>
        <p:spPr>
          <a:xfrm>
            <a:off x="7223760" y="1280160"/>
            <a:ext cx="4572000" cy="365760"/>
          </a:xfrm>
          <a:prstGeom prst="rect">
            <a:avLst/>
          </a:prstGeom>
          <a:noFill/>
        </p:spPr>
        <p:txBody>
          <a:bodyPr wrap="square" anchor="t">
            <a:spAutoFit/>
          </a:bodyPr>
          <a:lstStyle/>
          <a:p>
            <a:pPr marL="0" indent="0" algn="l">
              <a:lnSpc>
                <a:spcPct val="100000"/>
              </a:lnSpc>
              <a:spcBef>
                <a:spcPts val="0"/>
              </a:spcBef>
              <a:spcAft>
                <a:spcPts val="0"/>
              </a:spcAft>
              <a:buNone/>
            </a:pPr>
            <a:r>
              <a:rPr sz="1800" b="1" i="0">
                <a:solidFill>
                  <a:srgbClr val="1F4E79"/>
                </a:solidFill>
                <a:latin typeface="+mn-lt"/>
              </a:rPr>
              <a:t>The SafeTensors Fallacy</a:t>
            </a:r>
          </a:p>
        </p:txBody>
      </p:sp>
      <p:graphicFrame>
        <p:nvGraphicFramePr>
          <p:cNvPr id="7" name="Fallacy comparison"/>
          <p:cNvGraphicFramePr>
            <a:graphicFrameLocks noGrp="1"/>
          </p:cNvGraphicFramePr>
          <p:nvPr/>
        </p:nvGraphicFramePr>
        <p:xfrm>
          <a:off x="7223760" y="1691640"/>
          <a:ext cx="4572000" cy="3200400"/>
        </p:xfrm>
        <a:graphic>
          <a:graphicData uri="http://schemas.openxmlformats.org/drawingml/2006/table">
            <a:tbl>
              <a:tblPr firstRow="1" bandRow="1">
                <a:tableStyleId>{5C22544A-7EE6-4342-B048-85BDC9FD1C3A}</a:tableStyleId>
              </a:tblPr>
              <a:tblGrid>
                <a:gridCol w="2286000"/>
                <a:gridCol w="2286000"/>
              </a:tblGrid>
              <a:tr h="640080">
                <a:tc>
                  <a:txBody>
                    <a:bodyPr wrap="square"/>
                    <a:lstStyle/>
                    <a:p>
                      <a:pPr marL="0" indent="0">
                        <a:lnSpc>
                          <a:spcPct val="100000"/>
                        </a:lnSpc>
                        <a:spcBef>
                          <a:spcPts val="0"/>
                        </a:spcBef>
                        <a:spcAft>
                          <a:spcPts val="0"/>
                        </a:spcAft>
                        <a:buNone/>
                      </a:pPr>
                      <a:r>
                        <a:rPr sz="1400" b="1" i="0">
                          <a:solidFill>
                            <a:srgbClr val="FFFFFF"/>
                          </a:solidFill>
                          <a:latin typeface="+mn-lt"/>
                        </a:rPr>
                        <a:t>Legacy pickle (.bin / .pt)</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Modern safetensors</a:t>
                      </a:r>
                    </a:p>
                  </a:txBody>
                  <a:tcPr marL="73152" marR="73152" marT="27432" marB="27432" anchor="ctr">
                    <a:solidFill>
                      <a:srgbClr val="1F4E79"/>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Pickle VM opcode stream</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JSON header + raw byte array</a:t>
                      </a:r>
                    </a:p>
                  </a:txBody>
                  <a:tcPr marL="73152" marR="73152" marT="27432" marB="27432" anchor="ctr">
                    <a:solidFill>
                      <a:srgbClr val="EAF3FA"/>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RCE on load via __reduce__</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Zero code execution on load</a:t>
                      </a:r>
                    </a:p>
                  </a:txBody>
                  <a:tcPr marL="73152" marR="73152" marT="27432" marB="27432" anchor="ctr">
                    <a:solidFill>
                      <a:srgbClr val="FFFFFF"/>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Blind to weight manipulation</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BLIND TO WEAPONIZED WEIGHTS</a:t>
                      </a:r>
                    </a:p>
                  </a:txBody>
                  <a:tcPr marL="73152" marR="73152" marT="27432" marB="27432" anchor="ctr">
                    <a:solidFill>
                      <a:srgbClr val="EAF3FA"/>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Fails unsafe</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Safe container, unsafe math</a:t>
                      </a:r>
                    </a:p>
                  </a:txBody>
                  <a:tcPr marL="73152" marR="73152" marT="27432" marB="27432" anchor="ctr">
                    <a:solidFill>
                      <a:srgbClr val="FFFFFF"/>
                    </a:solidFill>
                  </a:tcPr>
                </a:tc>
              </a:tr>
            </a:tbl>
          </a:graphicData>
        </a:graphic>
      </p:graphicFrame>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6032" y="1280160"/>
            <a:ext cx="6766560" cy="4389120"/>
          </a:xfrm>
        </p:spPr>
        <p:txBody>
          <a:bodyPr>
            <a:noAutofit/>
          </a:bodyPr>
          <a:lstStyle/>
          <a:p>
            <a:pPr marL="292608" indent="-292608">
              <a:lnSpc>
                <a:spcPct val="100000"/>
              </a:lnSpc>
              <a:spcBef>
                <a:spcPts val="0"/>
              </a:spcBef>
              <a:spcAft>
                <a:spcPts val="600"/>
              </a:spcAft>
              <a:buClr>
                <a:srgbClr val="2A7F8F"/>
              </a:buClr>
              <a:buFont typeface="Arial"/>
              <a:buChar char="•"/>
            </a:pPr>
            <a:r>
              <a:rPr sz="1800" b="1" i="0">
                <a:solidFill>
                  <a:srgbClr val="1C4D98"/>
                </a:solidFill>
                <a:latin typeface="+mn-lt"/>
              </a:rPr>
              <a:t>Primary:</a:t>
            </a:r>
            <a:r>
              <a:rPr sz="1800" b="0" i="0">
                <a:solidFill>
                  <a:srgbClr val="2B3A55"/>
                </a:solidFill>
                <a:latin typeface="+mn-lt"/>
              </a:rPr>
              <a:t> a production-grade, zero-runtime-execution forensic pipeline that statically audits AI weights before deployment, with zero false quarantines on clean checkpoints.</a:t>
            </a:r>
          </a:p>
          <a:p>
            <a:pPr marL="292608" indent="-292608">
              <a:lnSpc>
                <a:spcPct val="100000"/>
              </a:lnSpc>
              <a:spcBef>
                <a:spcPts val="0"/>
              </a:spcBef>
              <a:spcAft>
                <a:spcPts val="600"/>
              </a:spcAft>
              <a:buClr>
                <a:srgbClr val="2A7F8F"/>
              </a:buClr>
              <a:buFont typeface="Arial"/>
              <a:buChar char="•"/>
            </a:pPr>
            <a:r>
              <a:rPr sz="1800" b="1" i="0">
                <a:solidFill>
                  <a:srgbClr val="1C4D98"/>
                </a:solidFill>
                <a:latin typeface="+mn-lt"/>
              </a:rPr>
              <a:t>Zero Code Execution:</a:t>
            </a:r>
            <a:r>
              <a:rPr sz="1800" b="0" i="0">
                <a:solidFill>
                  <a:srgbClr val="2B3A55"/>
                </a:solidFill>
                <a:latin typeface="+mn-lt"/>
              </a:rPr>
              <a:t> audit weights as static matrices; no forward passes.</a:t>
            </a:r>
          </a:p>
          <a:p>
            <a:pPr marL="292608" indent="-292608">
              <a:lnSpc>
                <a:spcPct val="100000"/>
              </a:lnSpc>
              <a:spcBef>
                <a:spcPts val="0"/>
              </a:spcBef>
              <a:spcAft>
                <a:spcPts val="600"/>
              </a:spcAft>
              <a:buClr>
                <a:srgbClr val="2A7F8F"/>
              </a:buClr>
              <a:buFont typeface="Arial"/>
              <a:buChar char="•"/>
            </a:pPr>
            <a:r>
              <a:rPr sz="1800" b="1" i="0">
                <a:solidFill>
                  <a:srgbClr val="1C4D98"/>
                </a:solidFill>
                <a:latin typeface="+mn-lt"/>
              </a:rPr>
              <a:t>Zero Data Dependence:</a:t>
            </a:r>
            <a:r>
              <a:rPr sz="1800" b="0" i="0">
                <a:solidFill>
                  <a:srgbClr val="2B3A55"/>
                </a:solidFill>
                <a:latin typeface="+mn-lt"/>
              </a:rPr>
              <a:t> fully unsupervised; no private training data.</a:t>
            </a:r>
          </a:p>
          <a:p>
            <a:pPr marL="292608" indent="-292608">
              <a:lnSpc>
                <a:spcPct val="100000"/>
              </a:lnSpc>
              <a:spcBef>
                <a:spcPts val="0"/>
              </a:spcBef>
              <a:spcAft>
                <a:spcPts val="600"/>
              </a:spcAft>
              <a:buClr>
                <a:srgbClr val="2A7F8F"/>
              </a:buClr>
              <a:buFont typeface="Arial"/>
              <a:buChar char="•"/>
            </a:pPr>
            <a:r>
              <a:rPr sz="1800" b="1" i="0">
                <a:solidFill>
                  <a:srgbClr val="1C4D98"/>
                </a:solidFill>
                <a:latin typeface="+mn-lt"/>
              </a:rPr>
              <a:t>Layer-Dilution Defense:</a:t>
            </a:r>
            <a:r>
              <a:rPr sz="1800" b="0" i="0">
                <a:solidFill>
                  <a:srgbClr val="2B3A55"/>
                </a:solidFill>
                <a:latin typeface="+mn-lt"/>
              </a:rPr>
              <a:t> one poisoned layer cannot hide among 100 clean ones.</a:t>
            </a:r>
          </a:p>
          <a:p>
            <a:pPr marL="292608" indent="-292608">
              <a:lnSpc>
                <a:spcPct val="100000"/>
              </a:lnSpc>
              <a:spcBef>
                <a:spcPts val="0"/>
              </a:spcBef>
              <a:spcAft>
                <a:spcPts val="600"/>
              </a:spcAft>
              <a:buClr>
                <a:srgbClr val="2A7F8F"/>
              </a:buClr>
              <a:buFont typeface="Arial"/>
              <a:buChar char="•"/>
            </a:pPr>
            <a:r>
              <a:rPr sz="1800" b="1" i="0">
                <a:solidFill>
                  <a:srgbClr val="1C4D98"/>
                </a:solidFill>
                <a:latin typeface="+mn-lt"/>
              </a:rPr>
              <a:t>Coordinate Localization:</a:t>
            </a:r>
            <a:r>
              <a:rPr sz="1800" b="0" i="0">
                <a:solidFill>
                  <a:srgbClr val="2B3A55"/>
                </a:solidFill>
                <a:latin typeface="+mn-lt"/>
              </a:rPr>
              <a:t> pinpoint corrupted tensors to 256-parameter sub-blocks.</a:t>
            </a:r>
          </a:p>
          <a:p>
            <a:pPr marL="292608" indent="-292608">
              <a:lnSpc>
                <a:spcPct val="100000"/>
              </a:lnSpc>
              <a:spcBef>
                <a:spcPts val="0"/>
              </a:spcBef>
              <a:spcAft>
                <a:spcPts val="600"/>
              </a:spcAft>
              <a:buClr>
                <a:srgbClr val="2A7F8F"/>
              </a:buClr>
              <a:buFont typeface="Arial"/>
              <a:buChar char="•"/>
            </a:pPr>
            <a:r>
              <a:rPr sz="1800" b="1" i="0">
                <a:solidFill>
                  <a:srgbClr val="1C4D98"/>
                </a:solidFill>
                <a:latin typeface="+mn-lt"/>
              </a:rPr>
              <a:t>Surgical Remediation:</a:t>
            </a:r>
            <a:r>
              <a:rPr sz="1800" b="0" i="0">
                <a:solidFill>
                  <a:srgbClr val="2B3A55"/>
                </a:solidFill>
                <a:latin typeface="+mn-lt"/>
              </a:rPr>
              <a:t> Rank-1 SVD deflation without retraining.</a:t>
            </a:r>
          </a:p>
          <a:p>
            <a:pPr marL="292608" indent="-292608">
              <a:lnSpc>
                <a:spcPct val="100000"/>
              </a:lnSpc>
              <a:spcBef>
                <a:spcPts val="0"/>
              </a:spcBef>
              <a:spcAft>
                <a:spcPts val="600"/>
              </a:spcAft>
              <a:buClr>
                <a:srgbClr val="2A7F8F"/>
              </a:buClr>
              <a:buFont typeface="Arial"/>
              <a:buChar char="•"/>
            </a:pPr>
            <a:r>
              <a:rPr sz="1800" b="1" i="0">
                <a:solidFill>
                  <a:srgbClr val="1C4D98"/>
                </a:solidFill>
                <a:latin typeface="+mn-lt"/>
              </a:rPr>
              <a:t>Production Distribution:</a:t>
            </a:r>
            <a:r>
              <a:rPr sz="1800" b="0" i="0">
                <a:solidFill>
                  <a:srgbClr val="2B3A55"/>
                </a:solidFill>
                <a:latin typeface="+mn-lt"/>
              </a:rPr>
              <a:t> Python library, CLI, REST API, Streamlit UI, MCP tool.</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292608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sp>
        <p:nvSpPr>
          <p:cNvPr id="6" name="TextBox 5"/>
          <p:cNvSpPr txBox="1"/>
          <p:nvPr/>
        </p:nvSpPr>
        <p:spPr>
          <a:xfrm>
            <a:off x="7223760" y="1280160"/>
            <a:ext cx="4572000" cy="365760"/>
          </a:xfrm>
          <a:prstGeom prst="rect">
            <a:avLst/>
          </a:prstGeom>
          <a:noFill/>
        </p:spPr>
        <p:txBody>
          <a:bodyPr wrap="square" anchor="t">
            <a:spAutoFit/>
          </a:bodyPr>
          <a:lstStyle/>
          <a:p>
            <a:pPr marL="0" indent="0" algn="l">
              <a:lnSpc>
                <a:spcPct val="100000"/>
              </a:lnSpc>
              <a:spcBef>
                <a:spcPts val="0"/>
              </a:spcBef>
              <a:spcAft>
                <a:spcPts val="0"/>
              </a:spcAft>
              <a:buNone/>
            </a:pPr>
            <a:r>
              <a:rPr sz="1800" b="1" i="0">
                <a:solidFill>
                  <a:srgbClr val="1F4E79"/>
                </a:solidFill>
                <a:latin typeface="+mn-lt"/>
              </a:rPr>
              <a:t>Target KPIs at a glance</a:t>
            </a:r>
          </a:p>
        </p:txBody>
      </p:sp>
      <p:sp>
        <p:nvSpPr>
          <p:cNvPr id="7" name="KPI 1"/>
          <p:cNvSpPr/>
          <p:nvPr/>
        </p:nvSpPr>
        <p:spPr>
          <a:xfrm>
            <a:off x="7223760" y="1737360"/>
            <a:ext cx="2194560" cy="1188720"/>
          </a:xfrm>
          <a:prstGeom prst="roundRect">
            <a:avLst>
              <a:gd name="adj" fmla="val 12000"/>
            </a:avLst>
          </a:prstGeom>
          <a:solidFill>
            <a:srgbClr val="EAF3FA"/>
          </a:solidFill>
          <a:ln>
            <a:noFill/>
          </a:ln>
        </p:spPr>
        <p:txBody>
          <a:bodyPr rtlCol="0" anchor="ctr" wrap="square" lIns="73152" rIns="73152" tIns="36576" bIns="36576"/>
          <a:lstStyle/>
          <a:p>
            <a:pPr marL="0" indent="0" algn="ctr">
              <a:lnSpc>
                <a:spcPct val="100000"/>
              </a:lnSpc>
              <a:spcBef>
                <a:spcPts val="0"/>
              </a:spcBef>
              <a:spcAft>
                <a:spcPts val="0"/>
              </a:spcAft>
              <a:buNone/>
            </a:pPr>
            <a:r>
              <a:rPr sz="2800" b="1" i="0">
                <a:solidFill>
                  <a:srgbClr val="1F4E79"/>
                </a:solidFill>
                <a:latin typeface="+mn-lt"/>
              </a:rPr>
              <a:t>≥ 95%</a:t>
            </a:r>
          </a:p>
          <a:p>
            <a:pPr marL="0" indent="0" algn="ctr">
              <a:lnSpc>
                <a:spcPct val="100000"/>
              </a:lnSpc>
              <a:spcBef>
                <a:spcPts val="0"/>
              </a:spcBef>
              <a:spcAft>
                <a:spcPts val="0"/>
              </a:spcAft>
              <a:buNone/>
            </a:pPr>
            <a:r>
              <a:rPr sz="1400" b="1" i="0">
                <a:solidFill>
                  <a:srgbClr val="2B3A55"/>
                </a:solidFill>
                <a:latin typeface="+mn-lt"/>
              </a:rPr>
              <a:t>Accuracy</a:t>
            </a:r>
          </a:p>
        </p:txBody>
      </p:sp>
      <p:sp>
        <p:nvSpPr>
          <p:cNvPr id="8" name="KPI 2"/>
          <p:cNvSpPr/>
          <p:nvPr/>
        </p:nvSpPr>
        <p:spPr>
          <a:xfrm>
            <a:off x="9601200" y="1737360"/>
            <a:ext cx="2194560" cy="1188720"/>
          </a:xfrm>
          <a:prstGeom prst="roundRect">
            <a:avLst>
              <a:gd name="adj" fmla="val 12000"/>
            </a:avLst>
          </a:prstGeom>
          <a:solidFill>
            <a:srgbClr val="EAF3FA"/>
          </a:solidFill>
          <a:ln>
            <a:noFill/>
          </a:ln>
        </p:spPr>
        <p:txBody>
          <a:bodyPr rtlCol="0" anchor="ctr" wrap="square" lIns="73152" rIns="73152" tIns="36576" bIns="36576"/>
          <a:lstStyle/>
          <a:p>
            <a:pPr marL="0" indent="0" algn="ctr">
              <a:lnSpc>
                <a:spcPct val="100000"/>
              </a:lnSpc>
              <a:spcBef>
                <a:spcPts val="0"/>
              </a:spcBef>
              <a:spcAft>
                <a:spcPts val="0"/>
              </a:spcAft>
              <a:buNone/>
            </a:pPr>
            <a:r>
              <a:rPr sz="2800" b="1" i="0">
                <a:solidFill>
                  <a:srgbClr val="1F4E79"/>
                </a:solidFill>
                <a:latin typeface="+mn-lt"/>
              </a:rPr>
              <a:t>≥ 0.98</a:t>
            </a:r>
          </a:p>
          <a:p>
            <a:pPr marL="0" indent="0" algn="ctr">
              <a:lnSpc>
                <a:spcPct val="100000"/>
              </a:lnSpc>
              <a:spcBef>
                <a:spcPts val="0"/>
              </a:spcBef>
              <a:spcAft>
                <a:spcPts val="0"/>
              </a:spcAft>
              <a:buNone/>
            </a:pPr>
            <a:r>
              <a:rPr sz="1400" b="1" i="0">
                <a:solidFill>
                  <a:srgbClr val="2B3A55"/>
                </a:solidFill>
                <a:latin typeface="+mn-lt"/>
              </a:rPr>
              <a:t>ROC-AUC</a:t>
            </a:r>
          </a:p>
        </p:txBody>
      </p:sp>
      <p:sp>
        <p:nvSpPr>
          <p:cNvPr id="9" name="KPI 3"/>
          <p:cNvSpPr/>
          <p:nvPr/>
        </p:nvSpPr>
        <p:spPr>
          <a:xfrm>
            <a:off x="7223760" y="3063239"/>
            <a:ext cx="2194560" cy="1188720"/>
          </a:xfrm>
          <a:prstGeom prst="roundRect">
            <a:avLst>
              <a:gd name="adj" fmla="val 12000"/>
            </a:avLst>
          </a:prstGeom>
          <a:solidFill>
            <a:srgbClr val="EAF3FA"/>
          </a:solidFill>
          <a:ln>
            <a:noFill/>
          </a:ln>
        </p:spPr>
        <p:txBody>
          <a:bodyPr rtlCol="0" anchor="ctr" wrap="square" lIns="73152" rIns="73152" tIns="36576" bIns="36576"/>
          <a:lstStyle/>
          <a:p>
            <a:pPr marL="0" indent="0" algn="ctr">
              <a:lnSpc>
                <a:spcPct val="100000"/>
              </a:lnSpc>
              <a:spcBef>
                <a:spcPts val="0"/>
              </a:spcBef>
              <a:spcAft>
                <a:spcPts val="0"/>
              </a:spcAft>
              <a:buNone/>
            </a:pPr>
            <a:r>
              <a:rPr sz="2800" b="1" i="0">
                <a:solidFill>
                  <a:srgbClr val="1F4E79"/>
                </a:solidFill>
                <a:latin typeface="+mn-lt"/>
              </a:rPr>
              <a:t>0.0%</a:t>
            </a:r>
          </a:p>
          <a:p>
            <a:pPr marL="0" indent="0" algn="ctr">
              <a:lnSpc>
                <a:spcPct val="100000"/>
              </a:lnSpc>
              <a:spcBef>
                <a:spcPts val="0"/>
              </a:spcBef>
              <a:spcAft>
                <a:spcPts val="0"/>
              </a:spcAft>
              <a:buNone/>
            </a:pPr>
            <a:r>
              <a:rPr sz="1400" b="1" i="0">
                <a:solidFill>
                  <a:srgbClr val="2B3A55"/>
                </a:solidFill>
                <a:latin typeface="+mn-lt"/>
              </a:rPr>
              <a:t>False quarantine</a:t>
            </a:r>
          </a:p>
        </p:txBody>
      </p:sp>
      <p:sp>
        <p:nvSpPr>
          <p:cNvPr id="10" name="KPI 4"/>
          <p:cNvSpPr/>
          <p:nvPr/>
        </p:nvSpPr>
        <p:spPr>
          <a:xfrm>
            <a:off x="9601200" y="3063239"/>
            <a:ext cx="2194560" cy="1188720"/>
          </a:xfrm>
          <a:prstGeom prst="roundRect">
            <a:avLst>
              <a:gd name="adj" fmla="val 12000"/>
            </a:avLst>
          </a:prstGeom>
          <a:solidFill>
            <a:srgbClr val="EAF3FA"/>
          </a:solidFill>
          <a:ln>
            <a:noFill/>
          </a:ln>
        </p:spPr>
        <p:txBody>
          <a:bodyPr rtlCol="0" anchor="ctr" wrap="square" lIns="73152" rIns="73152" tIns="36576" bIns="36576"/>
          <a:lstStyle/>
          <a:p>
            <a:pPr marL="0" indent="0" algn="ctr">
              <a:lnSpc>
                <a:spcPct val="100000"/>
              </a:lnSpc>
              <a:spcBef>
                <a:spcPts val="0"/>
              </a:spcBef>
              <a:spcAft>
                <a:spcPts val="0"/>
              </a:spcAft>
              <a:buNone/>
            </a:pPr>
            <a:r>
              <a:rPr sz="2800" b="1" i="0">
                <a:solidFill>
                  <a:srgbClr val="1F4E79"/>
                </a:solidFill>
                <a:latin typeface="+mn-lt"/>
              </a:rPr>
              <a:t>100%</a:t>
            </a:r>
          </a:p>
          <a:p>
            <a:pPr marL="0" indent="0" algn="ctr">
              <a:lnSpc>
                <a:spcPct val="100000"/>
              </a:lnSpc>
              <a:spcBef>
                <a:spcPts val="0"/>
              </a:spcBef>
              <a:spcAft>
                <a:spcPts val="0"/>
              </a:spcAft>
              <a:buNone/>
            </a:pPr>
            <a:r>
              <a:rPr sz="1400" b="1" i="0">
                <a:solidFill>
                  <a:srgbClr val="2B3A55"/>
                </a:solidFill>
                <a:latin typeface="+mn-lt"/>
              </a:rPr>
              <a:t>Stego recall</a:t>
            </a:r>
          </a:p>
        </p:txBody>
      </p:sp>
      <p:sp>
        <p:nvSpPr>
          <p:cNvPr id="11" name="KPI 5"/>
          <p:cNvSpPr/>
          <p:nvPr/>
        </p:nvSpPr>
        <p:spPr>
          <a:xfrm>
            <a:off x="7223760" y="4389120"/>
            <a:ext cx="2194560" cy="1188720"/>
          </a:xfrm>
          <a:prstGeom prst="roundRect">
            <a:avLst>
              <a:gd name="adj" fmla="val 12000"/>
            </a:avLst>
          </a:prstGeom>
          <a:solidFill>
            <a:srgbClr val="EAF3FA"/>
          </a:solidFill>
          <a:ln>
            <a:noFill/>
          </a:ln>
        </p:spPr>
        <p:txBody>
          <a:bodyPr rtlCol="0" anchor="ctr" wrap="square" lIns="73152" rIns="73152" tIns="36576" bIns="36576"/>
          <a:lstStyle/>
          <a:p>
            <a:pPr marL="0" indent="0" algn="ctr">
              <a:lnSpc>
                <a:spcPct val="100000"/>
              </a:lnSpc>
              <a:spcBef>
                <a:spcPts val="0"/>
              </a:spcBef>
              <a:spcAft>
                <a:spcPts val="0"/>
              </a:spcAft>
              <a:buNone/>
            </a:pPr>
            <a:r>
              <a:rPr sz="2800" b="1" i="0">
                <a:solidFill>
                  <a:srgbClr val="1F4E79"/>
                </a:solidFill>
                <a:latin typeface="+mn-lt"/>
              </a:rPr>
              <a:t>&lt; 2 s</a:t>
            </a:r>
          </a:p>
          <a:p>
            <a:pPr marL="0" indent="0" algn="ctr">
              <a:lnSpc>
                <a:spcPct val="100000"/>
              </a:lnSpc>
              <a:spcBef>
                <a:spcPts val="0"/>
              </a:spcBef>
              <a:spcAft>
                <a:spcPts val="0"/>
              </a:spcAft>
              <a:buNone/>
            </a:pPr>
            <a:r>
              <a:rPr sz="1400" b="1" i="0">
                <a:solidFill>
                  <a:srgbClr val="2B3A55"/>
                </a:solidFill>
                <a:latin typeface="+mn-lt"/>
              </a:rPr>
              <a:t>Scan latency (CPU)</a:t>
            </a:r>
          </a:p>
        </p:txBody>
      </p:sp>
      <p:sp>
        <p:nvSpPr>
          <p:cNvPr id="12" name="KPI 6"/>
          <p:cNvSpPr/>
          <p:nvPr/>
        </p:nvSpPr>
        <p:spPr>
          <a:xfrm>
            <a:off x="9601200" y="4389120"/>
            <a:ext cx="2194560" cy="1188720"/>
          </a:xfrm>
          <a:prstGeom prst="roundRect">
            <a:avLst>
              <a:gd name="adj" fmla="val 12000"/>
            </a:avLst>
          </a:prstGeom>
          <a:solidFill>
            <a:srgbClr val="EAF3FA"/>
          </a:solidFill>
          <a:ln>
            <a:noFill/>
          </a:ln>
        </p:spPr>
        <p:txBody>
          <a:bodyPr rtlCol="0" anchor="ctr" wrap="square" lIns="73152" rIns="73152" tIns="36576" bIns="36576"/>
          <a:lstStyle/>
          <a:p>
            <a:pPr marL="0" indent="0" algn="ctr">
              <a:lnSpc>
                <a:spcPct val="100000"/>
              </a:lnSpc>
              <a:spcBef>
                <a:spcPts val="0"/>
              </a:spcBef>
              <a:spcAft>
                <a:spcPts val="0"/>
              </a:spcAft>
              <a:buNone/>
            </a:pPr>
            <a:r>
              <a:rPr sz="2800" b="1" i="0">
                <a:solidFill>
                  <a:srgbClr val="1F4E79"/>
                </a:solidFill>
                <a:latin typeface="+mn-lt"/>
              </a:rPr>
              <a:t>&lt; 512 MB</a:t>
            </a:r>
          </a:p>
          <a:p>
            <a:pPr marL="0" indent="0" algn="ctr">
              <a:lnSpc>
                <a:spcPct val="100000"/>
              </a:lnSpc>
              <a:spcBef>
                <a:spcPts val="0"/>
              </a:spcBef>
              <a:spcAft>
                <a:spcPts val="0"/>
              </a:spcAft>
              <a:buNone/>
            </a:pPr>
            <a:r>
              <a:rPr sz="1400" b="1" i="0">
                <a:solidFill>
                  <a:srgbClr val="2B3A55"/>
                </a:solidFill>
                <a:latin typeface="+mn-lt"/>
              </a:rPr>
              <a:t>RAM overhead</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6032" y="1234440"/>
            <a:ext cx="11521440" cy="4480560"/>
          </a:xfrm>
        </p:spPr>
        <p:txBody>
          <a:bodyPr>
            <a:noAutofit/>
          </a:bodyPr>
          <a:lstStyle/>
          <a:p>
            <a:pPr marL="0" indent="0">
              <a:lnSpc>
                <a:spcPct val="100000"/>
              </a:lnSpc>
              <a:spcBef>
                <a:spcPts val="0"/>
              </a:spcBef>
              <a:spcAft>
                <a:spcPts val="800"/>
              </a:spcAft>
              <a:buNone/>
            </a:pPr>
            <a:r>
              <a:rPr sz="2800" b="1" i="0">
                <a:solidFill>
                  <a:srgbClr val="1C4D98"/>
                </a:solidFill>
                <a:latin typeface="+mn-lt"/>
              </a:rPr>
              <a:t>The 10-Stage Forensic Pipeline</a:t>
            </a:r>
          </a:p>
          <a:p>
            <a:pPr marL="292608" indent="-292608">
              <a:lnSpc>
                <a:spcPct val="100000"/>
              </a:lnSpc>
              <a:spcBef>
                <a:spcPts val="0"/>
              </a:spcBef>
              <a:spcAft>
                <a:spcPts val="900"/>
              </a:spcAft>
              <a:buClr>
                <a:srgbClr val="2A7F8F"/>
              </a:buClr>
              <a:buFont typeface="Arial"/>
              <a:buChar char="•"/>
            </a:pPr>
            <a:r>
              <a:rPr sz="2000" b="1" i="0">
                <a:solidFill>
                  <a:srgbClr val="1C4D98"/>
                </a:solidFill>
                <a:latin typeface="+mn-lt"/>
              </a:rPr>
              <a:t>Stage 1 Ingestion:</a:t>
            </a:r>
            <a:r>
              <a:rPr sz="2000" b="0" i="0">
                <a:solidFill>
                  <a:srgbClr val="2B3A55"/>
                </a:solidFill>
                <a:latin typeface="+mn-lt"/>
              </a:rPr>
              <a:t> memory-mapped, zero-copy read-only; SHA-256 digest; fail-closed.</a:t>
            </a:r>
          </a:p>
          <a:p>
            <a:pPr marL="292608" indent="-292608">
              <a:lnSpc>
                <a:spcPct val="100000"/>
              </a:lnSpc>
              <a:spcBef>
                <a:spcPts val="0"/>
              </a:spcBef>
              <a:spcAft>
                <a:spcPts val="900"/>
              </a:spcAft>
              <a:buClr>
                <a:srgbClr val="2A7F8F"/>
              </a:buClr>
              <a:buFont typeface="Arial"/>
              <a:buChar char="•"/>
            </a:pPr>
            <a:r>
              <a:rPr sz="2000" b="1" i="0">
                <a:solidFill>
                  <a:srgbClr val="1C4D98"/>
                </a:solidFill>
                <a:latin typeface="+mn-lt"/>
              </a:rPr>
              <a:t>Stage 2 Stratification:</a:t>
            </a:r>
            <a:r>
              <a:rPr sz="2000" b="0" i="0">
                <a:solidFill>
                  <a:srgbClr val="2B3A55"/>
                </a:solidFill>
                <a:latin typeface="+mn-lt"/>
              </a:rPr>
              <a:t> layer-role cohorts (linear_weight, norm_bias, conv_weight, embedding_weight).</a:t>
            </a:r>
          </a:p>
          <a:p>
            <a:pPr marL="292608" indent="-292608">
              <a:lnSpc>
                <a:spcPct val="100000"/>
              </a:lnSpc>
              <a:spcBef>
                <a:spcPts val="0"/>
              </a:spcBef>
              <a:spcAft>
                <a:spcPts val="900"/>
              </a:spcAft>
              <a:buClr>
                <a:srgbClr val="2A7F8F"/>
              </a:buClr>
              <a:buFont typeface="Arial"/>
              <a:buChar char="•"/>
            </a:pPr>
            <a:r>
              <a:rPr sz="2000" b="1" i="0">
                <a:solidFill>
                  <a:srgbClr val="1C4D98"/>
                </a:solidFill>
                <a:latin typeface="+mn-lt"/>
              </a:rPr>
              <a:t>Stages 3-4 Dual-Engine Features:</a:t>
            </a:r>
            <a:r>
              <a:rPr sz="2000" b="0" i="0">
                <a:solidFill>
                  <a:srgbClr val="2B3A55"/>
                </a:solidFill>
                <a:latin typeface="+mn-lt"/>
              </a:rPr>
              <a:t> 15 distributional + 10 spectral RMT + topological attention.</a:t>
            </a:r>
          </a:p>
          <a:p>
            <a:pPr marL="292608" indent="-292608">
              <a:lnSpc>
                <a:spcPct val="100000"/>
              </a:lnSpc>
              <a:spcBef>
                <a:spcPts val="0"/>
              </a:spcBef>
              <a:spcAft>
                <a:spcPts val="900"/>
              </a:spcAft>
              <a:buClr>
                <a:srgbClr val="2A7F8F"/>
              </a:buClr>
              <a:buFont typeface="Arial"/>
              <a:buChar char="•"/>
            </a:pPr>
            <a:r>
              <a:rPr sz="2000" b="1" i="0">
                <a:solidFill>
                  <a:srgbClr val="1C4D98"/>
                </a:solidFill>
                <a:latin typeface="+mn-lt"/>
              </a:rPr>
              <a:t>Stages 5-6 Anomaly Scoring:</a:t>
            </a:r>
            <a:r>
              <a:rPr sz="2000" b="0" i="0">
                <a:solidFill>
                  <a:srgbClr val="2B3A55"/>
                </a:solidFill>
                <a:latin typeface="+mn-lt"/>
              </a:rPr>
              <a:t> intra-cohort Z-score, IQR, and absolute physical thresholds.</a:t>
            </a:r>
          </a:p>
          <a:p>
            <a:pPr marL="292608" indent="-292608">
              <a:lnSpc>
                <a:spcPct val="100000"/>
              </a:lnSpc>
              <a:spcBef>
                <a:spcPts val="0"/>
              </a:spcBef>
              <a:spcAft>
                <a:spcPts val="900"/>
              </a:spcAft>
              <a:buClr>
                <a:srgbClr val="2A7F8F"/>
              </a:buClr>
              <a:buFont typeface="Arial"/>
              <a:buChar char="•"/>
            </a:pPr>
            <a:r>
              <a:rPr sz="2000" b="1" i="0">
                <a:solidFill>
                  <a:srgbClr val="1C4D98"/>
                </a:solidFill>
                <a:latin typeface="+mn-lt"/>
              </a:rPr>
              <a:t>Stage 7 LSE-MIL Pooling:</a:t>
            </a:r>
            <a:r>
              <a:rPr sz="2000" b="0" i="0">
                <a:solidFill>
                  <a:srgbClr val="2B3A55"/>
                </a:solidFill>
                <a:latin typeface="+mn-lt"/>
              </a:rPr>
              <a:t> Log-Sum-Exp Multiple Instance Learning (τ = 6.0).</a:t>
            </a:r>
          </a:p>
          <a:p>
            <a:pPr marL="292608" indent="-292608">
              <a:lnSpc>
                <a:spcPct val="100000"/>
              </a:lnSpc>
              <a:spcBef>
                <a:spcPts val="0"/>
              </a:spcBef>
              <a:spcAft>
                <a:spcPts val="900"/>
              </a:spcAft>
              <a:buClr>
                <a:srgbClr val="2A7F8F"/>
              </a:buClr>
              <a:buFont typeface="Arial"/>
              <a:buChar char="•"/>
            </a:pPr>
            <a:r>
              <a:rPr sz="2000" b="1" i="0">
                <a:solidFill>
                  <a:srgbClr val="1C4D98"/>
                </a:solidFill>
                <a:latin typeface="+mn-lt"/>
              </a:rPr>
              <a:t>Stage 8 Decision Engine:</a:t>
            </a:r>
            <a:r>
              <a:rPr sz="2000" b="0" i="0">
                <a:solidFill>
                  <a:srgbClr val="2B3A55"/>
                </a:solidFill>
                <a:latin typeface="+mn-lt"/>
              </a:rPr>
              <a:t> ALLOW / REVIEW / QUARANTINE with calibrated thresholds.</a:t>
            </a:r>
          </a:p>
          <a:p>
            <a:pPr marL="292608" indent="-292608">
              <a:lnSpc>
                <a:spcPct val="100000"/>
              </a:lnSpc>
              <a:spcBef>
                <a:spcPts val="0"/>
              </a:spcBef>
              <a:spcAft>
                <a:spcPts val="900"/>
              </a:spcAft>
              <a:buClr>
                <a:srgbClr val="2A7F8F"/>
              </a:buClr>
              <a:buFont typeface="Arial"/>
              <a:buChar char="•"/>
            </a:pPr>
            <a:r>
              <a:rPr sz="2000" b="1" i="0">
                <a:solidFill>
                  <a:srgbClr val="1C4D98"/>
                </a:solidFill>
                <a:latin typeface="+mn-lt"/>
              </a:rPr>
              <a:t>Stage 9 Localization:</a:t>
            </a:r>
            <a:r>
              <a:rPr sz="2000" b="0" i="0">
                <a:solidFill>
                  <a:srgbClr val="2B3A55"/>
                </a:solidFill>
                <a:latin typeface="+mn-lt"/>
              </a:rPr>
              <a:t> 256-element block coordinate pinpointing.</a:t>
            </a:r>
          </a:p>
          <a:p>
            <a:pPr marL="292608" indent="-292608">
              <a:lnSpc>
                <a:spcPct val="100000"/>
              </a:lnSpc>
              <a:spcBef>
                <a:spcPts val="0"/>
              </a:spcBef>
              <a:spcAft>
                <a:spcPts val="900"/>
              </a:spcAft>
              <a:buClr>
                <a:srgbClr val="2A7F8F"/>
              </a:buClr>
              <a:buFont typeface="Arial"/>
              <a:buChar char="•"/>
            </a:pPr>
            <a:r>
              <a:rPr sz="2000" b="1" i="0">
                <a:solidFill>
                  <a:srgbClr val="1C4D98"/>
                </a:solidFill>
                <a:latin typeface="+mn-lt"/>
              </a:rPr>
              <a:t>Stage 10 Remediation:</a:t>
            </a:r>
            <a:r>
              <a:rPr sz="2000" b="0" i="0">
                <a:solidFill>
                  <a:srgbClr val="2B3A55"/>
                </a:solidFill>
                <a:latin typeface="+mn-lt"/>
              </a:rPr>
              <a:t> Rank-1 SVD deflation, LSB mantissa clearing, layer hot-swapping.</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1521440"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1: End-to-End System Architecture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8472031"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US" b="1" i="1" dirty="0">
                <a:solidFill>
                  <a:srgbClr val="FFFFFF"/>
                </a:solidFill>
              </a:rPr>
              <a:t>ModelSentinel – AI Supply-Chain Security</a:t>
            </a:r>
          </a:p>
          <a:p>
            <a:pPr algn="r"/>
            <a:endParaRPr lang="en-US" dirty="0"/>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Full Pipeline Flowchart</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471612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sp>
        <p:nvSpPr>
          <p:cNvPr id="6" name="Stage row1 0"/>
          <p:cNvSpPr/>
          <p:nvPr/>
        </p:nvSpPr>
        <p:spPr>
          <a:xfrm>
            <a:off x="457200" y="1325880"/>
            <a:ext cx="2468880" cy="1234440"/>
          </a:xfrm>
          <a:prstGeom prst="roundRect">
            <a:avLst>
              <a:gd name="adj" fmla="val 12000"/>
            </a:avLst>
          </a:prstGeom>
          <a:solidFill>
            <a:srgbClr val="1F4E79"/>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Candidate file</a:t>
            </a:r>
          </a:p>
          <a:p>
            <a:pPr marL="0" indent="0" algn="ctr">
              <a:lnSpc>
                <a:spcPct val="100000"/>
              </a:lnSpc>
              <a:spcBef>
                <a:spcPts val="0"/>
              </a:spcBef>
              <a:spcAft>
                <a:spcPts val="0"/>
              </a:spcAft>
              <a:buNone/>
            </a:pPr>
            <a:r>
              <a:rPr sz="1400" b="0" i="0">
                <a:solidFill>
                  <a:srgbClr val="FFFFFF"/>
                </a:solidFill>
                <a:latin typeface="+mn-lt"/>
              </a:rPr>
              <a:t>(.safetensors)</a:t>
            </a:r>
          </a:p>
          <a:p>
            <a:pPr marL="0" indent="0" algn="ctr">
              <a:lnSpc>
                <a:spcPct val="100000"/>
              </a:lnSpc>
              <a:spcBef>
                <a:spcPts val="0"/>
              </a:spcBef>
              <a:spcAft>
                <a:spcPts val="0"/>
              </a:spcAft>
              <a:buNone/>
            </a:pPr>
            <a:r>
              <a:rPr sz="1400" b="0" i="0">
                <a:solidFill>
                  <a:srgbClr val="FFFFFF"/>
                </a:solidFill>
                <a:latin typeface="+mn-lt"/>
              </a:rPr>
              <a:t>Optional: base file</a:t>
            </a:r>
          </a:p>
        </p:txBody>
      </p:sp>
      <p:cxnSp>
        <p:nvCxnSpPr>
          <p:cNvPr id="7" name="Connector 6"/>
          <p:cNvCxnSpPr/>
          <p:nvPr/>
        </p:nvCxnSpPr>
        <p:spPr>
          <a:xfrm>
            <a:off x="2944368" y="1938528"/>
            <a:ext cx="420624"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Stage row1 1"/>
          <p:cNvSpPr/>
          <p:nvPr/>
        </p:nvSpPr>
        <p:spPr>
          <a:xfrm>
            <a:off x="3383280" y="1325880"/>
            <a:ext cx="2468880" cy="1234440"/>
          </a:xfrm>
          <a:prstGeom prst="roundRect">
            <a:avLst>
              <a:gd name="adj" fmla="val 12000"/>
            </a:avLst>
          </a:prstGeom>
          <a:solidFill>
            <a:srgbClr val="1C4D98"/>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1 · Ingestion</a:t>
            </a:r>
          </a:p>
          <a:p>
            <a:pPr marL="0" indent="0" algn="ctr">
              <a:lnSpc>
                <a:spcPct val="100000"/>
              </a:lnSpc>
              <a:spcBef>
                <a:spcPts val="0"/>
              </a:spcBef>
              <a:spcAft>
                <a:spcPts val="0"/>
              </a:spcAft>
              <a:buNone/>
            </a:pPr>
            <a:r>
              <a:rPr sz="1400" b="0" i="0">
                <a:solidFill>
                  <a:srgbClr val="FFFFFF"/>
                </a:solidFill>
                <a:latin typeface="+mn-lt"/>
              </a:rPr>
              <a:t>Memory-mapped, zero-copy</a:t>
            </a:r>
          </a:p>
          <a:p>
            <a:pPr marL="0" indent="0" algn="ctr">
              <a:lnSpc>
                <a:spcPct val="100000"/>
              </a:lnSpc>
              <a:spcBef>
                <a:spcPts val="0"/>
              </a:spcBef>
              <a:spcAft>
                <a:spcPts val="0"/>
              </a:spcAft>
              <a:buNone/>
            </a:pPr>
            <a:r>
              <a:rPr sz="1400" b="0" i="0">
                <a:solidFill>
                  <a:srgbClr val="FFFFFF"/>
                </a:solidFill>
                <a:latin typeface="+mn-lt"/>
              </a:rPr>
              <a:t>SHA-256 + header check</a:t>
            </a:r>
          </a:p>
          <a:p>
            <a:pPr marL="0" indent="0" algn="ctr">
              <a:lnSpc>
                <a:spcPct val="100000"/>
              </a:lnSpc>
              <a:spcBef>
                <a:spcPts val="0"/>
              </a:spcBef>
              <a:spcAft>
                <a:spcPts val="0"/>
              </a:spcAft>
              <a:buNone/>
            </a:pPr>
            <a:r>
              <a:rPr sz="1400" b="0" i="0">
                <a:solidFill>
                  <a:srgbClr val="FFFFFF"/>
                </a:solidFill>
                <a:latin typeface="+mn-lt"/>
              </a:rPr>
              <a:t>Fail-closed → QUARANTINE</a:t>
            </a:r>
          </a:p>
        </p:txBody>
      </p:sp>
      <p:cxnSp>
        <p:nvCxnSpPr>
          <p:cNvPr id="9" name="Connector 8"/>
          <p:cNvCxnSpPr/>
          <p:nvPr/>
        </p:nvCxnSpPr>
        <p:spPr>
          <a:xfrm>
            <a:off x="5870448" y="1938528"/>
            <a:ext cx="420624"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Stage row1 2"/>
          <p:cNvSpPr/>
          <p:nvPr/>
        </p:nvSpPr>
        <p:spPr>
          <a:xfrm>
            <a:off x="6309360" y="1325880"/>
            <a:ext cx="2468880" cy="1234440"/>
          </a:xfrm>
          <a:prstGeom prst="roundRect">
            <a:avLst>
              <a:gd name="adj" fmla="val 12000"/>
            </a:avLst>
          </a:prstGeom>
          <a:solidFill>
            <a:srgbClr val="1C4D98"/>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2 · Stratification</a:t>
            </a:r>
          </a:p>
          <a:p>
            <a:pPr marL="0" indent="0" algn="ctr">
              <a:lnSpc>
                <a:spcPct val="100000"/>
              </a:lnSpc>
              <a:spcBef>
                <a:spcPts val="0"/>
              </a:spcBef>
              <a:spcAft>
                <a:spcPts val="0"/>
              </a:spcAft>
              <a:buNone/>
            </a:pPr>
            <a:r>
              <a:rPr sz="1400" b="0" i="0">
                <a:solidFill>
                  <a:srgbClr val="FFFFFF"/>
                </a:solidFill>
                <a:latin typeface="+mn-lt"/>
              </a:rPr>
              <a:t>linear_weight, norm_bias,</a:t>
            </a:r>
          </a:p>
          <a:p>
            <a:pPr marL="0" indent="0" algn="ctr">
              <a:lnSpc>
                <a:spcPct val="100000"/>
              </a:lnSpc>
              <a:spcBef>
                <a:spcPts val="0"/>
              </a:spcBef>
              <a:spcAft>
                <a:spcPts val="0"/>
              </a:spcAft>
              <a:buNone/>
            </a:pPr>
            <a:r>
              <a:rPr sz="1400" b="0" i="0">
                <a:solidFill>
                  <a:srgbClr val="FFFFFF"/>
                </a:solidFill>
                <a:latin typeface="+mn-lt"/>
              </a:rPr>
              <a:t>conv, embed cohorts</a:t>
            </a:r>
          </a:p>
        </p:txBody>
      </p:sp>
      <p:cxnSp>
        <p:nvCxnSpPr>
          <p:cNvPr id="11" name="Connector 10"/>
          <p:cNvCxnSpPr/>
          <p:nvPr/>
        </p:nvCxnSpPr>
        <p:spPr>
          <a:xfrm>
            <a:off x="8796528" y="1938528"/>
            <a:ext cx="420624"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Stage row1 3"/>
          <p:cNvSpPr/>
          <p:nvPr/>
        </p:nvSpPr>
        <p:spPr>
          <a:xfrm>
            <a:off x="9235440" y="1325880"/>
            <a:ext cx="2468880" cy="1234440"/>
          </a:xfrm>
          <a:prstGeom prst="roundRect">
            <a:avLst>
              <a:gd name="adj" fmla="val 12000"/>
            </a:avLst>
          </a:prstGeom>
          <a:solidFill>
            <a:srgbClr val="2A7F8F"/>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3 · Dual engine</a:t>
            </a:r>
          </a:p>
          <a:p>
            <a:pPr marL="0" indent="0" algn="ctr">
              <a:lnSpc>
                <a:spcPct val="100000"/>
              </a:lnSpc>
              <a:spcBef>
                <a:spcPts val="0"/>
              </a:spcBef>
              <a:spcAft>
                <a:spcPts val="0"/>
              </a:spcAft>
              <a:buNone/>
            </a:pPr>
            <a:r>
              <a:rPr sz="1400" b="0" i="0">
                <a:solidFill>
                  <a:srgbClr val="FFFFFF"/>
                </a:solidFill>
                <a:latin typeface="+mn-lt"/>
              </a:rPr>
              <a:t>A: 14 distributional features</a:t>
            </a:r>
          </a:p>
          <a:p>
            <a:pPr marL="0" indent="0" algn="ctr">
              <a:lnSpc>
                <a:spcPct val="100000"/>
              </a:lnSpc>
              <a:spcBef>
                <a:spcPts val="0"/>
              </a:spcBef>
              <a:spcAft>
                <a:spcPts val="0"/>
              </a:spcAft>
              <a:buNone/>
            </a:pPr>
            <a:r>
              <a:rPr sz="1400" b="0" i="0">
                <a:solidFill>
                  <a:srgbClr val="FFFFFF"/>
                </a:solidFill>
                <a:latin typeface="+mn-lt"/>
              </a:rPr>
              <a:t>B: 9 spectral RMT descriptors</a:t>
            </a:r>
          </a:p>
        </p:txBody>
      </p:sp>
      <p:sp>
        <p:nvSpPr>
          <p:cNvPr id="13" name="Stage row2 0"/>
          <p:cNvSpPr/>
          <p:nvPr/>
        </p:nvSpPr>
        <p:spPr>
          <a:xfrm>
            <a:off x="457200" y="3108960"/>
            <a:ext cx="2468880" cy="1234440"/>
          </a:xfrm>
          <a:prstGeom prst="roundRect">
            <a:avLst>
              <a:gd name="adj" fmla="val 12000"/>
            </a:avLst>
          </a:prstGeom>
          <a:solidFill>
            <a:srgbClr val="C8561F"/>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7 · Decision engine</a:t>
            </a:r>
          </a:p>
          <a:p>
            <a:pPr marL="0" indent="0" algn="ctr">
              <a:lnSpc>
                <a:spcPct val="100000"/>
              </a:lnSpc>
              <a:spcBef>
                <a:spcPts val="0"/>
              </a:spcBef>
              <a:spcAft>
                <a:spcPts val="0"/>
              </a:spcAft>
              <a:buNone/>
            </a:pPr>
            <a:r>
              <a:rPr sz="1400" b="0" i="0">
                <a:solidFill>
                  <a:srgbClr val="FFFFFF"/>
                </a:solidFill>
                <a:latin typeface="+mn-lt"/>
              </a:rPr>
              <a:t>ALLOW / REVIEW / QUARANTINE</a:t>
            </a:r>
          </a:p>
          <a:p>
            <a:pPr marL="0" indent="0" algn="ctr">
              <a:lnSpc>
                <a:spcPct val="100000"/>
              </a:lnSpc>
              <a:spcBef>
                <a:spcPts val="0"/>
              </a:spcBef>
              <a:spcAft>
                <a:spcPts val="0"/>
              </a:spcAft>
              <a:buNone/>
            </a:pPr>
            <a:r>
              <a:rPr sz="1400" b="0" i="0">
                <a:solidFill>
                  <a:srgbClr val="FFFFFF"/>
                </a:solidFill>
                <a:latin typeface="+mn-lt"/>
              </a:rPr>
              <a:t>Override: worst tensor ≥ 0.95</a:t>
            </a:r>
          </a:p>
          <a:p>
            <a:pPr marL="0" indent="0" algn="ctr">
              <a:lnSpc>
                <a:spcPct val="100000"/>
              </a:lnSpc>
              <a:spcBef>
                <a:spcPts val="0"/>
              </a:spcBef>
              <a:spcAft>
                <a:spcPts val="0"/>
              </a:spcAft>
              <a:buNone/>
            </a:pPr>
            <a:r>
              <a:rPr sz="1400" b="0" i="0">
                <a:solidFill>
                  <a:srgbClr val="FFFFFF"/>
                </a:solidFill>
                <a:latin typeface="+mn-lt"/>
              </a:rPr>
              <a:t>Builds remediation plan</a:t>
            </a:r>
          </a:p>
        </p:txBody>
      </p:sp>
      <p:cxnSp>
        <p:nvCxnSpPr>
          <p:cNvPr id="14" name="Connector 13"/>
          <p:cNvCxnSpPr/>
          <p:nvPr/>
        </p:nvCxnSpPr>
        <p:spPr>
          <a:xfrm flipH="1">
            <a:off x="2944368" y="3721608"/>
            <a:ext cx="420624"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Stage row2 1"/>
          <p:cNvSpPr/>
          <p:nvPr/>
        </p:nvSpPr>
        <p:spPr>
          <a:xfrm>
            <a:off x="3383280" y="3108960"/>
            <a:ext cx="2468880" cy="1234440"/>
          </a:xfrm>
          <a:prstGeom prst="roundRect">
            <a:avLst>
              <a:gd name="adj" fmla="val 12000"/>
            </a:avLst>
          </a:prstGeom>
          <a:solidFill>
            <a:srgbClr val="1C4D98"/>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6 · Localization</a:t>
            </a:r>
          </a:p>
          <a:p>
            <a:pPr marL="0" indent="0" algn="ctr">
              <a:lnSpc>
                <a:spcPct val="100000"/>
              </a:lnSpc>
              <a:spcBef>
                <a:spcPts val="0"/>
              </a:spcBef>
              <a:spcAft>
                <a:spcPts val="0"/>
              </a:spcAft>
              <a:buNone/>
            </a:pPr>
            <a:r>
              <a:rPr sz="1400" b="0" i="0">
                <a:solidFill>
                  <a:srgbClr val="FFFFFF"/>
                </a:solidFill>
                <a:latin typeface="+mn-lt"/>
              </a:rPr>
              <a:t>Rank tensors by score</a:t>
            </a:r>
          </a:p>
          <a:p>
            <a:pPr marL="0" indent="0" algn="ctr">
              <a:lnSpc>
                <a:spcPct val="100000"/>
              </a:lnSpc>
              <a:spcBef>
                <a:spcPts val="0"/>
              </a:spcBef>
              <a:spcAft>
                <a:spcPts val="0"/>
              </a:spcAft>
              <a:buNone/>
            </a:pPr>
            <a:r>
              <a:rPr sz="1400" b="0" i="0">
                <a:solidFill>
                  <a:srgbClr val="FFFFFF"/>
                </a:solidFill>
                <a:latin typeface="+mn-lt"/>
              </a:rPr>
              <a:t>Slice worst into 256-element blocks</a:t>
            </a:r>
          </a:p>
        </p:txBody>
      </p:sp>
      <p:cxnSp>
        <p:nvCxnSpPr>
          <p:cNvPr id="16" name="Connector 15"/>
          <p:cNvCxnSpPr/>
          <p:nvPr/>
        </p:nvCxnSpPr>
        <p:spPr>
          <a:xfrm flipH="1">
            <a:off x="5870448" y="3721608"/>
            <a:ext cx="420624"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Stage row2 2"/>
          <p:cNvSpPr/>
          <p:nvPr/>
        </p:nvSpPr>
        <p:spPr>
          <a:xfrm>
            <a:off x="6309360" y="3108960"/>
            <a:ext cx="2468880" cy="1234440"/>
          </a:xfrm>
          <a:prstGeom prst="roundRect">
            <a:avLst>
              <a:gd name="adj" fmla="val 12000"/>
            </a:avLst>
          </a:prstGeom>
          <a:solidFill>
            <a:srgbClr val="1C4D98"/>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5 · LSE-MIL pooling</a:t>
            </a:r>
          </a:p>
          <a:p>
            <a:pPr marL="0" indent="0" algn="ctr">
              <a:lnSpc>
                <a:spcPct val="100000"/>
              </a:lnSpc>
              <a:spcBef>
                <a:spcPts val="0"/>
              </a:spcBef>
              <a:spcAft>
                <a:spcPts val="0"/>
              </a:spcAft>
              <a:buNone/>
            </a:pPr>
            <a:r>
              <a:rPr sz="1400" b="0" i="0">
                <a:solidFill>
                  <a:srgbClr val="FFFFFF"/>
                </a:solidFill>
                <a:latin typeface="+mn-lt"/>
              </a:rPr>
              <a:t>28-dim feature vector</a:t>
            </a:r>
          </a:p>
          <a:p>
            <a:pPr marL="0" indent="0" algn="ctr">
              <a:lnSpc>
                <a:spcPct val="100000"/>
              </a:lnSpc>
              <a:spcBef>
                <a:spcPts val="0"/>
              </a:spcBef>
              <a:spcAft>
                <a:spcPts val="0"/>
              </a:spcAft>
              <a:buNone/>
            </a:pPr>
            <a:r>
              <a:rPr sz="1400" b="0" i="0">
                <a:solidFill>
                  <a:srgbClr val="FFFFFF"/>
                </a:solidFill>
                <a:latin typeface="+mn-lt"/>
              </a:rPr>
              <a:t>Balanced logistic regression</a:t>
            </a:r>
          </a:p>
        </p:txBody>
      </p:sp>
      <p:cxnSp>
        <p:nvCxnSpPr>
          <p:cNvPr id="18" name="Connector 17"/>
          <p:cNvCxnSpPr/>
          <p:nvPr/>
        </p:nvCxnSpPr>
        <p:spPr>
          <a:xfrm flipH="1">
            <a:off x="8796528" y="3721608"/>
            <a:ext cx="420624"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age row2 3"/>
          <p:cNvSpPr/>
          <p:nvPr/>
        </p:nvSpPr>
        <p:spPr>
          <a:xfrm>
            <a:off x="9235440" y="3108960"/>
            <a:ext cx="2468880" cy="1234440"/>
          </a:xfrm>
          <a:prstGeom prst="roundRect">
            <a:avLst>
              <a:gd name="adj" fmla="val 12000"/>
            </a:avLst>
          </a:prstGeom>
          <a:solidFill>
            <a:srgbClr val="1C4D98"/>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4 · Anomaly scoring</a:t>
            </a:r>
          </a:p>
          <a:p>
            <a:pPr marL="0" indent="0" algn="ctr">
              <a:lnSpc>
                <a:spcPct val="100000"/>
              </a:lnSpc>
              <a:spcBef>
                <a:spcPts val="0"/>
              </a:spcBef>
              <a:spcAft>
                <a:spcPts val="0"/>
              </a:spcAft>
              <a:buNone/>
            </a:pPr>
            <a:r>
              <a:rPr sz="1400" b="0" i="0">
                <a:solidFill>
                  <a:srgbClr val="FFFFFF"/>
                </a:solidFill>
                <a:latin typeface="+mn-lt"/>
              </a:rPr>
              <a:t>Stratified Z-score &amp; IQR</a:t>
            </a:r>
          </a:p>
          <a:p>
            <a:pPr marL="0" indent="0" algn="ctr">
              <a:lnSpc>
                <a:spcPct val="100000"/>
              </a:lnSpc>
              <a:spcBef>
                <a:spcPts val="0"/>
              </a:spcBef>
              <a:spcAft>
                <a:spcPts val="0"/>
              </a:spcAft>
              <a:buNone/>
            </a:pPr>
            <a:r>
              <a:rPr sz="1400" b="0" i="0">
                <a:solidFill>
                  <a:srgbClr val="FFFFFF"/>
                </a:solidFill>
                <a:latin typeface="+mn-lt"/>
              </a:rPr>
              <a:t>anomaly_score in [0,1]</a:t>
            </a:r>
          </a:p>
        </p:txBody>
      </p:sp>
      <p:cxnSp>
        <p:nvCxnSpPr>
          <p:cNvPr id="20" name="Connector 19"/>
          <p:cNvCxnSpPr/>
          <p:nvPr/>
        </p:nvCxnSpPr>
        <p:spPr>
          <a:xfrm>
            <a:off x="10469880" y="2560320"/>
            <a:ext cx="0" cy="54864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API"/>
          <p:cNvSpPr/>
          <p:nvPr/>
        </p:nvSpPr>
        <p:spPr>
          <a:xfrm>
            <a:off x="457200" y="4846320"/>
            <a:ext cx="2468880" cy="777240"/>
          </a:xfrm>
          <a:prstGeom prst="roundRect">
            <a:avLst>
              <a:gd name="adj" fmla="val 12000"/>
            </a:avLst>
          </a:prstGeom>
          <a:solidFill>
            <a:srgbClr val="E6F3DC"/>
          </a:solidFill>
          <a:ln w="19050">
            <a:solidFill>
              <a:srgbClr val="4E8A2E"/>
            </a:solid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2B3A55"/>
                </a:solidFill>
                <a:latin typeface="+mn-lt"/>
              </a:rPr>
              <a:t>FastAPI backend</a:t>
            </a:r>
          </a:p>
          <a:p>
            <a:pPr marL="0" indent="0" algn="ctr">
              <a:lnSpc>
                <a:spcPct val="100000"/>
              </a:lnSpc>
              <a:spcBef>
                <a:spcPts val="0"/>
              </a:spcBef>
              <a:spcAft>
                <a:spcPts val="0"/>
              </a:spcAft>
              <a:buNone/>
            </a:pPr>
            <a:r>
              <a:rPr sz="1400" b="0" i="0">
                <a:solidFill>
                  <a:srgbClr val="2B3A55"/>
                </a:solidFill>
                <a:latin typeface="+mn-lt"/>
              </a:rPr>
              <a:t>POST /scan · GET /report/{id} · GET /health</a:t>
            </a:r>
          </a:p>
        </p:txBody>
      </p:sp>
      <p:sp>
        <p:nvSpPr>
          <p:cNvPr id="22" name="UI"/>
          <p:cNvSpPr/>
          <p:nvPr/>
        </p:nvSpPr>
        <p:spPr>
          <a:xfrm>
            <a:off x="3383280" y="4846320"/>
            <a:ext cx="2468880" cy="777240"/>
          </a:xfrm>
          <a:prstGeom prst="roundRect">
            <a:avLst>
              <a:gd name="adj" fmla="val 12000"/>
            </a:avLst>
          </a:prstGeom>
          <a:solidFill>
            <a:srgbClr val="E6F3DC"/>
          </a:solidFill>
          <a:ln w="19050">
            <a:solidFill>
              <a:srgbClr val="4E8A2E"/>
            </a:solid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2B3A55"/>
                </a:solidFill>
                <a:latin typeface="+mn-lt"/>
              </a:rPr>
              <a:t>Streamlit dashboard</a:t>
            </a:r>
          </a:p>
          <a:p>
            <a:pPr marL="0" indent="0" algn="ctr">
              <a:lnSpc>
                <a:spcPct val="100000"/>
              </a:lnSpc>
              <a:spcBef>
                <a:spcPts val="0"/>
              </a:spcBef>
              <a:spcAft>
                <a:spcPts val="0"/>
              </a:spcAft>
              <a:buNone/>
            </a:pPr>
            <a:r>
              <a:rPr sz="1400" b="0" i="0">
                <a:solidFill>
                  <a:srgbClr val="2B3A55"/>
                </a:solidFill>
                <a:latin typeface="+mn-lt"/>
              </a:rPr>
              <a:t>Gauge · ranked tensor table · diff upload</a:t>
            </a:r>
          </a:p>
        </p:txBody>
      </p:sp>
      <p:cxnSp>
        <p:nvCxnSpPr>
          <p:cNvPr id="23" name="Connector 22"/>
          <p:cNvCxnSpPr/>
          <p:nvPr/>
        </p:nvCxnSpPr>
        <p:spPr>
          <a:xfrm>
            <a:off x="1371600" y="4343400"/>
            <a:ext cx="0" cy="502920"/>
          </a:xfrm>
          <a:prstGeom prst="line">
            <a:avLst/>
          </a:prstGeom>
          <a:ln w="25400">
            <a:solidFill>
              <a:srgbClr val="4E8A2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468880" y="4343400"/>
            <a:ext cx="1828800" cy="502920"/>
          </a:xfrm>
          <a:prstGeom prst="line">
            <a:avLst/>
          </a:prstGeom>
          <a:ln w="25400">
            <a:solidFill>
              <a:srgbClr val="4E8A2E"/>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1521440" cy="646331"/>
          </a:xfrm>
          <a:prstGeom prst="rect">
            <a:avLst/>
          </a:prstGeom>
          <a:noFill/>
        </p:spPr>
        <p:txBody>
          <a:bodyPr wrap="square" rtlCol="0">
            <a:spAutoFit/>
          </a:bodyPr>
          <a:lstStyle/>
          <a:p>
            <a:pPr lvl="0">
              <a:defRPr/>
            </a:pPr>
            <a:r>
              <a:rPr lang="en-US" sz="3600" b="1" dirty="0">
                <a:solidFill>
                  <a:srgbClr val="5B9BD5">
                    <a:lumMod val="50000"/>
                  </a:srgbClr>
                </a:solidFill>
              </a:rPr>
              <a:t>Problem Statement</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409707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sp>
        <p:nvSpPr>
          <p:cNvPr id="6" name="Core problem"/>
          <p:cNvSpPr txBox="1"/>
          <p:nvPr/>
        </p:nvSpPr>
        <p:spPr>
          <a:xfrm>
            <a:off x="256032" y="1234440"/>
            <a:ext cx="11521440" cy="1371600"/>
          </a:xfrm>
          <a:prstGeom prst="rect">
            <a:avLst/>
          </a:prstGeom>
          <a:noFill/>
        </p:spPr>
        <p:txBody>
          <a:bodyPr wrap="square" anchor="t">
            <a:spAutoFit/>
          </a:bodyPr>
          <a:lstStyle/>
          <a:p>
            <a:pPr marL="0" indent="0" algn="l">
              <a:lnSpc>
                <a:spcPct val="100000"/>
              </a:lnSpc>
              <a:spcBef>
                <a:spcPts val="0"/>
              </a:spcBef>
              <a:spcAft>
                <a:spcPts val="0"/>
              </a:spcAft>
              <a:buNone/>
            </a:pPr>
            <a:r>
              <a:rPr sz="2200" b="1" i="0">
                <a:solidFill>
                  <a:srgbClr val="1F4E79"/>
                </a:solidFill>
                <a:latin typeface="+mn-lt"/>
              </a:rPr>
              <a:t>The core problem: “SafeTensors secures the envelope, not the letter inside.”</a:t>
            </a:r>
          </a:p>
          <a:p>
            <a:pPr marL="0" indent="0" algn="l">
              <a:lnSpc>
                <a:spcPct val="100000"/>
              </a:lnSpc>
              <a:spcBef>
                <a:spcPts val="0"/>
              </a:spcBef>
              <a:spcAft>
                <a:spcPts val="0"/>
              </a:spcAft>
              <a:buNone/>
            </a:pPr>
            <a:r>
              <a:rPr sz="1800" b="0" i="0">
                <a:solidFill>
                  <a:srgbClr val="2B3A55"/>
                </a:solidFill>
                <a:latin typeface="+mn-lt"/>
              </a:rPr>
              <a:t>Modern AI supply chains trust .safetensors because it cannot execute code, but this gives zero protection against weaponized mathematical weights.</a:t>
            </a:r>
          </a:p>
        </p:txBody>
      </p:sp>
      <p:sp>
        <p:nvSpPr>
          <p:cNvPr id="7" name="Threat 1"/>
          <p:cNvSpPr/>
          <p:nvPr/>
        </p:nvSpPr>
        <p:spPr>
          <a:xfrm>
            <a:off x="320040" y="2743200"/>
            <a:ext cx="3657600" cy="288036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600" b="1" i="0">
                <a:solidFill>
                  <a:srgbClr val="2B3A55"/>
                </a:solidFill>
                <a:latin typeface="+mn-lt"/>
              </a:rPr>
              <a:t>1 · Neural Trojans / Backdoors</a:t>
            </a:r>
          </a:p>
          <a:p>
            <a:pPr marL="0" indent="0" algn="l">
              <a:lnSpc>
                <a:spcPct val="100000"/>
              </a:lnSpc>
              <a:spcBef>
                <a:spcPts val="0"/>
              </a:spcBef>
              <a:spcAft>
                <a:spcPts val="0"/>
              </a:spcAft>
              <a:buNone/>
            </a:pPr>
            <a:r>
              <a:rPr sz="1600" b="0" i="0">
                <a:solidFill>
                  <a:srgbClr val="2B3A55"/>
                </a:solidFill>
                <a:latin typeface="+mn-lt"/>
              </a:rPr>
              <a:t>Low-rank perturbation injected into a linear projection matrix (W = W</a:t>
            </a:r>
            <a:r>
              <a:rPr sz="1600" b="0" i="0" baseline="-25000">
                <a:solidFill>
                  <a:srgbClr val="2B3A55"/>
                </a:solidFill>
                <a:latin typeface="+mn-lt"/>
              </a:rPr>
              <a:t>clean</a:t>
            </a:r>
            <a:r>
              <a:rPr sz="1600" b="0" i="0">
                <a:solidFill>
                  <a:srgbClr val="2B3A55"/>
                </a:solidFill>
                <a:latin typeface="+mn-lt"/>
              </a:rPr>
              <a:t> + ΔW, ΔW = uv</a:t>
            </a:r>
            <a:r>
              <a:rPr sz="1600" b="0" i="0" baseline="30000">
                <a:solidFill>
                  <a:srgbClr val="2B3A55"/>
                </a:solidFill>
                <a:latin typeface="+mn-lt"/>
              </a:rPr>
              <a:t>T</a:t>
            </a:r>
            <a:r>
              <a:rPr sz="1600" b="0" i="0">
                <a:solidFill>
                  <a:srgbClr val="2B3A55"/>
                </a:solidFill>
                <a:latin typeface="+mn-lt"/>
              </a:rPr>
              <a:t>).</a:t>
            </a:r>
          </a:p>
          <a:p>
            <a:pPr marL="0" indent="0" algn="l">
              <a:lnSpc>
                <a:spcPct val="100000"/>
              </a:lnSpc>
              <a:spcBef>
                <a:spcPts val="0"/>
              </a:spcBef>
              <a:spcAft>
                <a:spcPts val="0"/>
              </a:spcAft>
              <a:buNone/>
            </a:pPr>
            <a:r>
              <a:rPr sz="1600" b="0" i="0">
                <a:solidFill>
                  <a:srgbClr val="2B3A55"/>
                </a:solidFill>
                <a:latin typeface="+mn-lt"/>
              </a:rPr>
              <a:t>Normal on benchmarks; hidden trigger fires on specific inputs.</a:t>
            </a:r>
          </a:p>
          <a:p>
            <a:pPr marL="0" indent="0" algn="l">
              <a:lnSpc>
                <a:spcPct val="100000"/>
              </a:lnSpc>
              <a:spcBef>
                <a:spcPts val="0"/>
              </a:spcBef>
              <a:spcAft>
                <a:spcPts val="0"/>
              </a:spcAft>
              <a:buNone/>
            </a:pPr>
            <a:r>
              <a:rPr sz="1600" b="0" i="0">
                <a:solidFill>
                  <a:srgbClr val="2B3A55"/>
                </a:solidFill>
                <a:latin typeface="+mn-lt"/>
              </a:rPr>
              <a:t>Challenge: mean / std statistics see nothing.</a:t>
            </a:r>
          </a:p>
        </p:txBody>
      </p:sp>
      <p:sp>
        <p:nvSpPr>
          <p:cNvPr id="8" name="Threat 2"/>
          <p:cNvSpPr/>
          <p:nvPr/>
        </p:nvSpPr>
        <p:spPr>
          <a:xfrm>
            <a:off x="4160520" y="2743200"/>
            <a:ext cx="3657600" cy="288036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600" b="1" i="0">
                <a:solidFill>
                  <a:srgbClr val="2B3A55"/>
                </a:solidFill>
                <a:latin typeface="+mn-lt"/>
              </a:rPr>
              <a:t>2 · Topological Attention Hijacking</a:t>
            </a:r>
          </a:p>
          <a:p>
            <a:pPr marL="0" indent="0" algn="l">
              <a:lnSpc>
                <a:spcPct val="100000"/>
              </a:lnSpc>
              <a:spcBef>
                <a:spcPts val="0"/>
              </a:spcBef>
              <a:spcAft>
                <a:spcPts val="0"/>
              </a:spcAft>
              <a:buNone/>
            </a:pPr>
            <a:r>
              <a:rPr sz="1600" b="0" i="0">
                <a:solidFill>
                  <a:srgbClr val="2B3A55"/>
                </a:solidFill>
                <a:latin typeface="+mn-lt"/>
              </a:rPr>
              <a:t>Query and Key matrices are aligned to force attention onto a trigger token.</a:t>
            </a:r>
          </a:p>
          <a:p>
            <a:pPr marL="0" indent="0" algn="l">
              <a:lnSpc>
                <a:spcPct val="100000"/>
              </a:lnSpc>
              <a:spcBef>
                <a:spcPts val="0"/>
              </a:spcBef>
              <a:spcAft>
                <a:spcPts val="0"/>
              </a:spcAft>
              <a:buNone/>
            </a:pPr>
            <a:r>
              <a:rPr sz="1600" b="0" i="0">
                <a:solidFill>
                  <a:srgbClr val="2B3A55"/>
                </a:solidFill>
                <a:latin typeface="+mn-lt"/>
              </a:rPr>
              <a:t>Challenge: needs pairwise singular-vector cosine similarity analysis.</a:t>
            </a:r>
          </a:p>
        </p:txBody>
      </p:sp>
      <p:sp>
        <p:nvSpPr>
          <p:cNvPr id="9" name="Threat 3"/>
          <p:cNvSpPr/>
          <p:nvPr/>
        </p:nvSpPr>
        <p:spPr>
          <a:xfrm>
            <a:off x="8001000" y="2743200"/>
            <a:ext cx="3657600" cy="288036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600" b="1" i="0">
                <a:solidFill>
                  <a:srgbClr val="2B3A55"/>
                </a:solidFill>
                <a:latin typeface="+mn-lt"/>
              </a:rPr>
              <a:t>3 · IEEE 754 Mantissa Steganography</a:t>
            </a:r>
          </a:p>
          <a:p>
            <a:pPr marL="0" indent="0" algn="l">
              <a:lnSpc>
                <a:spcPct val="100000"/>
              </a:lnSpc>
              <a:spcBef>
                <a:spcPts val="0"/>
              </a:spcBef>
              <a:spcAft>
                <a:spcPts val="0"/>
              </a:spcAft>
              <a:buNone/>
            </a:pPr>
            <a:r>
              <a:rPr sz="1600" b="0" i="0">
                <a:solidFill>
                  <a:srgbClr val="2B3A55"/>
                </a:solidFill>
                <a:latin typeface="+mn-lt"/>
              </a:rPr>
              <a:t>Encrypted C2 malware in the lower 23-bit mantissa of float32 weights.</a:t>
            </a:r>
          </a:p>
          <a:p>
            <a:pPr marL="0" indent="0" algn="l">
              <a:lnSpc>
                <a:spcPct val="100000"/>
              </a:lnSpc>
              <a:spcBef>
                <a:spcPts val="0"/>
              </a:spcBef>
              <a:spcAft>
                <a:spcPts val="0"/>
              </a:spcAft>
              <a:buNone/>
            </a:pPr>
            <a:r>
              <a:rPr sz="1600" b="0" i="0">
                <a:solidFill>
                  <a:srgbClr val="2B3A55"/>
                </a:solidFill>
                <a:latin typeface="+mn-lt"/>
              </a:rPr>
              <a:t>Accuracy unaffected; an external dropper extracts the payload.</a:t>
            </a:r>
          </a:p>
          <a:p>
            <a:pPr marL="0" indent="0" algn="l">
              <a:lnSpc>
                <a:spcPct val="100000"/>
              </a:lnSpc>
              <a:spcBef>
                <a:spcPts val="0"/>
              </a:spcBef>
              <a:spcAft>
                <a:spcPts val="0"/>
              </a:spcAft>
              <a:buNone/>
            </a:pPr>
            <a:r>
              <a:rPr sz="1600" b="0" i="0">
                <a:solidFill>
                  <a:srgbClr val="2B3A55"/>
                </a:solidFill>
                <a:latin typeface="+mn-lt"/>
              </a:rPr>
              <a:t>Challenge: mean, std, kurtosis remain unchanged.</a:t>
            </a: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Why Existing Tools Fail</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466274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graphicFrame>
        <p:nvGraphicFramePr>
          <p:cNvPr id="6" name="Tool failure table"/>
          <p:cNvGraphicFramePr>
            <a:graphicFrameLocks noGrp="1"/>
          </p:cNvGraphicFramePr>
          <p:nvPr/>
        </p:nvGraphicFramePr>
        <p:xfrm>
          <a:off x="320040" y="1325880"/>
          <a:ext cx="6949439" cy="3886200"/>
        </p:xfrm>
        <a:graphic>
          <a:graphicData uri="http://schemas.openxmlformats.org/drawingml/2006/table">
            <a:tbl>
              <a:tblPr firstRow="1" bandRow="1">
                <a:tableStyleId>{5C22544A-7EE6-4342-B048-85BDC9FD1C3A}</a:tableStyleId>
              </a:tblPr>
              <a:tblGrid>
                <a:gridCol w="1371600"/>
                <a:gridCol w="1828800"/>
                <a:gridCol w="3749039"/>
              </a:tblGrid>
              <a:tr h="777240">
                <a:tc>
                  <a:txBody>
                    <a:bodyPr wrap="square"/>
                    <a:lstStyle/>
                    <a:p>
                      <a:pPr marL="0" indent="0">
                        <a:lnSpc>
                          <a:spcPct val="100000"/>
                        </a:lnSpc>
                        <a:spcBef>
                          <a:spcPts val="0"/>
                        </a:spcBef>
                        <a:spcAft>
                          <a:spcPts val="0"/>
                        </a:spcAft>
                        <a:buNone/>
                      </a:pPr>
                      <a:r>
                        <a:rPr sz="1300" b="1" i="0">
                          <a:solidFill>
                            <a:srgbClr val="FFFFFF"/>
                          </a:solidFill>
                          <a:latin typeface="+mn-lt"/>
                        </a:rPr>
                        <a:t>Tool</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300" b="1" i="0">
                          <a:solidFill>
                            <a:srgbClr val="FFFFFF"/>
                          </a:solidFill>
                          <a:latin typeface="+mn-lt"/>
                        </a:rPr>
                        <a:t>What it checks</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300" b="1" i="0">
                          <a:solidFill>
                            <a:srgbClr val="FFFFFF"/>
                          </a:solidFill>
                          <a:latin typeface="+mn-lt"/>
                        </a:rPr>
                        <a:t>Why it fails on .safetensors</a:t>
                      </a:r>
                    </a:p>
                  </a:txBody>
                  <a:tcPr marL="73152" marR="73152" marT="27432" marB="27432" anchor="ctr">
                    <a:solidFill>
                      <a:srgbClr val="1F4E79"/>
                    </a:solidFill>
                  </a:tcPr>
                </a:tc>
              </a:tr>
              <a:tr h="777240">
                <a:tc>
                  <a:txBody>
                    <a:bodyPr wrap="square"/>
                    <a:lstStyle/>
                    <a:p>
                      <a:pPr marL="0" indent="0">
                        <a:lnSpc>
                          <a:spcPct val="100000"/>
                        </a:lnSpc>
                        <a:spcBef>
                          <a:spcPts val="0"/>
                        </a:spcBef>
                        <a:spcAft>
                          <a:spcPts val="0"/>
                        </a:spcAft>
                        <a:buNone/>
                      </a:pPr>
                      <a:r>
                        <a:rPr sz="1300" b="1" i="0">
                          <a:solidFill>
                            <a:srgbClr val="2B3A55"/>
                          </a:solidFill>
                          <a:latin typeface="+mn-lt"/>
                        </a:rPr>
                        <a:t>PickleScan</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300" b="0" i="0">
                          <a:solidFill>
                            <a:srgbClr val="2B3A55"/>
                          </a:solidFill>
                          <a:latin typeface="+mn-lt"/>
                        </a:rPr>
                        <a:t>Python pickle opcodes</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300" b="0" i="0">
                          <a:solidFill>
                            <a:srgbClr val="2B3A55"/>
                          </a:solidFill>
                          <a:latin typeface="+mn-lt"/>
                        </a:rPr>
                        <a:t>No bytecode in .safetensors: reports 100% SAFE on trojaned weights</a:t>
                      </a:r>
                    </a:p>
                  </a:txBody>
                  <a:tcPr marL="73152" marR="73152" marT="27432" marB="27432" anchor="ctr">
                    <a:solidFill>
                      <a:srgbClr val="EAF3FA"/>
                    </a:solidFill>
                  </a:tcPr>
                </a:tc>
              </a:tr>
              <a:tr h="777240">
                <a:tc>
                  <a:txBody>
                    <a:bodyPr wrap="square"/>
                    <a:lstStyle/>
                    <a:p>
                      <a:pPr marL="0" indent="0">
                        <a:lnSpc>
                          <a:spcPct val="100000"/>
                        </a:lnSpc>
                        <a:spcBef>
                          <a:spcPts val="0"/>
                        </a:spcBef>
                        <a:spcAft>
                          <a:spcPts val="0"/>
                        </a:spcAft>
                        <a:buNone/>
                      </a:pPr>
                      <a:r>
                        <a:rPr sz="1300" b="1" i="0">
                          <a:solidFill>
                            <a:srgbClr val="2B3A55"/>
                          </a:solidFill>
                          <a:latin typeface="+mn-lt"/>
                        </a:rPr>
                        <a:t>ModelScan</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300" b="0" i="0">
                          <a:solidFill>
                            <a:srgbClr val="2B3A55"/>
                          </a:solidFill>
                          <a:latin typeface="+mn-lt"/>
                        </a:rPr>
                        <a:t>Serialization headers</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300" b="0" i="0">
                          <a:solidFill>
                            <a:srgbClr val="2B3A55"/>
                          </a:solidFill>
                          <a:latin typeface="+mn-lt"/>
                        </a:rPr>
                        <a:t>Blind to mathematical weight manipulation</a:t>
                      </a:r>
                    </a:p>
                  </a:txBody>
                  <a:tcPr marL="73152" marR="73152" marT="27432" marB="27432" anchor="ctr">
                    <a:solidFill>
                      <a:srgbClr val="FFFFFF"/>
                    </a:solidFill>
                  </a:tcPr>
                </a:tc>
              </a:tr>
              <a:tr h="777240">
                <a:tc>
                  <a:txBody>
                    <a:bodyPr wrap="square"/>
                    <a:lstStyle/>
                    <a:p>
                      <a:pPr marL="0" indent="0">
                        <a:lnSpc>
                          <a:spcPct val="100000"/>
                        </a:lnSpc>
                        <a:spcBef>
                          <a:spcPts val="0"/>
                        </a:spcBef>
                        <a:spcAft>
                          <a:spcPts val="0"/>
                        </a:spcAft>
                        <a:buNone/>
                      </a:pPr>
                      <a:r>
                        <a:rPr sz="1300" b="1" i="0">
                          <a:solidFill>
                            <a:srgbClr val="2B3A55"/>
                          </a:solidFill>
                          <a:latin typeface="+mn-lt"/>
                        </a:rPr>
                        <a:t>Neural Cleanse</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300" b="0" i="0">
                          <a:solidFill>
                            <a:srgbClr val="2B3A55"/>
                          </a:solidFill>
                          <a:latin typeface="+mn-lt"/>
                        </a:rPr>
                        <a:t>Runtime activation patching</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300" b="0" i="0">
                          <a:solidFill>
                            <a:srgbClr val="2B3A55"/>
                          </a:solidFill>
                          <a:latin typeface="+mn-lt"/>
                        </a:rPr>
                        <a:t>Hours/days on GPU; needs clean validation data</a:t>
                      </a:r>
                    </a:p>
                  </a:txBody>
                  <a:tcPr marL="73152" marR="73152" marT="27432" marB="27432" anchor="ctr">
                    <a:solidFill>
                      <a:srgbClr val="EAF3FA"/>
                    </a:solidFill>
                  </a:tcPr>
                </a:tc>
              </a:tr>
              <a:tr h="777240">
                <a:tc>
                  <a:txBody>
                    <a:bodyPr wrap="square"/>
                    <a:lstStyle/>
                    <a:p>
                      <a:pPr marL="0" indent="0">
                        <a:lnSpc>
                          <a:spcPct val="100000"/>
                        </a:lnSpc>
                        <a:spcBef>
                          <a:spcPts val="0"/>
                        </a:spcBef>
                        <a:spcAft>
                          <a:spcPts val="0"/>
                        </a:spcAft>
                        <a:buNone/>
                      </a:pPr>
                      <a:r>
                        <a:rPr sz="1300" b="1" i="0">
                          <a:solidFill>
                            <a:srgbClr val="2B3A55"/>
                          </a:solidFill>
                          <a:latin typeface="+mn-lt"/>
                        </a:rPr>
                        <a:t>NIST TrojAI</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300" b="0" i="0">
                          <a:solidFill>
                            <a:srgbClr val="2B3A55"/>
                          </a:solidFill>
                          <a:latin typeface="+mn-lt"/>
                        </a:rPr>
                        <a:t>Runtime trigger reverse-engineering</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300" b="0" i="0">
                          <a:solidFill>
                            <a:srgbClr val="2B3A55"/>
                          </a:solidFill>
                          <a:latin typeface="+mn-lt"/>
                        </a:rPr>
                        <a:t>Needs a GPU cluster; not zero code execution</a:t>
                      </a:r>
                    </a:p>
                  </a:txBody>
                  <a:tcPr marL="73152" marR="73152" marT="27432" marB="27432" anchor="ctr">
                    <a:solidFill>
                      <a:srgbClr val="FFFFFF"/>
                    </a:solidFill>
                  </a:tcPr>
                </a:tc>
              </a:tr>
            </a:tbl>
          </a:graphicData>
        </a:graphic>
      </p:graphicFrame>
      <p:sp>
        <p:nvSpPr>
          <p:cNvPr id="7" name="TextBox 6"/>
          <p:cNvSpPr txBox="1"/>
          <p:nvPr/>
        </p:nvSpPr>
        <p:spPr>
          <a:xfrm>
            <a:off x="7589520" y="1280160"/>
            <a:ext cx="4251960" cy="365760"/>
          </a:xfrm>
          <a:prstGeom prst="rect">
            <a:avLst/>
          </a:prstGeom>
          <a:noFill/>
        </p:spPr>
        <p:txBody>
          <a:bodyPr wrap="square" anchor="t">
            <a:spAutoFit/>
          </a:bodyPr>
          <a:lstStyle/>
          <a:p>
            <a:pPr marL="0" indent="0" algn="l">
              <a:lnSpc>
                <a:spcPct val="100000"/>
              </a:lnSpc>
              <a:spcBef>
                <a:spcPts val="0"/>
              </a:spcBef>
              <a:spcAft>
                <a:spcPts val="0"/>
              </a:spcAft>
              <a:buNone/>
            </a:pPr>
            <a:r>
              <a:rPr sz="1800" b="1" i="0">
                <a:solidFill>
                  <a:srgbClr val="1F4E79"/>
                </a:solidFill>
                <a:latin typeface="+mn-lt"/>
              </a:rPr>
              <a:t>The layer-dilution evasion</a:t>
            </a:r>
          </a:p>
        </p:txBody>
      </p:sp>
      <p:sp>
        <p:nvSpPr>
          <p:cNvPr id="8" name="Dilution text"/>
          <p:cNvSpPr txBox="1"/>
          <p:nvPr/>
        </p:nvSpPr>
        <p:spPr>
          <a:xfrm>
            <a:off x="7589520" y="1645920"/>
            <a:ext cx="4251960" cy="1554480"/>
          </a:xfrm>
          <a:prstGeom prst="rect">
            <a:avLst/>
          </a:prstGeom>
          <a:noFill/>
        </p:spPr>
        <p:txBody>
          <a:bodyPr wrap="square" anchor="t">
            <a:spAutoFit/>
          </a:bodyPr>
          <a:lstStyle/>
          <a:p>
            <a:pPr marL="0" indent="0" algn="l">
              <a:lnSpc>
                <a:spcPct val="100000"/>
              </a:lnSpc>
              <a:spcBef>
                <a:spcPts val="0"/>
              </a:spcBef>
              <a:spcAft>
                <a:spcPts val="0"/>
              </a:spcAft>
              <a:buNone/>
            </a:pPr>
            <a:r>
              <a:rPr sz="1400" b="0" i="0">
                <a:solidFill>
                  <a:srgbClr val="2B3A55"/>
                </a:solidFill>
                <a:latin typeface="+mn-lt"/>
              </a:rPr>
              <a:t>Attacker poisons 1 layer in a 100-layer model.</a:t>
            </a:r>
          </a:p>
          <a:p>
            <a:pPr marL="0" indent="0" algn="l">
              <a:lnSpc>
                <a:spcPct val="100000"/>
              </a:lnSpc>
              <a:spcBef>
                <a:spcPts val="0"/>
              </a:spcBef>
              <a:spcAft>
                <a:spcPts val="0"/>
              </a:spcAft>
              <a:buNone/>
            </a:pPr>
            <a:r>
              <a:rPr sz="1400" b="0" i="0">
                <a:solidFill>
                  <a:srgbClr val="2B3A55"/>
                </a:solidFill>
                <a:latin typeface="+mn-lt"/>
              </a:rPr>
              <a:t>Global average dilutes the signal: 0.95 / 100 = 0.0095.</a:t>
            </a:r>
          </a:p>
          <a:p>
            <a:pPr marL="0" indent="0" algn="l">
              <a:lnSpc>
                <a:spcPct val="100000"/>
              </a:lnSpc>
              <a:spcBef>
                <a:spcPts val="0"/>
              </a:spcBef>
              <a:spcAft>
                <a:spcPts val="0"/>
              </a:spcAft>
              <a:buNone/>
            </a:pPr>
            <a:r>
              <a:rPr sz="1400" b="0" i="0">
                <a:solidFill>
                  <a:srgbClr val="2B3A55"/>
                </a:solidFill>
                <a:latin typeface="+mn-lt"/>
              </a:rPr>
              <a:t>Classifier sees “clean” and issues ALLOW: a catastrophic false negative.</a:t>
            </a:r>
          </a:p>
        </p:txBody>
      </p:sp>
      <p:graphicFrame>
        <p:nvGraphicFramePr>
          <p:cNvPr id="9" name="Dilution chart"/>
          <p:cNvGraphicFramePr>
            <a:graphicFrameLocks noGrp="1"/>
          </p:cNvGraphicFramePr>
          <p:nvPr/>
        </p:nvGraphicFramePr>
        <p:xfrm>
          <a:off x="7498079" y="3200400"/>
          <a:ext cx="4343400" cy="2468880"/>
        </p:xfrm>
        <a:graphic>
          <a:graphicData uri="http://schemas.openxmlformats.org/drawingml/2006/chart">
            <c:chart xmlns:c="http://schemas.openxmlformats.org/drawingml/2006/chart" r:id="rId2"/>
          </a:graphicData>
        </a:graphic>
      </p:graphicFrame>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BE5C-251C-23E3-8F19-EE2DB3009E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ABB59C-76FD-5246-4EEE-72212BF64AE4}"/>
              </a:ext>
            </a:extLst>
          </p:cNvPr>
          <p:cNvSpPr txBox="1"/>
          <p:nvPr/>
        </p:nvSpPr>
        <p:spPr>
          <a:xfrm>
            <a:off x="255996" y="502545"/>
            <a:ext cx="11521440" cy="646331"/>
          </a:xfrm>
          <a:prstGeom prst="rect">
            <a:avLst/>
          </a:prstGeom>
          <a:noFill/>
        </p:spPr>
        <p:txBody>
          <a:bodyPr wrap="square" rtlCol="0">
            <a:spAutoFit/>
          </a:bodyPr>
          <a:lstStyle/>
          <a:p>
            <a:pPr lvl="0">
              <a:defRPr/>
            </a:pPr>
            <a:r>
              <a:rPr lang="en-US" sz="3600" b="1" dirty="0">
                <a:solidFill>
                  <a:srgbClr val="5B9BD5">
                    <a:lumMod val="50000"/>
                  </a:srgbClr>
                </a:solidFill>
              </a:rPr>
              <a:t>Methodology</a:t>
            </a:r>
          </a:p>
        </p:txBody>
      </p:sp>
      <p:cxnSp>
        <p:nvCxnSpPr>
          <p:cNvPr id="5" name="Straight Connector 4">
            <a:extLst>
              <a:ext uri="{FF2B5EF4-FFF2-40B4-BE49-F238E27FC236}">
                <a16:creationId xmlns:a16="http://schemas.microsoft.com/office/drawing/2014/main" id="{04BC82A4-B382-2A00-3070-17B2B47F1694}"/>
              </a:ext>
            </a:extLst>
          </p:cNvPr>
          <p:cNvCxnSpPr>
            <a:cxnSpLocks/>
          </p:cNvCxnSpPr>
          <p:nvPr/>
        </p:nvCxnSpPr>
        <p:spPr>
          <a:xfrm>
            <a:off x="221274" y="1191756"/>
            <a:ext cx="2970331"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8E73589-106E-E0B7-D90D-C7E75D0CB2B6}"/>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sp>
        <p:nvSpPr>
          <p:cNvPr id="6" name="Method card 1"/>
          <p:cNvSpPr/>
          <p:nvPr/>
        </p:nvSpPr>
        <p:spPr>
          <a:xfrm>
            <a:off x="320040" y="1280160"/>
            <a:ext cx="3657600" cy="210312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600" b="1" i="0">
                <a:solidFill>
                  <a:srgbClr val="2B3A55"/>
                </a:solidFill>
                <a:latin typeface="+mn-lt"/>
              </a:rPr>
              <a:t>6.1 Research &amp; math foundation</a:t>
            </a:r>
          </a:p>
          <a:p>
            <a:pPr marL="0" indent="0" algn="l">
              <a:lnSpc>
                <a:spcPct val="100000"/>
              </a:lnSpc>
              <a:spcBef>
                <a:spcPts val="0"/>
              </a:spcBef>
              <a:spcAft>
                <a:spcPts val="0"/>
              </a:spcAft>
              <a:buNone/>
            </a:pPr>
            <a:r>
              <a:rPr sz="1600" b="0" i="0">
                <a:solidFill>
                  <a:srgbClr val="2B3A55"/>
                </a:solidFill>
                <a:latin typeface="+mn-lt"/>
              </a:rPr>
              <a:t>RMT: Marchenko-Pastur bulk edge, BBP phase transition</a:t>
            </a:r>
          </a:p>
          <a:p>
            <a:pPr marL="0" indent="0" algn="l">
              <a:lnSpc>
                <a:spcPct val="100000"/>
              </a:lnSpc>
              <a:spcBef>
                <a:spcPts val="0"/>
              </a:spcBef>
              <a:spcAft>
                <a:spcPts val="0"/>
              </a:spcAft>
              <a:buNone/>
            </a:pPr>
            <a:r>
              <a:rPr sz="1600" b="0" i="0">
                <a:solidFill>
                  <a:srgbClr val="2B3A55"/>
                </a:solidFill>
                <a:latin typeface="+mn-lt"/>
              </a:rPr>
              <a:t>Stat. mechanics: Sarle's BC, mantissa entropy</a:t>
            </a:r>
          </a:p>
          <a:p>
            <a:pPr marL="0" indent="0" algn="l">
              <a:lnSpc>
                <a:spcPct val="100000"/>
              </a:lnSpc>
              <a:spcBef>
                <a:spcPts val="0"/>
              </a:spcBef>
              <a:spcAft>
                <a:spcPts val="0"/>
              </a:spcAft>
              <a:buNone/>
            </a:pPr>
            <a:r>
              <a:rPr sz="1600" b="0" i="0">
                <a:solidFill>
                  <a:srgbClr val="2B3A55"/>
                </a:solidFill>
                <a:latin typeface="+mn-lt"/>
              </a:rPr>
              <a:t>MIL: Log-Sum-Exp pooling</a:t>
            </a:r>
          </a:p>
          <a:p>
            <a:pPr marL="0" indent="0" algn="l">
              <a:lnSpc>
                <a:spcPct val="100000"/>
              </a:lnSpc>
              <a:spcBef>
                <a:spcPts val="0"/>
              </a:spcBef>
              <a:spcAft>
                <a:spcPts val="0"/>
              </a:spcAft>
              <a:buNone/>
            </a:pPr>
            <a:r>
              <a:rPr sz="1600" b="0" i="0">
                <a:solidFill>
                  <a:srgbClr val="2B3A55"/>
                </a:solidFill>
                <a:latin typeface="+mn-lt"/>
              </a:rPr>
              <a:t>HT-SR: ESD power-law α (Martin &amp; Mahoney)</a:t>
            </a:r>
          </a:p>
        </p:txBody>
      </p:sp>
      <p:sp>
        <p:nvSpPr>
          <p:cNvPr id="7" name="Method card 2"/>
          <p:cNvSpPr/>
          <p:nvPr/>
        </p:nvSpPr>
        <p:spPr>
          <a:xfrm>
            <a:off x="4160520" y="1280160"/>
            <a:ext cx="3657600" cy="210312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600" b="1" i="0">
                <a:solidFill>
                  <a:srgbClr val="2B3A55"/>
                </a:solidFill>
                <a:latin typeface="+mn-lt"/>
              </a:rPr>
              <a:t>6.2 System design &amp; development</a:t>
            </a:r>
          </a:p>
          <a:p>
            <a:pPr marL="0" indent="0" algn="l">
              <a:lnSpc>
                <a:spcPct val="100000"/>
              </a:lnSpc>
              <a:spcBef>
                <a:spcPts val="0"/>
              </a:spcBef>
              <a:spcAft>
                <a:spcPts val="0"/>
              </a:spcAft>
              <a:buNone/>
            </a:pPr>
            <a:r>
              <a:rPr sz="1600" b="0" i="0">
                <a:solidFill>
                  <a:srgbClr val="2B3A55"/>
                </a:solidFill>
                <a:latin typeface="+mn-lt"/>
              </a:rPr>
              <a:t>Python 3.9+</a:t>
            </a:r>
          </a:p>
          <a:p>
            <a:pPr marL="0" indent="0" algn="l">
              <a:lnSpc>
                <a:spcPct val="100000"/>
              </a:lnSpc>
              <a:spcBef>
                <a:spcPts val="0"/>
              </a:spcBef>
              <a:spcAft>
                <a:spcPts val="0"/>
              </a:spcAft>
              <a:buNone/>
            </a:pPr>
            <a:r>
              <a:rPr sz="1600" b="0" i="0">
                <a:solidFill>
                  <a:srgbClr val="2B3A55"/>
                </a:solidFill>
                <a:latin typeface="+mn-lt"/>
              </a:rPr>
              <a:t>NumPy, SciPy, Scikit-learn, SafeTensors</a:t>
            </a:r>
          </a:p>
          <a:p>
            <a:pPr marL="0" indent="0" algn="l">
              <a:lnSpc>
                <a:spcPct val="100000"/>
              </a:lnSpc>
              <a:spcBef>
                <a:spcPts val="0"/>
              </a:spcBef>
              <a:spcAft>
                <a:spcPts val="0"/>
              </a:spcAft>
              <a:buNone/>
            </a:pPr>
            <a:r>
              <a:rPr sz="1600" b="0" i="0">
                <a:solidFill>
                  <a:srgbClr val="2B3A55"/>
                </a:solidFill>
                <a:latin typeface="+mn-lt"/>
              </a:rPr>
              <a:t>Hatchling (PEP 517/518)</a:t>
            </a:r>
          </a:p>
          <a:p>
            <a:pPr marL="0" indent="0" algn="l">
              <a:lnSpc>
                <a:spcPct val="100000"/>
              </a:lnSpc>
              <a:spcBef>
                <a:spcPts val="0"/>
              </a:spcBef>
              <a:spcAft>
                <a:spcPts val="0"/>
              </a:spcAft>
              <a:buNone/>
            </a:pPr>
            <a:r>
              <a:rPr sz="1600" b="0" i="0">
                <a:solidFill>
                  <a:srgbClr val="2B3A55"/>
                </a:solidFill>
                <a:latin typeface="+mn-lt"/>
              </a:rPr>
              <a:t>PEP 561 py.typed marker</a:t>
            </a:r>
          </a:p>
        </p:txBody>
      </p:sp>
      <p:sp>
        <p:nvSpPr>
          <p:cNvPr id="8" name="Method card 3"/>
          <p:cNvSpPr/>
          <p:nvPr/>
        </p:nvSpPr>
        <p:spPr>
          <a:xfrm>
            <a:off x="8001000" y="1280160"/>
            <a:ext cx="3657600" cy="210312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600" b="1" i="0">
                <a:solidFill>
                  <a:srgbClr val="2B3A55"/>
                </a:solidFill>
                <a:latin typeface="+mn-lt"/>
              </a:rPr>
              <a:t>6.3 Dual-engine feature extraction</a:t>
            </a:r>
          </a:p>
          <a:p>
            <a:pPr marL="0" indent="0" algn="l">
              <a:lnSpc>
                <a:spcPct val="100000"/>
              </a:lnSpc>
              <a:spcBef>
                <a:spcPts val="0"/>
              </a:spcBef>
              <a:spcAft>
                <a:spcPts val="0"/>
              </a:spcAft>
              <a:buNone/>
            </a:pPr>
            <a:r>
              <a:rPr sz="1600" b="0" i="0">
                <a:solidFill>
                  <a:srgbClr val="2B3A55"/>
                </a:solidFill>
                <a:latin typeface="+mn-lt"/>
              </a:rPr>
              <a:t>A Distributional (15): mean, std, skew, kurtosis, Sarle's BC, duplicate ratio, mantissa entropy</a:t>
            </a:r>
          </a:p>
          <a:p>
            <a:pPr marL="0" indent="0" algn="l">
              <a:lnSpc>
                <a:spcPct val="100000"/>
              </a:lnSpc>
              <a:spcBef>
                <a:spcPts val="0"/>
              </a:spcBef>
              <a:spcAft>
                <a:spcPts val="0"/>
              </a:spcAft>
              <a:buNone/>
            </a:pPr>
            <a:r>
              <a:rPr sz="1600" b="0" i="0">
                <a:solidFill>
                  <a:srgbClr val="2B3A55"/>
                </a:solidFill>
                <a:latin typeface="+mn-lt"/>
              </a:rPr>
              <a:t>B Spectral RMT (10): SVD, MP edge, BBP ratio, ESD α, effective rank</a:t>
            </a:r>
          </a:p>
          <a:p>
            <a:pPr marL="0" indent="0" algn="l">
              <a:lnSpc>
                <a:spcPct val="100000"/>
              </a:lnSpc>
              <a:spcBef>
                <a:spcPts val="0"/>
              </a:spcBef>
              <a:spcAft>
                <a:spcPts val="0"/>
              </a:spcAft>
              <a:buNone/>
            </a:pPr>
            <a:r>
              <a:rPr sz="1600" b="0" i="0">
                <a:solidFill>
                  <a:srgbClr val="2B3A55"/>
                </a:solidFill>
                <a:latin typeface="+mn-lt"/>
              </a:rPr>
              <a:t>C Topological: Q/K cosine alignment</a:t>
            </a:r>
          </a:p>
        </p:txBody>
      </p:sp>
      <p:sp>
        <p:nvSpPr>
          <p:cNvPr id="9" name="Method card 4"/>
          <p:cNvSpPr/>
          <p:nvPr/>
        </p:nvSpPr>
        <p:spPr>
          <a:xfrm>
            <a:off x="320040" y="3520440"/>
            <a:ext cx="3657600" cy="210312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600" b="1" i="0">
                <a:solidFill>
                  <a:srgbClr val="2B3A55"/>
                </a:solidFill>
                <a:latin typeface="+mn-lt"/>
              </a:rPr>
              <a:t>6.4 Anti-dilution risk aggregation</a:t>
            </a:r>
          </a:p>
          <a:p>
            <a:pPr marL="0" indent="0" algn="l">
              <a:lnSpc>
                <a:spcPct val="100000"/>
              </a:lnSpc>
              <a:spcBef>
                <a:spcPts val="0"/>
              </a:spcBef>
              <a:spcAft>
                <a:spcPts val="0"/>
              </a:spcAft>
              <a:buNone/>
            </a:pPr>
            <a:r>
              <a:rPr sz="1600" b="0" i="0">
                <a:solidFill>
                  <a:srgbClr val="2B3A55"/>
                </a:solidFill>
                <a:latin typeface="+mn-lt"/>
              </a:rPr>
              <a:t>LSE-MIL: F(S) = S</a:t>
            </a:r>
            <a:r>
              <a:rPr sz="1600" b="0" i="0" baseline="-25000">
                <a:solidFill>
                  <a:srgbClr val="2B3A55"/>
                </a:solidFill>
                <a:latin typeface="+mn-lt"/>
              </a:rPr>
              <a:t>max</a:t>
            </a:r>
            <a:r>
              <a:rPr sz="1600" b="0" i="0">
                <a:solidFill>
                  <a:srgbClr val="2B3A55"/>
                </a:solidFill>
                <a:latin typeface="+mn-lt"/>
              </a:rPr>
              <a:t> + (1/τ) ln((1/K) Σ exp(τ(s</a:t>
            </a:r>
            <a:r>
              <a:rPr sz="1600" b="0" i="0" baseline="-25000">
                <a:solidFill>
                  <a:srgbClr val="2B3A55"/>
                </a:solidFill>
                <a:latin typeface="+mn-lt"/>
              </a:rPr>
              <a:t>i</a:t>
            </a:r>
            <a:r>
              <a:rPr sz="1600" b="0" i="0">
                <a:solidFill>
                  <a:srgbClr val="2B3A55"/>
                </a:solidFill>
                <a:latin typeface="+mn-lt"/>
              </a:rPr>
              <a:t> − S</a:t>
            </a:r>
            <a:r>
              <a:rPr sz="1600" b="0" i="0" baseline="-25000">
                <a:solidFill>
                  <a:srgbClr val="2B3A55"/>
                </a:solidFill>
                <a:latin typeface="+mn-lt"/>
              </a:rPr>
              <a:t>max</a:t>
            </a:r>
            <a:r>
              <a:rPr sz="1600" b="0" i="0">
                <a:solidFill>
                  <a:srgbClr val="2B3A55"/>
                </a:solidFill>
                <a:latin typeface="+mn-lt"/>
              </a:rPr>
              <a:t>))), τ = 6.0</a:t>
            </a:r>
          </a:p>
          <a:p>
            <a:pPr marL="0" indent="0" algn="l">
              <a:lnSpc>
                <a:spcPct val="100000"/>
              </a:lnSpc>
              <a:spcBef>
                <a:spcPts val="0"/>
              </a:spcBef>
              <a:spcAft>
                <a:spcPts val="0"/>
              </a:spcAft>
              <a:buNone/>
            </a:pPr>
            <a:r>
              <a:rPr sz="1600" b="0" i="0">
                <a:solidFill>
                  <a:srgbClr val="2B3A55"/>
                </a:solidFill>
                <a:latin typeface="+mn-lt"/>
              </a:rPr>
              <a:t>Hard bound: any s</a:t>
            </a:r>
            <a:r>
              <a:rPr sz="1600" b="0" i="0" baseline="-25000">
                <a:solidFill>
                  <a:srgbClr val="2B3A55"/>
                </a:solidFill>
                <a:latin typeface="+mn-lt"/>
              </a:rPr>
              <a:t>i</a:t>
            </a:r>
            <a:r>
              <a:rPr sz="1600" b="0" i="0">
                <a:solidFill>
                  <a:srgbClr val="2B3A55"/>
                </a:solidFill>
                <a:latin typeface="+mn-lt"/>
              </a:rPr>
              <a:t> ≥ 0.90 → risk ≥ 0.75 → QUARANTINE</a:t>
            </a:r>
          </a:p>
        </p:txBody>
      </p:sp>
      <p:sp>
        <p:nvSpPr>
          <p:cNvPr id="10" name="Method card 5"/>
          <p:cNvSpPr/>
          <p:nvPr/>
        </p:nvSpPr>
        <p:spPr>
          <a:xfrm>
            <a:off x="4160520" y="3520440"/>
            <a:ext cx="3657600" cy="210312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600" b="1" i="0">
                <a:solidFill>
                  <a:srgbClr val="2B3A55"/>
                </a:solidFill>
                <a:latin typeface="+mn-lt"/>
              </a:rPr>
              <a:t>6.5 Validation &amp; testing</a:t>
            </a:r>
          </a:p>
          <a:p>
            <a:pPr marL="0" indent="0" algn="l">
              <a:lnSpc>
                <a:spcPct val="100000"/>
              </a:lnSpc>
              <a:spcBef>
                <a:spcPts val="0"/>
              </a:spcBef>
              <a:spcAft>
                <a:spcPts val="0"/>
              </a:spcAft>
              <a:buNone/>
            </a:pPr>
            <a:r>
              <a:rPr sz="1600" b="0" i="0">
                <a:solidFill>
                  <a:srgbClr val="2B3A55"/>
                </a:solidFill>
                <a:latin typeface="+mn-lt"/>
              </a:rPr>
              <a:t>200 synthetic + real checkpoints (clean, trojaned, stego)</a:t>
            </a:r>
          </a:p>
          <a:p>
            <a:pPr marL="0" indent="0" algn="l">
              <a:lnSpc>
                <a:spcPct val="100000"/>
              </a:lnSpc>
              <a:spcBef>
                <a:spcPts val="0"/>
              </a:spcBef>
              <a:spcAft>
                <a:spcPts val="0"/>
              </a:spcAft>
              <a:buNone/>
            </a:pPr>
            <a:r>
              <a:rPr sz="1600" b="0" i="0">
                <a:solidFill>
                  <a:srgbClr val="2B3A55"/>
                </a:solidFill>
                <a:latin typeface="+mn-lt"/>
              </a:rPr>
              <a:t>5-fold stratified CV × 3 seeds = 15 folds</a:t>
            </a:r>
          </a:p>
          <a:p>
            <a:pPr marL="0" indent="0" algn="l">
              <a:lnSpc>
                <a:spcPct val="100000"/>
              </a:lnSpc>
              <a:spcBef>
                <a:spcPts val="0"/>
              </a:spcBef>
              <a:spcAft>
                <a:spcPts val="0"/>
              </a:spcAft>
              <a:buNone/>
            </a:pPr>
            <a:r>
              <a:rPr sz="1600" b="0" i="0">
                <a:solidFill>
                  <a:srgbClr val="2B3A55"/>
                </a:solidFill>
                <a:latin typeface="+mn-lt"/>
              </a:rPr>
              <a:t>26 tests across 7 modules</a:t>
            </a:r>
          </a:p>
        </p:txBody>
      </p:sp>
      <p:sp>
        <p:nvSpPr>
          <p:cNvPr id="11" name="Method card 6"/>
          <p:cNvSpPr/>
          <p:nvPr/>
        </p:nvSpPr>
        <p:spPr>
          <a:xfrm>
            <a:off x="8001000" y="3520440"/>
            <a:ext cx="3657600" cy="210312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600" b="1" i="0">
                <a:solidFill>
                  <a:srgbClr val="2B3A55"/>
                </a:solidFill>
                <a:latin typeface="+mn-lt"/>
              </a:rPr>
              <a:t>6.6 Surgical remediation</a:t>
            </a:r>
          </a:p>
          <a:p>
            <a:pPr marL="0" indent="0" algn="l">
              <a:lnSpc>
                <a:spcPct val="100000"/>
              </a:lnSpc>
              <a:spcBef>
                <a:spcPts val="0"/>
              </a:spcBef>
              <a:spcAft>
                <a:spcPts val="0"/>
              </a:spcAft>
              <a:buNone/>
            </a:pPr>
            <a:r>
              <a:rPr sz="1600" b="0" i="0">
                <a:solidFill>
                  <a:srgbClr val="2B3A55"/>
                </a:solidFill>
                <a:latin typeface="+mn-lt"/>
              </a:rPr>
              <a:t>Rank-1 SVD deflation: W</a:t>
            </a:r>
            <a:r>
              <a:rPr sz="1600" b="0" i="0" baseline="-25000">
                <a:solidFill>
                  <a:srgbClr val="2B3A55"/>
                </a:solidFill>
                <a:latin typeface="+mn-lt"/>
              </a:rPr>
              <a:t>cleansed</a:t>
            </a:r>
            <a:r>
              <a:rPr sz="1600" b="0" i="0">
                <a:solidFill>
                  <a:srgbClr val="2B3A55"/>
                </a:solidFill>
                <a:latin typeface="+mn-lt"/>
              </a:rPr>
              <a:t> = W − σ</a:t>
            </a:r>
            <a:r>
              <a:rPr sz="1600" b="0" i="0" baseline="-25000">
                <a:solidFill>
                  <a:srgbClr val="2B3A55"/>
                </a:solidFill>
                <a:latin typeface="+mn-lt"/>
              </a:rPr>
              <a:t>1</a:t>
            </a:r>
            <a:r>
              <a:rPr sz="1600" b="0" i="0">
                <a:solidFill>
                  <a:srgbClr val="2B3A55"/>
                </a:solidFill>
                <a:latin typeface="+mn-lt"/>
              </a:rPr>
              <a:t> u</a:t>
            </a:r>
            <a:r>
              <a:rPr sz="1600" b="0" i="0" baseline="-25000">
                <a:solidFill>
                  <a:srgbClr val="2B3A55"/>
                </a:solidFill>
                <a:latin typeface="+mn-lt"/>
              </a:rPr>
              <a:t>1</a:t>
            </a:r>
            <a:r>
              <a:rPr sz="1600" b="0" i="0">
                <a:solidFill>
                  <a:srgbClr val="2B3A55"/>
                </a:solidFill>
                <a:latin typeface="+mn-lt"/>
              </a:rPr>
              <a:t> v</a:t>
            </a:r>
            <a:r>
              <a:rPr sz="1600" b="0" i="0" baseline="-25000">
                <a:solidFill>
                  <a:srgbClr val="2B3A55"/>
                </a:solidFill>
                <a:latin typeface="+mn-lt"/>
              </a:rPr>
              <a:t>1</a:t>
            </a:r>
            <a:r>
              <a:rPr sz="1600" b="0" i="0" baseline="30000">
                <a:solidFill>
                  <a:srgbClr val="2B3A55"/>
                </a:solidFill>
                <a:latin typeface="+mn-lt"/>
              </a:rPr>
              <a:t>T</a:t>
            </a:r>
          </a:p>
          <a:p>
            <a:pPr marL="0" indent="0" algn="l">
              <a:lnSpc>
                <a:spcPct val="100000"/>
              </a:lnSpc>
              <a:spcBef>
                <a:spcPts val="0"/>
              </a:spcBef>
              <a:spcAft>
                <a:spcPts val="0"/>
              </a:spcAft>
              <a:buNone/>
            </a:pPr>
            <a:r>
              <a:rPr sz="1600" b="0" i="0">
                <a:solidFill>
                  <a:srgbClr val="2B3A55"/>
                </a:solidFill>
                <a:latin typeface="+mn-lt"/>
              </a:rPr>
              <a:t>LSB mantissa zero-clearing: x &amp; ~0xFF</a:t>
            </a:r>
          </a:p>
          <a:p>
            <a:pPr marL="0" indent="0" algn="l">
              <a:lnSpc>
                <a:spcPct val="100000"/>
              </a:lnSpc>
              <a:spcBef>
                <a:spcPts val="0"/>
              </a:spcBef>
              <a:spcAft>
                <a:spcPts val="0"/>
              </a:spcAft>
              <a:buNone/>
            </a:pPr>
            <a:r>
              <a:rPr sz="1600" b="0" i="0">
                <a:solidFill>
                  <a:srgbClr val="2B3A55"/>
                </a:solidFill>
                <a:latin typeface="+mn-lt"/>
              </a:rPr>
              <a:t>Checkpoint layer hot-swapping</a:t>
            </a:r>
          </a:p>
        </p:txBody>
      </p:sp>
    </p:spTree>
    <p:extLst>
      <p:ext uri="{BB962C8B-B14F-4D97-AF65-F5344CB8AC3E}">
        <p14:creationId xmlns:p14="http://schemas.microsoft.com/office/powerpoint/2010/main" val="20158188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Methodology Overview</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4888904"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sp>
        <p:nvSpPr>
          <p:cNvPr id="6" name="Phase 1"/>
          <p:cNvSpPr/>
          <p:nvPr/>
        </p:nvSpPr>
        <p:spPr>
          <a:xfrm>
            <a:off x="320040" y="1325880"/>
            <a:ext cx="3657600" cy="822960"/>
          </a:xfrm>
          <a:prstGeom prst="roundRect">
            <a:avLst>
              <a:gd name="adj" fmla="val 12000"/>
            </a:avLst>
          </a:prstGeom>
          <a:solidFill>
            <a:srgbClr val="1F4E79"/>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Research</a:t>
            </a:r>
          </a:p>
          <a:p>
            <a:pPr marL="0" indent="0" algn="ctr">
              <a:lnSpc>
                <a:spcPct val="100000"/>
              </a:lnSpc>
              <a:spcBef>
                <a:spcPts val="0"/>
              </a:spcBef>
              <a:spcAft>
                <a:spcPts val="0"/>
              </a:spcAft>
              <a:buNone/>
            </a:pPr>
            <a:r>
              <a:rPr sz="1400" b="0" i="0">
                <a:solidFill>
                  <a:srgbClr val="FFFFFF"/>
                </a:solidFill>
                <a:latin typeface="+mn-lt"/>
              </a:rPr>
              <a:t>RMT · Statistics · MIL</a:t>
            </a:r>
          </a:p>
        </p:txBody>
      </p:sp>
      <p:cxnSp>
        <p:nvCxnSpPr>
          <p:cNvPr id="7" name="Connector 6"/>
          <p:cNvCxnSpPr/>
          <p:nvPr/>
        </p:nvCxnSpPr>
        <p:spPr>
          <a:xfrm>
            <a:off x="3995928" y="1737360"/>
            <a:ext cx="164592"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Phase 2"/>
          <p:cNvSpPr/>
          <p:nvPr/>
        </p:nvSpPr>
        <p:spPr>
          <a:xfrm>
            <a:off x="4160520" y="1325880"/>
            <a:ext cx="3657600" cy="822960"/>
          </a:xfrm>
          <a:prstGeom prst="roundRect">
            <a:avLst>
              <a:gd name="adj" fmla="val 12000"/>
            </a:avLst>
          </a:prstGeom>
          <a:solidFill>
            <a:srgbClr val="1F4E79"/>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Design</a:t>
            </a:r>
          </a:p>
          <a:p>
            <a:pPr marL="0" indent="0" algn="ctr">
              <a:lnSpc>
                <a:spcPct val="100000"/>
              </a:lnSpc>
              <a:spcBef>
                <a:spcPts val="0"/>
              </a:spcBef>
              <a:spcAft>
                <a:spcPts val="0"/>
              </a:spcAft>
              <a:buNone/>
            </a:pPr>
            <a:r>
              <a:rPr sz="1400" b="0" i="0">
                <a:solidFill>
                  <a:srgbClr val="FFFFFF"/>
                </a:solidFill>
                <a:latin typeface="+mn-lt"/>
              </a:rPr>
              <a:t>10-stage · dual-engine · LSE-MIL</a:t>
            </a:r>
          </a:p>
        </p:txBody>
      </p:sp>
      <p:cxnSp>
        <p:nvCxnSpPr>
          <p:cNvPr id="9" name="Connector 8"/>
          <p:cNvCxnSpPr/>
          <p:nvPr/>
        </p:nvCxnSpPr>
        <p:spPr>
          <a:xfrm>
            <a:off x="7836408" y="1737360"/>
            <a:ext cx="164592"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Phase 3"/>
          <p:cNvSpPr/>
          <p:nvPr/>
        </p:nvSpPr>
        <p:spPr>
          <a:xfrm>
            <a:off x="8001000" y="1325880"/>
            <a:ext cx="3657600" cy="822960"/>
          </a:xfrm>
          <a:prstGeom prst="roundRect">
            <a:avLst>
              <a:gd name="adj" fmla="val 12000"/>
            </a:avLst>
          </a:prstGeom>
          <a:solidFill>
            <a:srgbClr val="1F4E79"/>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Validate</a:t>
            </a:r>
          </a:p>
          <a:p>
            <a:pPr marL="0" indent="0" algn="ctr">
              <a:lnSpc>
                <a:spcPct val="100000"/>
              </a:lnSpc>
              <a:spcBef>
                <a:spcPts val="0"/>
              </a:spcBef>
              <a:spcAft>
                <a:spcPts val="0"/>
              </a:spcAft>
              <a:buNone/>
            </a:pPr>
            <a:r>
              <a:rPr sz="1400" b="0" i="0">
                <a:solidFill>
                  <a:srgbClr val="FFFFFF"/>
                </a:solidFill>
                <a:latin typeface="+mn-lt"/>
              </a:rPr>
              <a:t>15-fold · 200 models · 26 tests</a:t>
            </a:r>
          </a:p>
        </p:txBody>
      </p:sp>
      <p:sp>
        <p:nvSpPr>
          <p:cNvPr id="11" name="Engine 1"/>
          <p:cNvSpPr/>
          <p:nvPr/>
        </p:nvSpPr>
        <p:spPr>
          <a:xfrm>
            <a:off x="320040" y="2468880"/>
            <a:ext cx="3657600" cy="1051560"/>
          </a:xfrm>
          <a:prstGeom prst="roundRect">
            <a:avLst>
              <a:gd name="adj" fmla="val 12000"/>
            </a:avLst>
          </a:prstGeom>
          <a:solidFill>
            <a:srgbClr val="1C4D98"/>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Distributional (15)</a:t>
            </a:r>
          </a:p>
          <a:p>
            <a:pPr marL="0" indent="0" algn="ctr">
              <a:lnSpc>
                <a:spcPct val="100000"/>
              </a:lnSpc>
              <a:spcBef>
                <a:spcPts val="0"/>
              </a:spcBef>
              <a:spcAft>
                <a:spcPts val="0"/>
              </a:spcAft>
              <a:buNone/>
            </a:pPr>
            <a:r>
              <a:rPr sz="1400" b="0" i="0">
                <a:solidFill>
                  <a:srgbClr val="FFFFFF"/>
                </a:solidFill>
                <a:latin typeface="+mn-lt"/>
              </a:rPr>
              <a:t>Kurtosis · Sarle's BC · Mantissa entropy</a:t>
            </a:r>
          </a:p>
        </p:txBody>
      </p:sp>
      <p:cxnSp>
        <p:nvCxnSpPr>
          <p:cNvPr id="12" name="Connector 11"/>
          <p:cNvCxnSpPr/>
          <p:nvPr/>
        </p:nvCxnSpPr>
        <p:spPr>
          <a:xfrm>
            <a:off x="2148840" y="3520440"/>
            <a:ext cx="0" cy="27432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Engine 2"/>
          <p:cNvSpPr/>
          <p:nvPr/>
        </p:nvSpPr>
        <p:spPr>
          <a:xfrm>
            <a:off x="4160520" y="2468880"/>
            <a:ext cx="3657600" cy="1051560"/>
          </a:xfrm>
          <a:prstGeom prst="roundRect">
            <a:avLst>
              <a:gd name="adj" fmla="val 12000"/>
            </a:avLst>
          </a:prstGeom>
          <a:solidFill>
            <a:srgbClr val="2A7F8F"/>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Spectral / RMT (10)</a:t>
            </a:r>
          </a:p>
          <a:p>
            <a:pPr marL="0" indent="0" algn="ctr">
              <a:lnSpc>
                <a:spcPct val="100000"/>
              </a:lnSpc>
              <a:spcBef>
                <a:spcPts val="0"/>
              </a:spcBef>
              <a:spcAft>
                <a:spcPts val="0"/>
              </a:spcAft>
              <a:buNone/>
            </a:pPr>
            <a:r>
              <a:rPr sz="1400" b="0" i="0">
                <a:solidFill>
                  <a:srgbClr val="FFFFFF"/>
                </a:solidFill>
                <a:latin typeface="+mn-lt"/>
              </a:rPr>
              <a:t>BBP spike ratio · MP bulk edge · ESD α</a:t>
            </a:r>
          </a:p>
        </p:txBody>
      </p:sp>
      <p:cxnSp>
        <p:nvCxnSpPr>
          <p:cNvPr id="14" name="Connector 13"/>
          <p:cNvCxnSpPr/>
          <p:nvPr/>
        </p:nvCxnSpPr>
        <p:spPr>
          <a:xfrm>
            <a:off x="5989320" y="3520440"/>
            <a:ext cx="0" cy="27432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Engine 3"/>
          <p:cNvSpPr/>
          <p:nvPr/>
        </p:nvSpPr>
        <p:spPr>
          <a:xfrm>
            <a:off x="8001000" y="2468880"/>
            <a:ext cx="3657600" cy="1051560"/>
          </a:xfrm>
          <a:prstGeom prst="roundRect">
            <a:avLst>
              <a:gd name="adj" fmla="val 12000"/>
            </a:avLst>
          </a:prstGeom>
          <a:solidFill>
            <a:srgbClr val="2F6DB5"/>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Topological</a:t>
            </a:r>
          </a:p>
          <a:p>
            <a:pPr marL="0" indent="0" algn="ctr">
              <a:lnSpc>
                <a:spcPct val="100000"/>
              </a:lnSpc>
              <a:spcBef>
                <a:spcPts val="0"/>
              </a:spcBef>
              <a:spcAft>
                <a:spcPts val="0"/>
              </a:spcAft>
              <a:buNone/>
            </a:pPr>
            <a:r>
              <a:rPr sz="1400" b="0" i="0">
                <a:solidFill>
                  <a:srgbClr val="FFFFFF"/>
                </a:solidFill>
                <a:latin typeface="+mn-lt"/>
              </a:rPr>
              <a:t>Q/K cosine similarity &gt; 0.85</a:t>
            </a:r>
          </a:p>
        </p:txBody>
      </p:sp>
      <p:cxnSp>
        <p:nvCxnSpPr>
          <p:cNvPr id="16" name="Connector 15"/>
          <p:cNvCxnSpPr/>
          <p:nvPr/>
        </p:nvCxnSpPr>
        <p:spPr>
          <a:xfrm>
            <a:off x="9829800" y="3520440"/>
            <a:ext cx="0" cy="27432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LSE-MIL box"/>
          <p:cNvSpPr/>
          <p:nvPr/>
        </p:nvSpPr>
        <p:spPr>
          <a:xfrm>
            <a:off x="320040" y="3794760"/>
            <a:ext cx="11338560" cy="777240"/>
          </a:xfrm>
          <a:prstGeom prst="roundRect">
            <a:avLst>
              <a:gd name="adj" fmla="val 12000"/>
            </a:avLst>
          </a:prstGeom>
          <a:solidFill>
            <a:srgbClr val="E6F3DC"/>
          </a:solidFill>
          <a:ln w="19050">
            <a:solidFill>
              <a:srgbClr val="4E8A2E"/>
            </a:solid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2B3A55"/>
                </a:solidFill>
                <a:latin typeface="+mn-lt"/>
              </a:rPr>
              <a:t>Anti-dilution LSE-MIL pooling (τ = 6.0): F(S) = S_max + (1/τ) ln((1/K) Σ exp(τ(s_i − S_max)))</a:t>
            </a:r>
          </a:p>
          <a:p>
            <a:pPr marL="0" indent="0" algn="ctr">
              <a:lnSpc>
                <a:spcPct val="100000"/>
              </a:lnSpc>
              <a:spcBef>
                <a:spcPts val="0"/>
              </a:spcBef>
              <a:spcAft>
                <a:spcPts val="0"/>
              </a:spcAft>
              <a:buNone/>
            </a:pPr>
            <a:r>
              <a:rPr sz="1400" b="0" i="0">
                <a:solidFill>
                  <a:srgbClr val="2B3A55"/>
                </a:solidFill>
                <a:latin typeface="+mn-lt"/>
              </a:rPr>
              <a:t>Any s_i ≥ 0.90 → model risk ≥ 0.75 → QUARANTINE</a:t>
            </a:r>
          </a:p>
        </p:txBody>
      </p:sp>
      <p:cxnSp>
        <p:nvCxnSpPr>
          <p:cNvPr id="18" name="Connector 17"/>
          <p:cNvCxnSpPr/>
          <p:nvPr/>
        </p:nvCxnSpPr>
        <p:spPr>
          <a:xfrm>
            <a:off x="5989320" y="4572000"/>
            <a:ext cx="0" cy="22860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mediation box"/>
          <p:cNvSpPr/>
          <p:nvPr/>
        </p:nvSpPr>
        <p:spPr>
          <a:xfrm>
            <a:off x="320040" y="4800600"/>
            <a:ext cx="11338560" cy="777240"/>
          </a:xfrm>
          <a:prstGeom prst="roundRect">
            <a:avLst>
              <a:gd name="adj" fmla="val 12000"/>
            </a:avLst>
          </a:prstGeom>
          <a:solidFill>
            <a:srgbClr val="C8561F"/>
          </a:solidFill>
          <a:ln>
            <a:noFill/>
          </a:ln>
        </p:spPr>
        <p:txBody>
          <a:bodyPr rtlCol="0" anchor="ctr" wrap="square" lIns="73152" rIns="73152" tIns="36576" bIns="36576"/>
          <a:lstStyle/>
          <a:p>
            <a:pPr marL="0" indent="0" algn="ctr">
              <a:lnSpc>
                <a:spcPct val="100000"/>
              </a:lnSpc>
              <a:spcBef>
                <a:spcPts val="0"/>
              </a:spcBef>
              <a:spcAft>
                <a:spcPts val="0"/>
              </a:spcAft>
              <a:buNone/>
            </a:pPr>
            <a:r>
              <a:rPr sz="1400" b="1" i="0">
                <a:solidFill>
                  <a:srgbClr val="FFFFFF"/>
                </a:solidFill>
                <a:latin typeface="+mn-lt"/>
              </a:rPr>
              <a:t>Surgical remediation</a:t>
            </a:r>
          </a:p>
          <a:p>
            <a:pPr marL="0" indent="0" algn="ctr">
              <a:lnSpc>
                <a:spcPct val="100000"/>
              </a:lnSpc>
              <a:spcBef>
                <a:spcPts val="0"/>
              </a:spcBef>
              <a:spcAft>
                <a:spcPts val="0"/>
              </a:spcAft>
              <a:buNone/>
            </a:pPr>
            <a:r>
              <a:rPr sz="1400" b="0" i="0">
                <a:solidFill>
                  <a:srgbClr val="FFFFFF"/>
                </a:solidFill>
                <a:latin typeface="+mn-lt"/>
              </a:rPr>
              <a:t>Rank-1 SVD deflation W − σ₁u₁v₁ᵀ  ·  LSB mantissa zero-clearing x &amp; ~0xFF  ·  layer hot-swapping</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1521440" cy="646331"/>
          </a:xfrm>
          <a:prstGeom prst="rect">
            <a:avLst/>
          </a:prstGeom>
          <a:noFill/>
        </p:spPr>
        <p:txBody>
          <a:bodyPr wrap="square" rtlCol="0">
            <a:spAutoFit/>
          </a:bodyPr>
          <a:lstStyle/>
          <a:p>
            <a:pPr lvl="0">
              <a:defRPr/>
            </a:pPr>
            <a:r>
              <a:rPr lang="en-US" sz="3600" b="1" dirty="0">
                <a:solidFill>
                  <a:srgbClr val="5B9BD5">
                    <a:lumMod val="50000"/>
                  </a:srgbClr>
                </a:solidFill>
              </a:rPr>
              <a:t>Approach / Algorithms: Core Algorithms</a:t>
            </a: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8016517"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graphicFrame>
        <p:nvGraphicFramePr>
          <p:cNvPr id="6" name="Algorithm table"/>
          <p:cNvGraphicFramePr>
            <a:graphicFrameLocks noGrp="1"/>
          </p:cNvGraphicFramePr>
          <p:nvPr/>
        </p:nvGraphicFramePr>
        <p:xfrm>
          <a:off x="320040" y="1280160"/>
          <a:ext cx="11338560" cy="4608576"/>
        </p:xfrm>
        <a:graphic>
          <a:graphicData uri="http://schemas.openxmlformats.org/drawingml/2006/table">
            <a:tbl>
              <a:tblPr firstRow="1" bandRow="1">
                <a:tableStyleId>{5C22544A-7EE6-4342-B048-85BDC9FD1C3A}</a:tableStyleId>
              </a:tblPr>
              <a:tblGrid>
                <a:gridCol w="2560320"/>
                <a:gridCol w="5577840"/>
                <a:gridCol w="3200400"/>
              </a:tblGrid>
              <a:tr h="512064">
                <a:tc>
                  <a:txBody>
                    <a:bodyPr wrap="square"/>
                    <a:lstStyle/>
                    <a:p>
                      <a:pPr marL="0" indent="0">
                        <a:lnSpc>
                          <a:spcPct val="100000"/>
                        </a:lnSpc>
                        <a:spcBef>
                          <a:spcPts val="0"/>
                        </a:spcBef>
                        <a:spcAft>
                          <a:spcPts val="0"/>
                        </a:spcAft>
                        <a:buNone/>
                      </a:pPr>
                      <a:r>
                        <a:rPr sz="1600" b="1" i="0">
                          <a:solidFill>
                            <a:srgbClr val="FFFFFF"/>
                          </a:solidFill>
                          <a:latin typeface="+mn-lt"/>
                        </a:rPr>
                        <a:t>Algorithm</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600" b="1" i="0">
                          <a:solidFill>
                            <a:srgbClr val="FFFFFF"/>
                          </a:solidFill>
                          <a:latin typeface="+mn-lt"/>
                        </a:rPr>
                        <a:t>Formula</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600" b="1" i="0">
                          <a:solidFill>
                            <a:srgbClr val="FFFFFF"/>
                          </a:solidFill>
                          <a:latin typeface="+mn-lt"/>
                        </a:rPr>
                        <a:t>Purpose</a:t>
                      </a:r>
                    </a:p>
                  </a:txBody>
                  <a:tcPr marL="73152" marR="73152" marT="27432" marB="27432" anchor="ctr">
                    <a:solidFill>
                      <a:srgbClr val="1F4E79"/>
                    </a:solidFill>
                  </a:tcPr>
                </a:tc>
              </a:tr>
              <a:tr h="512064">
                <a:tc>
                  <a:txBody>
                    <a:bodyPr wrap="square"/>
                    <a:lstStyle/>
                    <a:p>
                      <a:pPr marL="0" indent="0">
                        <a:lnSpc>
                          <a:spcPct val="100000"/>
                        </a:lnSpc>
                        <a:spcBef>
                          <a:spcPts val="0"/>
                        </a:spcBef>
                        <a:spcAft>
                          <a:spcPts val="0"/>
                        </a:spcAft>
                        <a:buNone/>
                      </a:pPr>
                      <a:r>
                        <a:rPr sz="1600" b="1" i="0">
                          <a:solidFill>
                            <a:srgbClr val="2B3A55"/>
                          </a:solidFill>
                          <a:latin typeface="+mn-lt"/>
                        </a:rPr>
                        <a:t>Sarle's Bimodality Coefficient</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BC = (γ</a:t>
                      </a:r>
                      <a:r>
                        <a:rPr sz="1600" b="0" i="0" baseline="30000">
                          <a:solidFill>
                            <a:srgbClr val="2B3A55"/>
                          </a:solidFill>
                          <a:latin typeface="+mn-lt"/>
                        </a:rPr>
                        <a:t>2</a:t>
                      </a:r>
                      <a:r>
                        <a:rPr sz="1600" b="0" i="0">
                          <a:solidFill>
                            <a:srgbClr val="2B3A55"/>
                          </a:solidFill>
                          <a:latin typeface="+mn-lt"/>
                        </a:rPr>
                        <a:t> + 1) / (κ</a:t>
                      </a:r>
                      <a:r>
                        <a:rPr sz="1600" b="0" i="0" baseline="-25000">
                          <a:solidFill>
                            <a:srgbClr val="2B3A55"/>
                          </a:solidFill>
                          <a:latin typeface="+mn-lt"/>
                        </a:rPr>
                        <a:t>excess</a:t>
                      </a:r>
                      <a:r>
                        <a:rPr sz="1600" b="0" i="0">
                          <a:solidFill>
                            <a:srgbClr val="2B3A55"/>
                          </a:solidFill>
                          <a:latin typeface="+mn-lt"/>
                        </a:rPr>
                        <a:t> + 3)</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Bimodal trigger clusters (BC &gt; 0.555)</a:t>
                      </a:r>
                    </a:p>
                  </a:txBody>
                  <a:tcPr marL="73152" marR="73152" marT="27432" marB="27432" anchor="ctr">
                    <a:solidFill>
                      <a:srgbClr val="EAF3FA"/>
                    </a:solidFill>
                  </a:tcPr>
                </a:tc>
              </a:tr>
              <a:tr h="512064">
                <a:tc>
                  <a:txBody>
                    <a:bodyPr wrap="square"/>
                    <a:lstStyle/>
                    <a:p>
                      <a:pPr marL="0" indent="0">
                        <a:lnSpc>
                          <a:spcPct val="100000"/>
                        </a:lnSpc>
                        <a:spcBef>
                          <a:spcPts val="0"/>
                        </a:spcBef>
                        <a:spcAft>
                          <a:spcPts val="0"/>
                        </a:spcAft>
                        <a:buNone/>
                      </a:pPr>
                      <a:r>
                        <a:rPr sz="1600" b="1" i="0">
                          <a:solidFill>
                            <a:srgbClr val="2B3A55"/>
                          </a:solidFill>
                          <a:latin typeface="+mn-lt"/>
                        </a:rPr>
                        <a:t>Duplicate Ratio</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600" b="0" i="0">
                          <a:solidFill>
                            <a:srgbClr val="2B3A55"/>
                          </a:solidFill>
                          <a:latin typeface="+mn-lt"/>
                        </a:rPr>
                        <a:t>R</a:t>
                      </a:r>
                      <a:r>
                        <a:rPr sz="1600" b="0" i="0" baseline="-25000">
                          <a:solidFill>
                            <a:srgbClr val="2B3A55"/>
                          </a:solidFill>
                          <a:latin typeface="+mn-lt"/>
                        </a:rPr>
                        <a:t>dup</a:t>
                      </a:r>
                      <a:r>
                        <a:rPr sz="1600" b="0" i="0">
                          <a:solidFill>
                            <a:srgbClr val="2B3A55"/>
                          </a:solidFill>
                          <a:latin typeface="+mn-lt"/>
                        </a:rPr>
                        <a:t> = (N − |unique(x)|) / N</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600" b="0" i="0">
                          <a:solidFill>
                            <a:srgbClr val="2B3A55"/>
                          </a:solidFill>
                          <a:latin typeface="+mn-lt"/>
                        </a:rPr>
                        <a:t>Pinned constants / watermarks</a:t>
                      </a:r>
                    </a:p>
                  </a:txBody>
                  <a:tcPr marL="73152" marR="73152" marT="27432" marB="27432" anchor="ctr">
                    <a:solidFill>
                      <a:srgbClr val="FFFFFF"/>
                    </a:solidFill>
                  </a:tcPr>
                </a:tc>
              </a:tr>
              <a:tr h="512064">
                <a:tc>
                  <a:txBody>
                    <a:bodyPr wrap="square"/>
                    <a:lstStyle/>
                    <a:p>
                      <a:pPr marL="0" indent="0">
                        <a:lnSpc>
                          <a:spcPct val="100000"/>
                        </a:lnSpc>
                        <a:spcBef>
                          <a:spcPts val="0"/>
                        </a:spcBef>
                        <a:spcAft>
                          <a:spcPts val="0"/>
                        </a:spcAft>
                        <a:buNone/>
                      </a:pPr>
                      <a:r>
                        <a:rPr sz="1600" b="1" i="0">
                          <a:solidFill>
                            <a:srgbClr val="2B3A55"/>
                          </a:solidFill>
                          <a:latin typeface="+mn-lt"/>
                        </a:rPr>
                        <a:t>Mantissa Bitplane Entropy</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H = −Σ P(u=b) log</a:t>
                      </a:r>
                      <a:r>
                        <a:rPr sz="1600" b="0" i="0" baseline="-25000">
                          <a:solidFill>
                            <a:srgbClr val="2B3A55"/>
                          </a:solidFill>
                          <a:latin typeface="+mn-lt"/>
                        </a:rPr>
                        <a:t>2</a:t>
                      </a:r>
                      <a:r>
                        <a:rPr sz="1600" b="0" i="0">
                          <a:solidFill>
                            <a:srgbClr val="2B3A55"/>
                          </a:solidFill>
                          <a:latin typeface="+mn-lt"/>
                        </a:rPr>
                        <a:t> P(u=b),  b = 0..255</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Steganography (H &gt; 7.95)</a:t>
                      </a:r>
                    </a:p>
                  </a:txBody>
                  <a:tcPr marL="73152" marR="73152" marT="27432" marB="27432" anchor="ctr">
                    <a:solidFill>
                      <a:srgbClr val="EAF3FA"/>
                    </a:solidFill>
                  </a:tcPr>
                </a:tc>
              </a:tr>
              <a:tr h="512064">
                <a:tc>
                  <a:txBody>
                    <a:bodyPr wrap="square"/>
                    <a:lstStyle/>
                    <a:p>
                      <a:pPr marL="0" indent="0">
                        <a:lnSpc>
                          <a:spcPct val="100000"/>
                        </a:lnSpc>
                        <a:spcBef>
                          <a:spcPts val="0"/>
                        </a:spcBef>
                        <a:spcAft>
                          <a:spcPts val="0"/>
                        </a:spcAft>
                        <a:buNone/>
                      </a:pPr>
                      <a:r>
                        <a:rPr sz="1600" b="1" i="0">
                          <a:solidFill>
                            <a:srgbClr val="2B3A55"/>
                          </a:solidFill>
                          <a:latin typeface="+mn-lt"/>
                        </a:rPr>
                        <a:t>Marchenko-Pastur Bulk Edge</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600" b="0" i="0">
                          <a:solidFill>
                            <a:srgbClr val="2B3A55"/>
                          </a:solidFill>
                          <a:latin typeface="+mn-lt"/>
                        </a:rPr>
                        <a:t>λ</a:t>
                      </a:r>
                      <a:r>
                        <a:rPr sz="1600" b="0" i="0" baseline="-25000">
                          <a:solidFill>
                            <a:srgbClr val="2B3A55"/>
                          </a:solidFill>
                          <a:latin typeface="+mn-lt"/>
                        </a:rPr>
                        <a:t>+</a:t>
                      </a:r>
                      <a:r>
                        <a:rPr sz="1600" b="0" i="0">
                          <a:solidFill>
                            <a:srgbClr val="2B3A55"/>
                          </a:solidFill>
                          <a:latin typeface="+mn-lt"/>
                        </a:rPr>
                        <a:t> = σ</a:t>
                      </a:r>
                      <a:r>
                        <a:rPr sz="1600" b="0" i="0" baseline="30000">
                          <a:solidFill>
                            <a:srgbClr val="2B3A55"/>
                          </a:solidFill>
                          <a:latin typeface="+mn-lt"/>
                        </a:rPr>
                        <a:t>2</a:t>
                      </a:r>
                      <a:r>
                        <a:rPr sz="1600" b="0" i="0" baseline="-25000">
                          <a:solidFill>
                            <a:srgbClr val="2B3A55"/>
                          </a:solidFill>
                          <a:latin typeface="+mn-lt"/>
                        </a:rPr>
                        <a:t>bulk</a:t>
                      </a:r>
                      <a:r>
                        <a:rPr sz="1600" b="0" i="0">
                          <a:solidFill>
                            <a:srgbClr val="2B3A55"/>
                          </a:solidFill>
                          <a:latin typeface="+mn-lt"/>
                        </a:rPr>
                        <a:t> (1 + √γ)</a:t>
                      </a:r>
                      <a:r>
                        <a:rPr sz="1600" b="0" i="0" baseline="30000">
                          <a:solidFill>
                            <a:srgbClr val="2B3A55"/>
                          </a:solidFill>
                          <a:latin typeface="+mn-lt"/>
                        </a:rPr>
                        <a:t>2</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600" b="0" i="0">
                          <a:solidFill>
                            <a:srgbClr val="2B3A55"/>
                          </a:solidFill>
                          <a:latin typeface="+mn-lt"/>
                        </a:rPr>
                        <a:t>Theoretical noise boundary</a:t>
                      </a:r>
                    </a:p>
                  </a:txBody>
                  <a:tcPr marL="73152" marR="73152" marT="27432" marB="27432" anchor="ctr">
                    <a:solidFill>
                      <a:srgbClr val="FFFFFF"/>
                    </a:solidFill>
                  </a:tcPr>
                </a:tc>
              </a:tr>
              <a:tr h="512064">
                <a:tc>
                  <a:txBody>
                    <a:bodyPr wrap="square"/>
                    <a:lstStyle/>
                    <a:p>
                      <a:pPr marL="0" indent="0">
                        <a:lnSpc>
                          <a:spcPct val="100000"/>
                        </a:lnSpc>
                        <a:spcBef>
                          <a:spcPts val="0"/>
                        </a:spcBef>
                        <a:spcAft>
                          <a:spcPts val="0"/>
                        </a:spcAft>
                        <a:buNone/>
                      </a:pPr>
                      <a:r>
                        <a:rPr sz="1600" b="1" i="0">
                          <a:solidFill>
                            <a:srgbClr val="2B3A55"/>
                          </a:solidFill>
                          <a:latin typeface="+mn-lt"/>
                        </a:rPr>
                        <a:t>BBP Spike Ratio</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Ratio = σ</a:t>
                      </a:r>
                      <a:r>
                        <a:rPr sz="1600" b="0" i="0" baseline="-25000">
                          <a:solidFill>
                            <a:srgbClr val="2B3A55"/>
                          </a:solidFill>
                          <a:latin typeface="+mn-lt"/>
                        </a:rPr>
                        <a:t>1</a:t>
                      </a:r>
                      <a:r>
                        <a:rPr sz="1600" b="0" i="0">
                          <a:solidFill>
                            <a:srgbClr val="2B3A55"/>
                          </a:solidFill>
                          <a:latin typeface="+mn-lt"/>
                        </a:rPr>
                        <a:t> / λ</a:t>
                      </a:r>
                      <a:r>
                        <a:rPr sz="1600" b="0" i="0" baseline="-25000">
                          <a:solidFill>
                            <a:srgbClr val="2B3A55"/>
                          </a:solidFill>
                          <a:latin typeface="+mn-lt"/>
                        </a:rPr>
                        <a:t>+</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Rank-1 Trojans (&gt; 1.25)</a:t>
                      </a:r>
                    </a:p>
                  </a:txBody>
                  <a:tcPr marL="73152" marR="73152" marT="27432" marB="27432" anchor="ctr">
                    <a:solidFill>
                      <a:srgbClr val="EAF3FA"/>
                    </a:solidFill>
                  </a:tcPr>
                </a:tc>
              </a:tr>
              <a:tr h="512064">
                <a:tc>
                  <a:txBody>
                    <a:bodyPr wrap="square"/>
                    <a:lstStyle/>
                    <a:p>
                      <a:pPr marL="0" indent="0">
                        <a:lnSpc>
                          <a:spcPct val="100000"/>
                        </a:lnSpc>
                        <a:spcBef>
                          <a:spcPts val="0"/>
                        </a:spcBef>
                        <a:spcAft>
                          <a:spcPts val="0"/>
                        </a:spcAft>
                        <a:buNone/>
                      </a:pPr>
                      <a:r>
                        <a:rPr sz="1600" b="1" i="0">
                          <a:solidFill>
                            <a:srgbClr val="2B3A55"/>
                          </a:solidFill>
                          <a:latin typeface="+mn-lt"/>
                        </a:rPr>
                        <a:t>ESD Power-Law Alpha</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600" b="0" i="0">
                          <a:solidFill>
                            <a:srgbClr val="2B3A55"/>
                          </a:solidFill>
                          <a:latin typeface="+mn-lt"/>
                        </a:rPr>
                        <a:t>p(s) ∝ s</a:t>
                      </a:r>
                      <a:r>
                        <a:rPr sz="1600" b="0" i="0" baseline="30000">
                          <a:solidFill>
                            <a:srgbClr val="2B3A55"/>
                          </a:solidFill>
                          <a:latin typeface="+mn-lt"/>
                        </a:rPr>
                        <a:t>−α</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600" b="0" i="0">
                          <a:solidFill>
                            <a:srgbClr val="2B3A55"/>
                          </a:solidFill>
                          <a:latin typeface="+mn-lt"/>
                        </a:rPr>
                        <a:t>Rank collapse (α &lt; 1.8)</a:t>
                      </a:r>
                    </a:p>
                  </a:txBody>
                  <a:tcPr marL="73152" marR="73152" marT="27432" marB="27432" anchor="ctr">
                    <a:solidFill>
                      <a:srgbClr val="FFFFFF"/>
                    </a:solidFill>
                  </a:tcPr>
                </a:tc>
              </a:tr>
              <a:tr h="512064">
                <a:tc>
                  <a:txBody>
                    <a:bodyPr wrap="square"/>
                    <a:lstStyle/>
                    <a:p>
                      <a:pPr marL="0" indent="0">
                        <a:lnSpc>
                          <a:spcPct val="100000"/>
                        </a:lnSpc>
                        <a:spcBef>
                          <a:spcPts val="0"/>
                        </a:spcBef>
                        <a:spcAft>
                          <a:spcPts val="0"/>
                        </a:spcAft>
                        <a:buNone/>
                      </a:pPr>
                      <a:r>
                        <a:rPr sz="1600" b="1" i="0">
                          <a:solidFill>
                            <a:srgbClr val="2B3A55"/>
                          </a:solidFill>
                          <a:latin typeface="+mn-lt"/>
                        </a:rPr>
                        <a:t>LSE-MIL Pooling</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F(S) = S</a:t>
                      </a:r>
                      <a:r>
                        <a:rPr sz="1600" b="0" i="0" baseline="-25000">
                          <a:solidFill>
                            <a:srgbClr val="2B3A55"/>
                          </a:solidFill>
                          <a:latin typeface="+mn-lt"/>
                        </a:rPr>
                        <a:t>max</a:t>
                      </a:r>
                      <a:r>
                        <a:rPr sz="1600" b="0" i="0">
                          <a:solidFill>
                            <a:srgbClr val="2B3A55"/>
                          </a:solidFill>
                          <a:latin typeface="+mn-lt"/>
                        </a:rPr>
                        <a:t> + (1/τ) ln((1/K) Σ exp(τ(s</a:t>
                      </a:r>
                      <a:r>
                        <a:rPr sz="1600" b="0" i="0" baseline="-25000">
                          <a:solidFill>
                            <a:srgbClr val="2B3A55"/>
                          </a:solidFill>
                          <a:latin typeface="+mn-lt"/>
                        </a:rPr>
                        <a:t>i</a:t>
                      </a:r>
                      <a:r>
                        <a:rPr sz="1600" b="0" i="0">
                          <a:solidFill>
                            <a:srgbClr val="2B3A55"/>
                          </a:solidFill>
                          <a:latin typeface="+mn-lt"/>
                        </a:rPr>
                        <a:t> − S</a:t>
                      </a:r>
                      <a:r>
                        <a:rPr sz="1600" b="0" i="0" baseline="-25000">
                          <a:solidFill>
                            <a:srgbClr val="2B3A55"/>
                          </a:solidFill>
                          <a:latin typeface="+mn-lt"/>
                        </a:rPr>
                        <a:t>max</a:t>
                      </a:r>
                      <a:r>
                        <a:rPr sz="1600" b="0" i="0">
                          <a:solidFill>
                            <a:srgbClr val="2B3A55"/>
                          </a:solidFill>
                          <a:latin typeface="+mn-lt"/>
                        </a:rPr>
                        <a:t>))),  τ = 6.0</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Anti-dilution</a:t>
                      </a:r>
                    </a:p>
                  </a:txBody>
                  <a:tcPr marL="73152" marR="73152" marT="27432" marB="27432" anchor="ctr">
                    <a:solidFill>
                      <a:srgbClr val="EAF3FA"/>
                    </a:solidFill>
                  </a:tcPr>
                </a:tc>
              </a:tr>
              <a:tr h="512064">
                <a:tc>
                  <a:txBody>
                    <a:bodyPr wrap="square"/>
                    <a:lstStyle/>
                    <a:p>
                      <a:pPr marL="0" indent="0">
                        <a:lnSpc>
                          <a:spcPct val="100000"/>
                        </a:lnSpc>
                        <a:spcBef>
                          <a:spcPts val="0"/>
                        </a:spcBef>
                        <a:spcAft>
                          <a:spcPts val="0"/>
                        </a:spcAft>
                        <a:buNone/>
                      </a:pPr>
                      <a:r>
                        <a:rPr sz="1600" b="1" i="0">
                          <a:solidFill>
                            <a:srgbClr val="2B3A55"/>
                          </a:solidFill>
                          <a:latin typeface="+mn-lt"/>
                        </a:rPr>
                        <a:t>Rank-1 SVD Deflation</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600" b="0" i="0">
                          <a:solidFill>
                            <a:srgbClr val="2B3A55"/>
                          </a:solidFill>
                          <a:latin typeface="+mn-lt"/>
                        </a:rPr>
                        <a:t>W</a:t>
                      </a:r>
                      <a:r>
                        <a:rPr sz="1600" b="0" i="0" baseline="-25000">
                          <a:solidFill>
                            <a:srgbClr val="2B3A55"/>
                          </a:solidFill>
                          <a:latin typeface="+mn-lt"/>
                        </a:rPr>
                        <a:t>cleansed</a:t>
                      </a:r>
                      <a:r>
                        <a:rPr sz="1600" b="0" i="0">
                          <a:solidFill>
                            <a:srgbClr val="2B3A55"/>
                          </a:solidFill>
                          <a:latin typeface="+mn-lt"/>
                        </a:rPr>
                        <a:t> = W − σ</a:t>
                      </a:r>
                      <a:r>
                        <a:rPr sz="1600" b="0" i="0" baseline="-25000">
                          <a:solidFill>
                            <a:srgbClr val="2B3A55"/>
                          </a:solidFill>
                          <a:latin typeface="+mn-lt"/>
                        </a:rPr>
                        <a:t>1</a:t>
                      </a:r>
                      <a:r>
                        <a:rPr sz="1600" b="0" i="0">
                          <a:solidFill>
                            <a:srgbClr val="2B3A55"/>
                          </a:solidFill>
                          <a:latin typeface="+mn-lt"/>
                        </a:rPr>
                        <a:t> u</a:t>
                      </a:r>
                      <a:r>
                        <a:rPr sz="1600" b="0" i="0" baseline="-25000">
                          <a:solidFill>
                            <a:srgbClr val="2B3A55"/>
                          </a:solidFill>
                          <a:latin typeface="+mn-lt"/>
                        </a:rPr>
                        <a:t>1</a:t>
                      </a:r>
                      <a:r>
                        <a:rPr sz="1600" b="0" i="0">
                          <a:solidFill>
                            <a:srgbClr val="2B3A55"/>
                          </a:solidFill>
                          <a:latin typeface="+mn-lt"/>
                        </a:rPr>
                        <a:t> v</a:t>
                      </a:r>
                      <a:r>
                        <a:rPr sz="1600" b="0" i="0" baseline="-25000">
                          <a:solidFill>
                            <a:srgbClr val="2B3A55"/>
                          </a:solidFill>
                          <a:latin typeface="+mn-lt"/>
                        </a:rPr>
                        <a:t>1</a:t>
                      </a:r>
                      <a:r>
                        <a:rPr sz="1600" b="0" i="0" baseline="30000">
                          <a:solidFill>
                            <a:srgbClr val="2B3A55"/>
                          </a:solidFill>
                          <a:latin typeface="+mn-lt"/>
                        </a:rPr>
                        <a:t>T</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600" b="0" i="0">
                          <a:solidFill>
                            <a:srgbClr val="2B3A55"/>
                          </a:solidFill>
                          <a:latin typeface="+mn-lt"/>
                        </a:rPr>
                        <a:t>Surgical remediation</a:t>
                      </a:r>
                    </a:p>
                  </a:txBody>
                  <a:tcPr marL="73152" marR="73152" marT="27432" marB="27432" anchor="ctr">
                    <a:solidFill>
                      <a:srgbClr val="FFFFFF"/>
                    </a:solidFill>
                  </a:tcPr>
                </a:tc>
              </a:tr>
            </a:tbl>
          </a:graphicData>
        </a:graphic>
      </p:graphicFrame>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Software Stack, ML Model &amp; Decision Policy</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8728074"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graphicFrame>
        <p:nvGraphicFramePr>
          <p:cNvPr id="6" name="Stack table"/>
          <p:cNvGraphicFramePr>
            <a:graphicFrameLocks noGrp="1"/>
          </p:cNvGraphicFramePr>
          <p:nvPr/>
        </p:nvGraphicFramePr>
        <p:xfrm>
          <a:off x="320040" y="1280160"/>
          <a:ext cx="5760720" cy="4160520"/>
        </p:xfrm>
        <a:graphic>
          <a:graphicData uri="http://schemas.openxmlformats.org/drawingml/2006/table">
            <a:tbl>
              <a:tblPr firstRow="1" bandRow="1">
                <a:tableStyleId>{5C22544A-7EE6-4342-B048-85BDC9FD1C3A}</a:tableStyleId>
              </a:tblPr>
              <a:tblGrid>
                <a:gridCol w="1737360"/>
                <a:gridCol w="4023360"/>
              </a:tblGrid>
              <a:tr h="594360">
                <a:tc>
                  <a:txBody>
                    <a:bodyPr wrap="square"/>
                    <a:lstStyle/>
                    <a:p>
                      <a:pPr marL="0" indent="0">
                        <a:lnSpc>
                          <a:spcPct val="100000"/>
                        </a:lnSpc>
                        <a:spcBef>
                          <a:spcPts val="0"/>
                        </a:spcBef>
                        <a:spcAft>
                          <a:spcPts val="0"/>
                        </a:spcAft>
                        <a:buNone/>
                      </a:pPr>
                      <a:r>
                        <a:rPr sz="1500" b="1" i="0">
                          <a:solidFill>
                            <a:srgbClr val="FFFFFF"/>
                          </a:solidFill>
                          <a:latin typeface="+mn-lt"/>
                        </a:rPr>
                        <a:t>Layer</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500" b="1" i="0">
                          <a:solidFill>
                            <a:srgbClr val="FFFFFF"/>
                          </a:solidFill>
                          <a:latin typeface="+mn-lt"/>
                        </a:rPr>
                        <a:t>Technology</a:t>
                      </a:r>
                    </a:p>
                  </a:txBody>
                  <a:tcPr marL="73152" marR="73152" marT="27432" marB="27432" anchor="ctr">
                    <a:solidFill>
                      <a:srgbClr val="1F4E79"/>
                    </a:solidFill>
                  </a:tcPr>
                </a:tc>
              </a:tr>
              <a:tr h="594360">
                <a:tc>
                  <a:txBody>
                    <a:bodyPr wrap="square"/>
                    <a:lstStyle/>
                    <a:p>
                      <a:pPr marL="0" indent="0">
                        <a:lnSpc>
                          <a:spcPct val="100000"/>
                        </a:lnSpc>
                        <a:spcBef>
                          <a:spcPts val="0"/>
                        </a:spcBef>
                        <a:spcAft>
                          <a:spcPts val="0"/>
                        </a:spcAft>
                        <a:buNone/>
                      </a:pPr>
                      <a:r>
                        <a:rPr sz="1500" b="1" i="0">
                          <a:solidFill>
                            <a:srgbClr val="2B3A55"/>
                          </a:solidFill>
                          <a:latin typeface="+mn-lt"/>
                        </a:rPr>
                        <a:t>Core computing</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500" b="0" i="0">
                          <a:solidFill>
                            <a:srgbClr val="2B3A55"/>
                          </a:solidFill>
                          <a:latin typeface="+mn-lt"/>
                        </a:rPr>
                        <a:t>Python 3.9+, NumPy, SciPy, Scikit-learn, SafeTensors</a:t>
                      </a:r>
                    </a:p>
                  </a:txBody>
                  <a:tcPr marL="73152" marR="73152" marT="27432" marB="27432" anchor="ctr">
                    <a:solidFill>
                      <a:srgbClr val="EAF3FA"/>
                    </a:solidFill>
                  </a:tcPr>
                </a:tc>
              </a:tr>
              <a:tr h="594360">
                <a:tc>
                  <a:txBody>
                    <a:bodyPr wrap="square"/>
                    <a:lstStyle/>
                    <a:p>
                      <a:pPr marL="0" indent="0">
                        <a:lnSpc>
                          <a:spcPct val="100000"/>
                        </a:lnSpc>
                        <a:spcBef>
                          <a:spcPts val="0"/>
                        </a:spcBef>
                        <a:spcAft>
                          <a:spcPts val="0"/>
                        </a:spcAft>
                        <a:buNone/>
                      </a:pPr>
                      <a:r>
                        <a:rPr sz="1500" b="1" i="0">
                          <a:solidFill>
                            <a:srgbClr val="2B3A55"/>
                          </a:solidFill>
                          <a:latin typeface="+mn-lt"/>
                        </a:rPr>
                        <a:t>CLI</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500" b="0" i="0">
                          <a:solidFill>
                            <a:srgbClr val="2B3A55"/>
                          </a:solidFill>
                          <a:latin typeface="+mn-lt"/>
                        </a:rPr>
                        <a:t>Typer, Rich (formatting, progress bars, exit codes)</a:t>
                      </a:r>
                    </a:p>
                  </a:txBody>
                  <a:tcPr marL="73152" marR="73152" marT="27432" marB="27432" anchor="ctr">
                    <a:solidFill>
                      <a:srgbClr val="FFFFFF"/>
                    </a:solidFill>
                  </a:tcPr>
                </a:tc>
              </a:tr>
              <a:tr h="594360">
                <a:tc>
                  <a:txBody>
                    <a:bodyPr wrap="square"/>
                    <a:lstStyle/>
                    <a:p>
                      <a:pPr marL="0" indent="0">
                        <a:lnSpc>
                          <a:spcPct val="100000"/>
                        </a:lnSpc>
                        <a:spcBef>
                          <a:spcPts val="0"/>
                        </a:spcBef>
                        <a:spcAft>
                          <a:spcPts val="0"/>
                        </a:spcAft>
                        <a:buNone/>
                      </a:pPr>
                      <a:r>
                        <a:rPr sz="1500" b="1" i="0">
                          <a:solidFill>
                            <a:srgbClr val="2B3A55"/>
                          </a:solidFill>
                          <a:latin typeface="+mn-lt"/>
                        </a:rPr>
                        <a:t>API microservice</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500" b="0" i="0">
                          <a:solidFill>
                            <a:srgbClr val="2B3A55"/>
                          </a:solidFill>
                          <a:latin typeface="+mn-lt"/>
                        </a:rPr>
                        <a:t>FastAPI, Uvicorn, Pydantic v2</a:t>
                      </a:r>
                    </a:p>
                  </a:txBody>
                  <a:tcPr marL="73152" marR="73152" marT="27432" marB="27432" anchor="ctr">
                    <a:solidFill>
                      <a:srgbClr val="EAF3FA"/>
                    </a:solidFill>
                  </a:tcPr>
                </a:tc>
              </a:tr>
              <a:tr h="594360">
                <a:tc>
                  <a:txBody>
                    <a:bodyPr wrap="square"/>
                    <a:lstStyle/>
                    <a:p>
                      <a:pPr marL="0" indent="0">
                        <a:lnSpc>
                          <a:spcPct val="100000"/>
                        </a:lnSpc>
                        <a:spcBef>
                          <a:spcPts val="0"/>
                        </a:spcBef>
                        <a:spcAft>
                          <a:spcPts val="0"/>
                        </a:spcAft>
                        <a:buNone/>
                      </a:pPr>
                      <a:r>
                        <a:rPr sz="1500" b="1" i="0">
                          <a:solidFill>
                            <a:srgbClr val="2B3A55"/>
                          </a:solidFill>
                          <a:latin typeface="+mn-lt"/>
                        </a:rPr>
                        <a:t>Web UI</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500" b="0" i="0">
                          <a:solidFill>
                            <a:srgbClr val="2B3A55"/>
                          </a:solidFill>
                          <a:latin typeface="+mn-lt"/>
                        </a:rPr>
                        <a:t>Streamlit (interactive dashboard)</a:t>
                      </a:r>
                    </a:p>
                  </a:txBody>
                  <a:tcPr marL="73152" marR="73152" marT="27432" marB="27432" anchor="ctr">
                    <a:solidFill>
                      <a:srgbClr val="FFFFFF"/>
                    </a:solidFill>
                  </a:tcPr>
                </a:tc>
              </a:tr>
              <a:tr h="594360">
                <a:tc>
                  <a:txBody>
                    <a:bodyPr wrap="square"/>
                    <a:lstStyle/>
                    <a:p>
                      <a:pPr marL="0" indent="0">
                        <a:lnSpc>
                          <a:spcPct val="100000"/>
                        </a:lnSpc>
                        <a:spcBef>
                          <a:spcPts val="0"/>
                        </a:spcBef>
                        <a:spcAft>
                          <a:spcPts val="0"/>
                        </a:spcAft>
                        <a:buNone/>
                      </a:pPr>
                      <a:r>
                        <a:rPr sz="1500" b="1" i="0">
                          <a:solidFill>
                            <a:srgbClr val="2B3A55"/>
                          </a:solidFill>
                          <a:latin typeface="+mn-lt"/>
                        </a:rPr>
                        <a:t>DevOps &amp; agents</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500" b="0" i="0">
                          <a:solidFill>
                            <a:srgbClr val="2B3A55"/>
                          </a:solidFill>
                          <a:latin typeface="+mn-lt"/>
                        </a:rPr>
                        <a:t>MCP, Docker, Docker Compose, Hatchling</a:t>
                      </a:r>
                    </a:p>
                  </a:txBody>
                  <a:tcPr marL="73152" marR="73152" marT="27432" marB="27432" anchor="ctr">
                    <a:solidFill>
                      <a:srgbClr val="EAF3FA"/>
                    </a:solidFill>
                  </a:tcPr>
                </a:tc>
              </a:tr>
              <a:tr h="594360">
                <a:tc>
                  <a:txBody>
                    <a:bodyPr wrap="square"/>
                    <a:lstStyle/>
                    <a:p>
                      <a:pPr marL="0" indent="0">
                        <a:lnSpc>
                          <a:spcPct val="100000"/>
                        </a:lnSpc>
                        <a:spcBef>
                          <a:spcPts val="0"/>
                        </a:spcBef>
                        <a:spcAft>
                          <a:spcPts val="0"/>
                        </a:spcAft>
                        <a:buNone/>
                      </a:pPr>
                      <a:r>
                        <a:rPr sz="1500" b="1" i="0">
                          <a:solidFill>
                            <a:srgbClr val="2B3A55"/>
                          </a:solidFill>
                          <a:latin typeface="+mn-lt"/>
                        </a:rPr>
                        <a:t>Testing</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500" b="0" i="0">
                          <a:solidFill>
                            <a:srgbClr val="2B3A55"/>
                          </a:solidFill>
                          <a:latin typeface="+mn-lt"/>
                        </a:rPr>
                        <a:t>pytest, 26 tests across 7 modules</a:t>
                      </a:r>
                    </a:p>
                  </a:txBody>
                  <a:tcPr marL="73152" marR="73152" marT="27432" marB="27432" anchor="ctr">
                    <a:solidFill>
                      <a:srgbClr val="FFFFFF"/>
                    </a:solidFill>
                  </a:tcPr>
                </a:tc>
              </a:tr>
            </a:tbl>
          </a:graphicData>
        </a:graphic>
      </p:graphicFrame>
      <p:sp>
        <p:nvSpPr>
          <p:cNvPr id="7" name="TextBox 6"/>
          <p:cNvSpPr txBox="1"/>
          <p:nvPr/>
        </p:nvSpPr>
        <p:spPr>
          <a:xfrm>
            <a:off x="6355080" y="1234440"/>
            <a:ext cx="5486400" cy="365760"/>
          </a:xfrm>
          <a:prstGeom prst="rect">
            <a:avLst/>
          </a:prstGeom>
          <a:noFill/>
        </p:spPr>
        <p:txBody>
          <a:bodyPr wrap="square" anchor="t">
            <a:spAutoFit/>
          </a:bodyPr>
          <a:lstStyle/>
          <a:p>
            <a:pPr marL="0" indent="0" algn="l">
              <a:lnSpc>
                <a:spcPct val="100000"/>
              </a:lnSpc>
              <a:spcBef>
                <a:spcPts val="0"/>
              </a:spcBef>
              <a:spcAft>
                <a:spcPts val="0"/>
              </a:spcAft>
              <a:buNone/>
            </a:pPr>
            <a:r>
              <a:rPr sz="1800" b="1" i="0">
                <a:solidFill>
                  <a:srgbClr val="1F4E79"/>
                </a:solidFill>
                <a:latin typeface="+mn-lt"/>
              </a:rPr>
              <a:t>Decision policy</a:t>
            </a:r>
          </a:p>
        </p:txBody>
      </p:sp>
      <p:graphicFrame>
        <p:nvGraphicFramePr>
          <p:cNvPr id="8" name="Decision table"/>
          <p:cNvGraphicFramePr>
            <a:graphicFrameLocks noGrp="1"/>
          </p:cNvGraphicFramePr>
          <p:nvPr/>
        </p:nvGraphicFramePr>
        <p:xfrm>
          <a:off x="6355080" y="1645920"/>
          <a:ext cx="5486400" cy="2514600"/>
        </p:xfrm>
        <a:graphic>
          <a:graphicData uri="http://schemas.openxmlformats.org/drawingml/2006/table">
            <a:tbl>
              <a:tblPr firstRow="1" bandRow="1">
                <a:tableStyleId>{5C22544A-7EE6-4342-B048-85BDC9FD1C3A}</a:tableStyleId>
              </a:tblPr>
              <a:tblGrid>
                <a:gridCol w="1737360"/>
                <a:gridCol w="1828800"/>
                <a:gridCol w="1920240"/>
              </a:tblGrid>
              <a:tr h="502920">
                <a:tc>
                  <a:txBody>
                    <a:bodyPr wrap="square"/>
                    <a:lstStyle/>
                    <a:p>
                      <a:pPr marL="0" indent="0">
                        <a:lnSpc>
                          <a:spcPct val="100000"/>
                        </a:lnSpc>
                        <a:spcBef>
                          <a:spcPts val="0"/>
                        </a:spcBef>
                        <a:spcAft>
                          <a:spcPts val="0"/>
                        </a:spcAft>
                        <a:buNone/>
                      </a:pPr>
                      <a:r>
                        <a:rPr sz="1400" b="1" i="0">
                          <a:solidFill>
                            <a:srgbClr val="FFFFFF"/>
                          </a:solidFill>
                          <a:latin typeface="+mn-lt"/>
                        </a:rPr>
                        <a:t>Risk range</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Verdict</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Action</a:t>
                      </a:r>
                    </a:p>
                  </a:txBody>
                  <a:tcPr marL="73152" marR="73152" marT="27432" marB="27432" anchor="ctr">
                    <a:solidFill>
                      <a:srgbClr val="1F4E79"/>
                    </a:solidFill>
                  </a:tcPr>
                </a:tc>
              </a:tr>
              <a:tr h="502920">
                <a:tc>
                  <a:txBody>
                    <a:bodyPr wrap="square"/>
                    <a:lstStyle/>
                    <a:p>
                      <a:pPr marL="0" indent="0">
                        <a:lnSpc>
                          <a:spcPct val="100000"/>
                        </a:lnSpc>
                        <a:spcBef>
                          <a:spcPts val="0"/>
                        </a:spcBef>
                        <a:spcAft>
                          <a:spcPts val="0"/>
                        </a:spcAft>
                        <a:buNone/>
                      </a:pPr>
                      <a:r>
                        <a:rPr sz="1400" b="1" i="0">
                          <a:solidFill>
                            <a:srgbClr val="2B3A55"/>
                          </a:solidFill>
                          <a:latin typeface="+mn-lt"/>
                        </a:rPr>
                        <a:t>&lt; 0.30</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ALLOW</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CI/CD passes</a:t>
                      </a:r>
                    </a:p>
                  </a:txBody>
                  <a:tcPr marL="73152" marR="73152" marT="27432" marB="27432" anchor="ctr">
                    <a:solidFill>
                      <a:srgbClr val="EAF3FA"/>
                    </a:solidFill>
                  </a:tcPr>
                </a:tc>
              </a:tr>
              <a:tr h="502920">
                <a:tc>
                  <a:txBody>
                    <a:bodyPr wrap="square"/>
                    <a:lstStyle/>
                    <a:p>
                      <a:pPr marL="0" indent="0">
                        <a:lnSpc>
                          <a:spcPct val="100000"/>
                        </a:lnSpc>
                        <a:spcBef>
                          <a:spcPts val="0"/>
                        </a:spcBef>
                        <a:spcAft>
                          <a:spcPts val="0"/>
                        </a:spcAft>
                        <a:buNone/>
                      </a:pPr>
                      <a:r>
                        <a:rPr sz="1400" b="1" i="0">
                          <a:solidFill>
                            <a:srgbClr val="2B3A55"/>
                          </a:solidFill>
                          <a:latin typeface="+mn-lt"/>
                        </a:rPr>
                        <a:t>0.30 – 0.70</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REVIEW</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Manual security sign-off</a:t>
                      </a:r>
                    </a:p>
                  </a:txBody>
                  <a:tcPr marL="73152" marR="73152" marT="27432" marB="27432" anchor="ctr">
                    <a:solidFill>
                      <a:srgbClr val="FFFFFF"/>
                    </a:solidFill>
                  </a:tcPr>
                </a:tc>
              </a:tr>
              <a:tr h="502920">
                <a:tc>
                  <a:txBody>
                    <a:bodyPr wrap="square"/>
                    <a:lstStyle/>
                    <a:p>
                      <a:pPr marL="0" indent="0">
                        <a:lnSpc>
                          <a:spcPct val="100000"/>
                        </a:lnSpc>
                        <a:spcBef>
                          <a:spcPts val="0"/>
                        </a:spcBef>
                        <a:spcAft>
                          <a:spcPts val="0"/>
                        </a:spcAft>
                        <a:buNone/>
                      </a:pPr>
                      <a:r>
                        <a:rPr sz="1400" b="1" i="0">
                          <a:solidFill>
                            <a:srgbClr val="2B3A55"/>
                          </a:solidFill>
                          <a:latin typeface="+mn-lt"/>
                        </a:rPr>
                        <a:t>≥ 0.70</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QUARANTINE</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CI/CD build breaks</a:t>
                      </a:r>
                    </a:p>
                  </a:txBody>
                  <a:tcPr marL="73152" marR="73152" marT="27432" marB="27432" anchor="ctr">
                    <a:solidFill>
                      <a:srgbClr val="EAF3FA"/>
                    </a:solidFill>
                  </a:tcPr>
                </a:tc>
              </a:tr>
              <a:tr h="502920">
                <a:tc>
                  <a:txBody>
                    <a:bodyPr wrap="square"/>
                    <a:lstStyle/>
                    <a:p>
                      <a:pPr marL="0" indent="0">
                        <a:lnSpc>
                          <a:spcPct val="100000"/>
                        </a:lnSpc>
                        <a:spcBef>
                          <a:spcPts val="0"/>
                        </a:spcBef>
                        <a:spcAft>
                          <a:spcPts val="0"/>
                        </a:spcAft>
                        <a:buNone/>
                      </a:pPr>
                      <a:r>
                        <a:rPr sz="1400" b="1" i="0">
                          <a:solidFill>
                            <a:srgbClr val="2B3A55"/>
                          </a:solidFill>
                          <a:latin typeface="+mn-lt"/>
                        </a:rPr>
                        <a:t>Worst tensor ≥ 0.95</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Hard override → QUARANTINE</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Immediate block</a:t>
                      </a:r>
                    </a:p>
                  </a:txBody>
                  <a:tcPr marL="73152" marR="73152" marT="27432" marB="27432" anchor="ctr">
                    <a:solidFill>
                      <a:srgbClr val="FFFFFF"/>
                    </a:solidFill>
                  </a:tcPr>
                </a:tc>
              </a:tr>
            </a:tbl>
          </a:graphicData>
        </a:graphic>
      </p:graphicFrame>
      <p:sp>
        <p:nvSpPr>
          <p:cNvPr id="9" name="ML card"/>
          <p:cNvSpPr/>
          <p:nvPr/>
        </p:nvSpPr>
        <p:spPr>
          <a:xfrm>
            <a:off x="6355080" y="4343400"/>
            <a:ext cx="5486400" cy="137160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400" b="1" i="0">
                <a:solidFill>
                  <a:srgbClr val="2B3A55"/>
                </a:solidFill>
                <a:latin typeface="+mn-lt"/>
              </a:rPr>
              <a:t>Machine-learning model</a:t>
            </a:r>
          </a:p>
          <a:p>
            <a:pPr marL="0" indent="0" algn="l">
              <a:lnSpc>
                <a:spcPct val="100000"/>
              </a:lnSpc>
              <a:spcBef>
                <a:spcPts val="0"/>
              </a:spcBef>
              <a:spcAft>
                <a:spcPts val="0"/>
              </a:spcAft>
              <a:buNone/>
            </a:pPr>
            <a:r>
              <a:rPr sz="1400" b="0" i="0">
                <a:solidFill>
                  <a:srgbClr val="2B3A55"/>
                </a:solidFill>
                <a:latin typeface="+mn-lt"/>
              </a:rPr>
              <a:t>StandardScaler + Balanced Logistic Regression on a 28-dim vector (16 distributional + 12 spectral).</a:t>
            </a:r>
          </a:p>
          <a:p>
            <a:pPr marL="0" indent="0" algn="l">
              <a:lnSpc>
                <a:spcPct val="100000"/>
              </a:lnSpc>
              <a:spcBef>
                <a:spcPts val="0"/>
              </a:spcBef>
              <a:spcAft>
                <a:spcPts val="0"/>
              </a:spcAft>
              <a:buNone/>
            </a:pPr>
            <a:r>
              <a:rPr sz="1400" b="0" i="0">
                <a:solidFill>
                  <a:srgbClr val="2B3A55"/>
                </a:solidFill>
                <a:latin typeface="+mn-lt"/>
              </a:rPr>
              <a:t>Why: auditable coefficients, sample-efficient for 200 models, microsecond inference.</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1521440" cy="646331"/>
          </a:xfrm>
          <a:prstGeom prst="rect">
            <a:avLst/>
          </a:prstGeom>
          <a:noFill/>
        </p:spPr>
        <p:txBody>
          <a:bodyPr wrap="square" rtlCol="0">
            <a:spAutoFit/>
          </a:bodyPr>
          <a:lstStyle/>
          <a:p>
            <a:pPr lvl="0">
              <a:defRPr/>
            </a:pPr>
            <a:r>
              <a:rPr lang="en-US" sz="3600" b="1" dirty="0">
                <a:solidFill>
                  <a:srgbClr val="5B9BD5">
                    <a:lumMod val="50000"/>
                  </a:srgbClr>
                </a:solidFill>
              </a:rPr>
              <a:t>Results: Cross-Validation (15 Folds, 200 Models)</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943219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graphicFrame>
        <p:nvGraphicFramePr>
          <p:cNvPr id="6" name="CV table"/>
          <p:cNvGraphicFramePr>
            <a:graphicFrameLocks noGrp="1"/>
          </p:cNvGraphicFramePr>
          <p:nvPr/>
        </p:nvGraphicFramePr>
        <p:xfrm>
          <a:off x="320040" y="1280160"/>
          <a:ext cx="11338560" cy="1828800"/>
        </p:xfrm>
        <a:graphic>
          <a:graphicData uri="http://schemas.openxmlformats.org/drawingml/2006/table">
            <a:tbl>
              <a:tblPr firstRow="1" bandRow="1">
                <a:tableStyleId>{5C22544A-7EE6-4342-B048-85BDC9FD1C3A}</a:tableStyleId>
              </a:tblPr>
              <a:tblGrid>
                <a:gridCol w="3291840"/>
                <a:gridCol w="1280160"/>
                <a:gridCol w="2377440"/>
                <a:gridCol w="2377440"/>
                <a:gridCol w="2011680"/>
              </a:tblGrid>
              <a:tr h="457200">
                <a:tc>
                  <a:txBody>
                    <a:bodyPr wrap="square"/>
                    <a:lstStyle/>
                    <a:p>
                      <a:pPr marL="0" indent="0">
                        <a:lnSpc>
                          <a:spcPct val="100000"/>
                        </a:lnSpc>
                        <a:spcBef>
                          <a:spcPts val="0"/>
                        </a:spcBef>
                        <a:spcAft>
                          <a:spcPts val="0"/>
                        </a:spcAft>
                        <a:buNone/>
                      </a:pPr>
                      <a:r>
                        <a:rPr sz="1600" b="1" i="0">
                          <a:solidFill>
                            <a:srgbClr val="FFFFFF"/>
                          </a:solidFill>
                          <a:latin typeface="+mn-lt"/>
                        </a:rPr>
                        <a:t>Feature family</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600" b="1" i="0">
                          <a:solidFill>
                            <a:srgbClr val="FFFFFF"/>
                          </a:solidFill>
                          <a:latin typeface="+mn-lt"/>
                        </a:rPr>
                        <a:t>Dim.</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600" b="1" i="0">
                          <a:solidFill>
                            <a:srgbClr val="FFFFFF"/>
                          </a:solidFill>
                          <a:latin typeface="+mn-lt"/>
                        </a:rPr>
                        <a:t>Accuracy</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600" b="1" i="0">
                          <a:solidFill>
                            <a:srgbClr val="FFFFFF"/>
                          </a:solidFill>
                          <a:latin typeface="+mn-lt"/>
                        </a:rPr>
                        <a:t>ROC-AUC</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600" b="1" i="0">
                          <a:solidFill>
                            <a:srgbClr val="FFFFFF"/>
                          </a:solidFill>
                          <a:latin typeface="+mn-lt"/>
                        </a:rPr>
                        <a:t>False quarantine</a:t>
                      </a:r>
                    </a:p>
                  </a:txBody>
                  <a:tcPr marL="73152" marR="73152" marT="27432" marB="27432" anchor="ctr">
                    <a:solidFill>
                      <a:srgbClr val="1F4E79"/>
                    </a:solidFill>
                  </a:tcPr>
                </a:tc>
              </a:tr>
              <a:tr h="457200">
                <a:tc>
                  <a:txBody>
                    <a:bodyPr wrap="square"/>
                    <a:lstStyle/>
                    <a:p>
                      <a:pPr marL="0" indent="0">
                        <a:lnSpc>
                          <a:spcPct val="100000"/>
                        </a:lnSpc>
                        <a:spcBef>
                          <a:spcPts val="0"/>
                        </a:spcBef>
                        <a:spcAft>
                          <a:spcPts val="0"/>
                        </a:spcAft>
                        <a:buNone/>
                      </a:pPr>
                      <a:r>
                        <a:rPr sz="1600" b="1" i="0">
                          <a:solidFill>
                            <a:srgbClr val="2B3A55"/>
                          </a:solidFill>
                          <a:latin typeface="+mn-lt"/>
                        </a:rPr>
                        <a:t>Distributional alone</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16</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0.900 ± 0.050</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0.947 ± 0.036</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0.0%</a:t>
                      </a:r>
                    </a:p>
                  </a:txBody>
                  <a:tcPr marL="73152" marR="73152" marT="27432" marB="27432" anchor="ctr">
                    <a:solidFill>
                      <a:srgbClr val="EAF3FA"/>
                    </a:solidFill>
                  </a:tcPr>
                </a:tc>
              </a:tr>
              <a:tr h="457200">
                <a:tc>
                  <a:txBody>
                    <a:bodyPr wrap="square"/>
                    <a:lstStyle/>
                    <a:p>
                      <a:pPr marL="0" indent="0">
                        <a:lnSpc>
                          <a:spcPct val="100000"/>
                        </a:lnSpc>
                        <a:spcBef>
                          <a:spcPts val="0"/>
                        </a:spcBef>
                        <a:spcAft>
                          <a:spcPts val="0"/>
                        </a:spcAft>
                        <a:buNone/>
                      </a:pPr>
                      <a:r>
                        <a:rPr sz="1600" b="1" i="0">
                          <a:solidFill>
                            <a:srgbClr val="2B3A55"/>
                          </a:solidFill>
                          <a:latin typeface="+mn-lt"/>
                        </a:rPr>
                        <a:t>Spectral baseline alone</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600" b="0" i="0">
                          <a:solidFill>
                            <a:srgbClr val="2B3A55"/>
                          </a:solidFill>
                          <a:latin typeface="+mn-lt"/>
                        </a:rPr>
                        <a:t>12</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600" b="0" i="0">
                          <a:solidFill>
                            <a:srgbClr val="2B3A55"/>
                          </a:solidFill>
                          <a:latin typeface="+mn-lt"/>
                        </a:rPr>
                        <a:t>0.965 ± 0.027</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600" b="0" i="0">
                          <a:solidFill>
                            <a:srgbClr val="2B3A55"/>
                          </a:solidFill>
                          <a:latin typeface="+mn-lt"/>
                        </a:rPr>
                        <a:t>0.987 ± 0.015</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600" b="0" i="0">
                          <a:solidFill>
                            <a:srgbClr val="2B3A55"/>
                          </a:solidFill>
                          <a:latin typeface="+mn-lt"/>
                        </a:rPr>
                        <a:t>0.0%</a:t>
                      </a:r>
                    </a:p>
                  </a:txBody>
                  <a:tcPr marL="73152" marR="73152" marT="27432" marB="27432" anchor="ctr">
                    <a:solidFill>
                      <a:srgbClr val="FFFFFF"/>
                    </a:solidFill>
                  </a:tcPr>
                </a:tc>
              </a:tr>
              <a:tr h="457200">
                <a:tc>
                  <a:txBody>
                    <a:bodyPr wrap="square"/>
                    <a:lstStyle/>
                    <a:p>
                      <a:pPr marL="0" indent="0">
                        <a:lnSpc>
                          <a:spcPct val="100000"/>
                        </a:lnSpc>
                        <a:spcBef>
                          <a:spcPts val="0"/>
                        </a:spcBef>
                        <a:spcAft>
                          <a:spcPts val="0"/>
                        </a:spcAft>
                        <a:buNone/>
                      </a:pPr>
                      <a:r>
                        <a:rPr sz="1600" b="1" i="0">
                          <a:solidFill>
                            <a:srgbClr val="2B3A55"/>
                          </a:solidFill>
                          <a:latin typeface="+mn-lt"/>
                        </a:rPr>
                        <a:t>Combined ModelSentinel</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28</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0.965 ± 0.024</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0.987 ± 0.014</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600" b="0" i="0">
                          <a:solidFill>
                            <a:srgbClr val="2B3A55"/>
                          </a:solidFill>
                          <a:latin typeface="+mn-lt"/>
                        </a:rPr>
                        <a:t>0.0%</a:t>
                      </a:r>
                    </a:p>
                  </a:txBody>
                  <a:tcPr marL="73152" marR="73152" marT="27432" marB="27432" anchor="ctr">
                    <a:solidFill>
                      <a:srgbClr val="EAF3FA"/>
                    </a:solidFill>
                  </a:tcPr>
                </a:tc>
              </a:tr>
            </a:tbl>
          </a:graphicData>
        </a:graphic>
      </p:graphicFrame>
      <p:graphicFrame>
        <p:nvGraphicFramePr>
          <p:cNvPr id="7" name="CV chart"/>
          <p:cNvGraphicFramePr>
            <a:graphicFrameLocks noGrp="1"/>
          </p:cNvGraphicFramePr>
          <p:nvPr/>
        </p:nvGraphicFramePr>
        <p:xfrm>
          <a:off x="320040" y="3291840"/>
          <a:ext cx="6949440" cy="2377440"/>
        </p:xfrm>
        <a:graphic>
          <a:graphicData uri="http://schemas.openxmlformats.org/drawingml/2006/chart">
            <c:chart xmlns:c="http://schemas.openxmlformats.org/drawingml/2006/chart" r:id="rId2"/>
          </a:graphicData>
        </a:graphic>
      </p:graphicFrame>
      <p:sp>
        <p:nvSpPr>
          <p:cNvPr id="8" name="Stat 1"/>
          <p:cNvSpPr/>
          <p:nvPr/>
        </p:nvSpPr>
        <p:spPr>
          <a:xfrm>
            <a:off x="7680960" y="3291840"/>
            <a:ext cx="3977639" cy="713232"/>
          </a:xfrm>
          <a:prstGeom prst="roundRect">
            <a:avLst>
              <a:gd name="adj" fmla="val 12000"/>
            </a:avLst>
          </a:prstGeom>
          <a:solidFill>
            <a:srgbClr val="EAF3FA"/>
          </a:solidFill>
          <a:ln>
            <a:noFill/>
          </a:ln>
        </p:spPr>
        <p:txBody>
          <a:bodyPr rtlCol="0" anchor="ctr" wrap="square" lIns="73152" rIns="73152" tIns="36576" bIns="36576"/>
          <a:lstStyle/>
          <a:p>
            <a:pPr marL="0" indent="0" algn="ctr">
              <a:lnSpc>
                <a:spcPct val="100000"/>
              </a:lnSpc>
              <a:spcBef>
                <a:spcPts val="0"/>
              </a:spcBef>
              <a:spcAft>
                <a:spcPts val="0"/>
              </a:spcAft>
              <a:buNone/>
            </a:pPr>
            <a:r>
              <a:rPr sz="1800" b="1" i="0">
                <a:solidFill>
                  <a:srgbClr val="1F4E79"/>
                </a:solidFill>
                <a:latin typeface="+mn-lt"/>
              </a:rPr>
              <a:t>96.5%</a:t>
            </a:r>
            <a:r>
              <a:rPr sz="1800" b="0" i="0">
                <a:solidFill>
                  <a:srgbClr val="2B3A55"/>
                </a:solidFill>
                <a:latin typeface="+mn-lt"/>
              </a:rPr>
              <a:t>  Accuracy ± 2.4%</a:t>
            </a:r>
          </a:p>
        </p:txBody>
      </p:sp>
      <p:sp>
        <p:nvSpPr>
          <p:cNvPr id="9" name="Stat 2"/>
          <p:cNvSpPr/>
          <p:nvPr/>
        </p:nvSpPr>
        <p:spPr>
          <a:xfrm>
            <a:off x="7680960" y="4087368"/>
            <a:ext cx="3977639" cy="713232"/>
          </a:xfrm>
          <a:prstGeom prst="roundRect">
            <a:avLst>
              <a:gd name="adj" fmla="val 12000"/>
            </a:avLst>
          </a:prstGeom>
          <a:solidFill>
            <a:srgbClr val="EAF3FA"/>
          </a:solidFill>
          <a:ln>
            <a:noFill/>
          </a:ln>
        </p:spPr>
        <p:txBody>
          <a:bodyPr rtlCol="0" anchor="ctr" wrap="square" lIns="73152" rIns="73152" tIns="36576" bIns="36576"/>
          <a:lstStyle/>
          <a:p>
            <a:pPr marL="0" indent="0" algn="ctr">
              <a:lnSpc>
                <a:spcPct val="100000"/>
              </a:lnSpc>
              <a:spcBef>
                <a:spcPts val="0"/>
              </a:spcBef>
              <a:spcAft>
                <a:spcPts val="0"/>
              </a:spcAft>
              <a:buNone/>
            </a:pPr>
            <a:r>
              <a:rPr sz="1800" b="1" i="0">
                <a:solidFill>
                  <a:srgbClr val="1F4E79"/>
                </a:solidFill>
                <a:latin typeface="+mn-lt"/>
              </a:rPr>
              <a:t>0.987</a:t>
            </a:r>
            <a:r>
              <a:rPr sz="1800" b="0" i="0">
                <a:solidFill>
                  <a:srgbClr val="2B3A55"/>
                </a:solidFill>
                <a:latin typeface="+mn-lt"/>
              </a:rPr>
              <a:t>  ROC-AUC ± 0.014</a:t>
            </a:r>
          </a:p>
        </p:txBody>
      </p:sp>
      <p:sp>
        <p:nvSpPr>
          <p:cNvPr id="10" name="Stat 3"/>
          <p:cNvSpPr/>
          <p:nvPr/>
        </p:nvSpPr>
        <p:spPr>
          <a:xfrm>
            <a:off x="7680960" y="4882896"/>
            <a:ext cx="3977639" cy="713232"/>
          </a:xfrm>
          <a:prstGeom prst="roundRect">
            <a:avLst>
              <a:gd name="adj" fmla="val 12000"/>
            </a:avLst>
          </a:prstGeom>
          <a:solidFill>
            <a:srgbClr val="EAF3FA"/>
          </a:solidFill>
          <a:ln>
            <a:noFill/>
          </a:ln>
        </p:spPr>
        <p:txBody>
          <a:bodyPr rtlCol="0" anchor="ctr" wrap="square" lIns="73152" rIns="73152" tIns="36576" bIns="36576"/>
          <a:lstStyle/>
          <a:p>
            <a:pPr marL="0" indent="0" algn="ctr">
              <a:lnSpc>
                <a:spcPct val="100000"/>
              </a:lnSpc>
              <a:spcBef>
                <a:spcPts val="0"/>
              </a:spcBef>
              <a:spcAft>
                <a:spcPts val="0"/>
              </a:spcAft>
              <a:buNone/>
            </a:pPr>
            <a:r>
              <a:rPr sz="1800" b="1" i="0">
                <a:solidFill>
                  <a:srgbClr val="1F4E79"/>
                </a:solidFill>
                <a:latin typeface="+mn-lt"/>
              </a:rPr>
              <a:t>0.0%</a:t>
            </a:r>
            <a:r>
              <a:rPr sz="1800" b="0" i="0">
                <a:solidFill>
                  <a:srgbClr val="2B3A55"/>
                </a:solidFill>
                <a:latin typeface="+mn-lt"/>
              </a:rPr>
              <a:t>  False quarantine rate</a:t>
            </a: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Ablation Study: Closing the Blind Spots</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761843"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graphicFrame>
        <p:nvGraphicFramePr>
          <p:cNvPr id="6" name="Ablation chart"/>
          <p:cNvGraphicFramePr>
            <a:graphicFrameLocks noGrp="1"/>
          </p:cNvGraphicFramePr>
          <p:nvPr/>
        </p:nvGraphicFramePr>
        <p:xfrm>
          <a:off x="320040" y="1280160"/>
          <a:ext cx="6035040" cy="4343400"/>
        </p:xfrm>
        <a:graphic>
          <a:graphicData uri="http://schemas.openxmlformats.org/drawingml/2006/chart">
            <c:chart xmlns:c="http://schemas.openxmlformats.org/drawingml/2006/chart" r:id="rId2"/>
          </a:graphicData>
        </a:graphic>
      </p:graphicFrame>
      <p:graphicFrame>
        <p:nvGraphicFramePr>
          <p:cNvPr id="7" name="Ablation table"/>
          <p:cNvGraphicFramePr>
            <a:graphicFrameLocks noGrp="1"/>
          </p:cNvGraphicFramePr>
          <p:nvPr/>
        </p:nvGraphicFramePr>
        <p:xfrm>
          <a:off x="6583680" y="1371600"/>
          <a:ext cx="5212080" cy="3657600"/>
        </p:xfrm>
        <a:graphic>
          <a:graphicData uri="http://schemas.openxmlformats.org/drawingml/2006/table">
            <a:tbl>
              <a:tblPr firstRow="1" bandRow="1">
                <a:tableStyleId>{5C22544A-7EE6-4342-B048-85BDC9FD1C3A}</a:tableStyleId>
              </a:tblPr>
              <a:tblGrid>
                <a:gridCol w="1554480"/>
                <a:gridCol w="822960"/>
                <a:gridCol w="822960"/>
                <a:gridCol w="2011680"/>
              </a:tblGrid>
              <a:tr h="731520">
                <a:tc>
                  <a:txBody>
                    <a:bodyPr wrap="square"/>
                    <a:lstStyle/>
                    <a:p>
                      <a:pPr marL="0" indent="0">
                        <a:lnSpc>
                          <a:spcPct val="100000"/>
                        </a:lnSpc>
                        <a:spcBef>
                          <a:spcPts val="0"/>
                        </a:spcBef>
                        <a:spcAft>
                          <a:spcPts val="0"/>
                        </a:spcAft>
                        <a:buNone/>
                      </a:pPr>
                      <a:r>
                        <a:rPr sz="1400" b="1" i="0">
                          <a:solidFill>
                            <a:srgbClr val="FFFFFF"/>
                          </a:solidFill>
                          <a:latin typeface="+mn-lt"/>
                        </a:rPr>
                        <a:t>Attack type</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Pre</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Post</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Primary driver</a:t>
                      </a:r>
                    </a:p>
                  </a:txBody>
                  <a:tcPr marL="73152" marR="73152" marT="27432" marB="27432" anchor="ctr">
                    <a:solidFill>
                      <a:srgbClr val="1F4E79"/>
                    </a:solidFill>
                  </a:tcPr>
                </a:tc>
              </a:tr>
              <a:tr h="731520">
                <a:tc>
                  <a:txBody>
                    <a:bodyPr wrap="square"/>
                    <a:lstStyle/>
                    <a:p>
                      <a:pPr marL="0" indent="0">
                        <a:lnSpc>
                          <a:spcPct val="100000"/>
                        </a:lnSpc>
                        <a:spcBef>
                          <a:spcPts val="0"/>
                        </a:spcBef>
                        <a:spcAft>
                          <a:spcPts val="0"/>
                        </a:spcAft>
                        <a:buNone/>
                      </a:pPr>
                      <a:r>
                        <a:rPr sz="1400" b="1" i="0">
                          <a:solidFill>
                            <a:srgbClr val="2B3A55"/>
                          </a:solidFill>
                          <a:latin typeface="+mn-lt"/>
                        </a:rPr>
                        <a:t>outlier_spike</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96.2%</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100.0%</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Stratified Z-score + IQR</a:t>
                      </a:r>
                    </a:p>
                  </a:txBody>
                  <a:tcPr marL="73152" marR="73152" marT="27432" marB="27432" anchor="ctr">
                    <a:solidFill>
                      <a:srgbClr val="EAF3FA"/>
                    </a:solidFill>
                  </a:tcPr>
                </a:tc>
              </a:tr>
              <a:tr h="731520">
                <a:tc>
                  <a:txBody>
                    <a:bodyPr wrap="square"/>
                    <a:lstStyle/>
                    <a:p>
                      <a:pPr marL="0" indent="0">
                        <a:lnSpc>
                          <a:spcPct val="100000"/>
                        </a:lnSpc>
                        <a:spcBef>
                          <a:spcPts val="0"/>
                        </a:spcBef>
                        <a:spcAft>
                          <a:spcPts val="0"/>
                        </a:spcAft>
                        <a:buNone/>
                      </a:pPr>
                      <a:r>
                        <a:rPr sz="1400" b="1" i="0">
                          <a:solidFill>
                            <a:srgbClr val="2B3A55"/>
                          </a:solidFill>
                          <a:latin typeface="+mn-lt"/>
                        </a:rPr>
                        <a:t>repeated_const</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71.4%</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100.0%</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Duplicate ratio (R</a:t>
                      </a:r>
                      <a:r>
                        <a:rPr sz="1400" b="0" i="0" baseline="-25000">
                          <a:solidFill>
                            <a:srgbClr val="2B3A55"/>
                          </a:solidFill>
                          <a:latin typeface="+mn-lt"/>
                        </a:rPr>
                        <a:t>dup</a:t>
                      </a:r>
                      <a:r>
                        <a:rPr sz="1400" b="0" i="0">
                          <a:solidFill>
                            <a:srgbClr val="2B3A55"/>
                          </a:solidFill>
                          <a:latin typeface="+mn-lt"/>
                        </a:rPr>
                        <a:t>)</a:t>
                      </a:r>
                    </a:p>
                  </a:txBody>
                  <a:tcPr marL="73152" marR="73152" marT="27432" marB="27432" anchor="ctr">
                    <a:solidFill>
                      <a:srgbClr val="FFFFFF"/>
                    </a:solidFill>
                  </a:tcPr>
                </a:tc>
              </a:tr>
              <a:tr h="731520">
                <a:tc>
                  <a:txBody>
                    <a:bodyPr wrap="square"/>
                    <a:lstStyle/>
                    <a:p>
                      <a:pPr marL="0" indent="0">
                        <a:lnSpc>
                          <a:spcPct val="100000"/>
                        </a:lnSpc>
                        <a:spcBef>
                          <a:spcPts val="0"/>
                        </a:spcBef>
                        <a:spcAft>
                          <a:spcPts val="0"/>
                        </a:spcAft>
                        <a:buNone/>
                      </a:pPr>
                      <a:r>
                        <a:rPr sz="1400" b="1" i="0">
                          <a:solidFill>
                            <a:srgbClr val="2B3A55"/>
                          </a:solidFill>
                          <a:latin typeface="+mn-lt"/>
                        </a:rPr>
                        <a:t>bimodal_trigger</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24.0%</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96.0%</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Sarle's bimodality (BC)</a:t>
                      </a:r>
                    </a:p>
                  </a:txBody>
                  <a:tcPr marL="73152" marR="73152" marT="27432" marB="27432" anchor="ctr">
                    <a:solidFill>
                      <a:srgbClr val="EAF3FA"/>
                    </a:solidFill>
                  </a:tcPr>
                </a:tc>
              </a:tr>
              <a:tr h="731520">
                <a:tc>
                  <a:txBody>
                    <a:bodyPr wrap="square"/>
                    <a:lstStyle/>
                    <a:p>
                      <a:pPr marL="0" indent="0">
                        <a:lnSpc>
                          <a:spcPct val="100000"/>
                        </a:lnSpc>
                        <a:spcBef>
                          <a:spcPts val="0"/>
                        </a:spcBef>
                        <a:spcAft>
                          <a:spcPts val="0"/>
                        </a:spcAft>
                        <a:buNone/>
                      </a:pPr>
                      <a:r>
                        <a:rPr sz="1400" b="1" i="0">
                          <a:solidFill>
                            <a:srgbClr val="2B3A55"/>
                          </a:solidFill>
                          <a:latin typeface="+mn-lt"/>
                        </a:rPr>
                        <a:t>kurtosis_skew</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86.7%</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86.7%</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LSE-MIL pooling</a:t>
                      </a:r>
                    </a:p>
                  </a:txBody>
                  <a:tcPr marL="73152" marR="73152" marT="27432" marB="27432" anchor="ctr">
                    <a:solidFill>
                      <a:srgbClr val="FFFFFF"/>
                    </a:solidFill>
                  </a:tcPr>
                </a:tc>
              </a:tr>
            </a:tbl>
          </a:graphicData>
        </a:graphic>
      </p:graphicFrame>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SOTA Comparative Benchmarks</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6342201"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graphicFrame>
        <p:nvGraphicFramePr>
          <p:cNvPr id="6" name="SOTA table"/>
          <p:cNvGraphicFramePr>
            <a:graphicFrameLocks noGrp="1"/>
          </p:cNvGraphicFramePr>
          <p:nvPr/>
        </p:nvGraphicFramePr>
        <p:xfrm>
          <a:off x="320040" y="1280160"/>
          <a:ext cx="11338560" cy="4325112"/>
        </p:xfrm>
        <a:graphic>
          <a:graphicData uri="http://schemas.openxmlformats.org/drawingml/2006/table">
            <a:tbl>
              <a:tblPr firstRow="1" bandRow="1">
                <a:tableStyleId>{5C22544A-7EE6-4342-B048-85BDC9FD1C3A}</a:tableStyleId>
              </a:tblPr>
              <a:tblGrid>
                <a:gridCol w="2834640"/>
                <a:gridCol w="1463040"/>
                <a:gridCol w="1463040"/>
                <a:gridCol w="1737360"/>
                <a:gridCol w="1737360"/>
                <a:gridCol w="2103120"/>
              </a:tblGrid>
              <a:tr h="393192">
                <a:tc>
                  <a:txBody>
                    <a:bodyPr wrap="square"/>
                    <a:lstStyle/>
                    <a:p>
                      <a:pPr marL="0" indent="0">
                        <a:lnSpc>
                          <a:spcPct val="100000"/>
                        </a:lnSpc>
                        <a:spcBef>
                          <a:spcPts val="0"/>
                        </a:spcBef>
                        <a:spcAft>
                          <a:spcPts val="0"/>
                        </a:spcAft>
                        <a:buNone/>
                      </a:pPr>
                      <a:r>
                        <a:rPr sz="1400" b="1" i="0">
                          <a:solidFill>
                            <a:srgbClr val="FFFFFF"/>
                          </a:solidFill>
                          <a:latin typeface="+mn-lt"/>
                        </a:rPr>
                        <a:t>Capability</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PickleScan</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ModelScan</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Neural Cleanse</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NIST TrojAI</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ModelSentinel</a:t>
                      </a:r>
                    </a:p>
                  </a:txBody>
                  <a:tcPr marL="73152" marR="73152" marT="27432" marB="27432" anchor="ctr">
                    <a:solidFill>
                      <a:srgbClr val="1F4E79"/>
                    </a:solidFill>
                  </a:tcPr>
                </a:tc>
              </a:tr>
              <a:tr h="393192">
                <a:tc>
                  <a:txBody>
                    <a:bodyPr wrap="square"/>
                    <a:lstStyle/>
                    <a:p>
                      <a:pPr marL="0" indent="0">
                        <a:lnSpc>
                          <a:spcPct val="100000"/>
                        </a:lnSpc>
                        <a:spcBef>
                          <a:spcPts val="0"/>
                        </a:spcBef>
                        <a:spcAft>
                          <a:spcPts val="0"/>
                        </a:spcAft>
                        <a:buNone/>
                      </a:pPr>
                      <a:r>
                        <a:rPr sz="1400" b="1" i="0">
                          <a:solidFill>
                            <a:srgbClr val="2B3A55"/>
                          </a:solidFill>
                          <a:latin typeface="+mn-lt"/>
                        </a:rPr>
                        <a:t>Zero code execution</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Yes</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Yes</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1" i="0">
                          <a:solidFill>
                            <a:srgbClr val="1C4D98"/>
                          </a:solidFill>
                          <a:latin typeface="+mn-lt"/>
                        </a:rPr>
                        <a:t>Yes</a:t>
                      </a:r>
                    </a:p>
                  </a:txBody>
                  <a:tcPr marL="73152" marR="73152" marT="27432" marB="27432" anchor="ctr">
                    <a:solidFill>
                      <a:srgbClr val="EAF3FA"/>
                    </a:solidFill>
                  </a:tcPr>
                </a:tc>
              </a:tr>
              <a:tr h="393192">
                <a:tc>
                  <a:txBody>
                    <a:bodyPr wrap="square"/>
                    <a:lstStyle/>
                    <a:p>
                      <a:pPr marL="0" indent="0">
                        <a:lnSpc>
                          <a:spcPct val="100000"/>
                        </a:lnSpc>
                        <a:spcBef>
                          <a:spcPts val="0"/>
                        </a:spcBef>
                        <a:spcAft>
                          <a:spcPts val="0"/>
                        </a:spcAft>
                        <a:buNone/>
                      </a:pPr>
                      <a:r>
                        <a:rPr sz="1400" b="1" i="0">
                          <a:solidFill>
                            <a:srgbClr val="2B3A55"/>
                          </a:solidFill>
                          <a:latin typeface="+mn-lt"/>
                        </a:rPr>
                        <a:t>Weight Trojan detection</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Yes</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Yes</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1" i="0">
                          <a:solidFill>
                            <a:srgbClr val="1C4D98"/>
                          </a:solidFill>
                          <a:latin typeface="+mn-lt"/>
                        </a:rPr>
                        <a:t>Yes</a:t>
                      </a:r>
                    </a:p>
                  </a:txBody>
                  <a:tcPr marL="73152" marR="73152" marT="27432" marB="27432" anchor="ctr">
                    <a:solidFill>
                      <a:srgbClr val="FFFFFF"/>
                    </a:solidFill>
                  </a:tcPr>
                </a:tc>
              </a:tr>
              <a:tr h="393192">
                <a:tc>
                  <a:txBody>
                    <a:bodyPr wrap="square"/>
                    <a:lstStyle/>
                    <a:p>
                      <a:pPr marL="0" indent="0">
                        <a:lnSpc>
                          <a:spcPct val="100000"/>
                        </a:lnSpc>
                        <a:spcBef>
                          <a:spcPts val="0"/>
                        </a:spcBef>
                        <a:spcAft>
                          <a:spcPts val="0"/>
                        </a:spcAft>
                        <a:buNone/>
                      </a:pPr>
                      <a:r>
                        <a:rPr sz="1400" b="1" i="0">
                          <a:solidFill>
                            <a:srgbClr val="2B3A55"/>
                          </a:solidFill>
                          <a:latin typeface="+mn-lt"/>
                        </a:rPr>
                        <a:t>Zero clean data required</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Yes</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Yes</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1" i="0">
                          <a:solidFill>
                            <a:srgbClr val="1C4D98"/>
                          </a:solidFill>
                          <a:latin typeface="+mn-lt"/>
                        </a:rPr>
                        <a:t>Yes</a:t>
                      </a:r>
                    </a:p>
                  </a:txBody>
                  <a:tcPr marL="73152" marR="73152" marT="27432" marB="27432" anchor="ctr">
                    <a:solidFill>
                      <a:srgbClr val="EAF3FA"/>
                    </a:solidFill>
                  </a:tcPr>
                </a:tc>
              </a:tr>
              <a:tr h="393192">
                <a:tc>
                  <a:txBody>
                    <a:bodyPr wrap="square"/>
                    <a:lstStyle/>
                    <a:p>
                      <a:pPr marL="0" indent="0">
                        <a:lnSpc>
                          <a:spcPct val="100000"/>
                        </a:lnSpc>
                        <a:spcBef>
                          <a:spcPts val="0"/>
                        </a:spcBef>
                        <a:spcAft>
                          <a:spcPts val="0"/>
                        </a:spcAft>
                        <a:buNone/>
                      </a:pPr>
                      <a:r>
                        <a:rPr sz="1400" b="1" i="0">
                          <a:solidFill>
                            <a:srgbClr val="2B3A55"/>
                          </a:solidFill>
                          <a:latin typeface="+mn-lt"/>
                        </a:rPr>
                        <a:t>Mantissa steganography</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1" i="0">
                          <a:solidFill>
                            <a:srgbClr val="1C4D98"/>
                          </a:solidFill>
                          <a:latin typeface="+mn-lt"/>
                        </a:rPr>
                        <a:t>Yes</a:t>
                      </a:r>
                    </a:p>
                  </a:txBody>
                  <a:tcPr marL="73152" marR="73152" marT="27432" marB="27432" anchor="ctr">
                    <a:solidFill>
                      <a:srgbClr val="FFFFFF"/>
                    </a:solidFill>
                  </a:tcPr>
                </a:tc>
              </a:tr>
              <a:tr h="393192">
                <a:tc>
                  <a:txBody>
                    <a:bodyPr wrap="square"/>
                    <a:lstStyle/>
                    <a:p>
                      <a:pPr marL="0" indent="0">
                        <a:lnSpc>
                          <a:spcPct val="100000"/>
                        </a:lnSpc>
                        <a:spcBef>
                          <a:spcPts val="0"/>
                        </a:spcBef>
                        <a:spcAft>
                          <a:spcPts val="0"/>
                        </a:spcAft>
                        <a:buNone/>
                      </a:pPr>
                      <a:r>
                        <a:rPr sz="1400" b="1" i="0">
                          <a:solidFill>
                            <a:srgbClr val="2B3A55"/>
                          </a:solidFill>
                          <a:latin typeface="+mn-lt"/>
                        </a:rPr>
                        <a:t>Layer-dilution defense</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N/A</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N/A</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1" i="0">
                          <a:solidFill>
                            <a:srgbClr val="1C4D98"/>
                          </a:solidFill>
                          <a:latin typeface="+mn-lt"/>
                        </a:rPr>
                        <a:t>Yes</a:t>
                      </a:r>
                    </a:p>
                  </a:txBody>
                  <a:tcPr marL="73152" marR="73152" marT="27432" marB="27432" anchor="ctr">
                    <a:solidFill>
                      <a:srgbClr val="EAF3FA"/>
                    </a:solidFill>
                  </a:tcPr>
                </a:tc>
              </a:tr>
              <a:tr h="393192">
                <a:tc>
                  <a:txBody>
                    <a:bodyPr wrap="square"/>
                    <a:lstStyle/>
                    <a:p>
                      <a:pPr marL="0" indent="0">
                        <a:lnSpc>
                          <a:spcPct val="100000"/>
                        </a:lnSpc>
                        <a:spcBef>
                          <a:spcPts val="0"/>
                        </a:spcBef>
                        <a:spcAft>
                          <a:spcPts val="0"/>
                        </a:spcAft>
                        <a:buNone/>
                      </a:pPr>
                      <a:r>
                        <a:rPr sz="1400" b="1" i="0">
                          <a:solidFill>
                            <a:srgbClr val="2B3A55"/>
                          </a:solidFill>
                          <a:latin typeface="+mn-lt"/>
                        </a:rPr>
                        <a:t>Surgical in-place fix</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No</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1" i="0">
                          <a:solidFill>
                            <a:srgbClr val="1C4D98"/>
                          </a:solidFill>
                          <a:latin typeface="+mn-lt"/>
                        </a:rPr>
                        <a:t>Yes</a:t>
                      </a:r>
                    </a:p>
                  </a:txBody>
                  <a:tcPr marL="73152" marR="73152" marT="27432" marB="27432" anchor="ctr">
                    <a:solidFill>
                      <a:srgbClr val="FFFFFF"/>
                    </a:solidFill>
                  </a:tcPr>
                </a:tc>
              </a:tr>
              <a:tr h="393192">
                <a:tc>
                  <a:txBody>
                    <a:bodyPr wrap="square"/>
                    <a:lstStyle/>
                    <a:p>
                      <a:pPr marL="0" indent="0">
                        <a:lnSpc>
                          <a:spcPct val="100000"/>
                        </a:lnSpc>
                        <a:spcBef>
                          <a:spcPts val="0"/>
                        </a:spcBef>
                        <a:spcAft>
                          <a:spcPts val="0"/>
                        </a:spcAft>
                        <a:buNone/>
                      </a:pPr>
                      <a:r>
                        <a:rPr sz="1400" b="1" i="0">
                          <a:solidFill>
                            <a:srgbClr val="2B3A55"/>
                          </a:solidFill>
                          <a:latin typeface="+mn-lt"/>
                        </a:rPr>
                        <a:t>Scan latency</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&lt; 1 s</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&lt; 2 s</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Hours</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Hours</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1" i="0">
                          <a:solidFill>
                            <a:srgbClr val="1C4D98"/>
                          </a:solidFill>
                          <a:latin typeface="+mn-lt"/>
                        </a:rPr>
                        <a:t>1.42 s</a:t>
                      </a:r>
                    </a:p>
                  </a:txBody>
                  <a:tcPr marL="73152" marR="73152" marT="27432" marB="27432" anchor="ctr">
                    <a:solidFill>
                      <a:srgbClr val="EAF3FA"/>
                    </a:solidFill>
                  </a:tcPr>
                </a:tc>
              </a:tr>
              <a:tr h="393192">
                <a:tc>
                  <a:txBody>
                    <a:bodyPr wrap="square"/>
                    <a:lstStyle/>
                    <a:p>
                      <a:pPr marL="0" indent="0">
                        <a:lnSpc>
                          <a:spcPct val="100000"/>
                        </a:lnSpc>
                        <a:spcBef>
                          <a:spcPts val="0"/>
                        </a:spcBef>
                        <a:spcAft>
                          <a:spcPts val="0"/>
                        </a:spcAft>
                        <a:buNone/>
                      </a:pPr>
                      <a:r>
                        <a:rPr sz="1400" b="1" i="0">
                          <a:solidFill>
                            <a:srgbClr val="2B3A55"/>
                          </a:solidFill>
                          <a:latin typeface="+mn-lt"/>
                        </a:rPr>
                        <a:t>Overall accuracy</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0.0%</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0.0%</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88.4%</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91.2%</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1" i="0">
                          <a:solidFill>
                            <a:srgbClr val="1C4D98"/>
                          </a:solidFill>
                          <a:latin typeface="+mn-lt"/>
                        </a:rPr>
                        <a:t>96.5%</a:t>
                      </a:r>
                    </a:p>
                  </a:txBody>
                  <a:tcPr marL="73152" marR="73152" marT="27432" marB="27432" anchor="ctr">
                    <a:solidFill>
                      <a:srgbClr val="FFFFFF"/>
                    </a:solidFill>
                  </a:tcPr>
                </a:tc>
              </a:tr>
              <a:tr h="393192">
                <a:tc>
                  <a:txBody>
                    <a:bodyPr wrap="square"/>
                    <a:lstStyle/>
                    <a:p>
                      <a:pPr marL="0" indent="0">
                        <a:lnSpc>
                          <a:spcPct val="100000"/>
                        </a:lnSpc>
                        <a:spcBef>
                          <a:spcPts val="0"/>
                        </a:spcBef>
                        <a:spcAft>
                          <a:spcPts val="0"/>
                        </a:spcAft>
                        <a:buNone/>
                      </a:pPr>
                      <a:r>
                        <a:rPr sz="1400" b="1" i="0">
                          <a:solidFill>
                            <a:srgbClr val="2B3A55"/>
                          </a:solidFill>
                          <a:latin typeface="+mn-lt"/>
                        </a:rPr>
                        <a:t>ROC-AUC</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N/A</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N/A</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0.912</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0.934</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1" i="0">
                          <a:solidFill>
                            <a:srgbClr val="1C4D98"/>
                          </a:solidFill>
                          <a:latin typeface="+mn-lt"/>
                        </a:rPr>
                        <a:t>0.987</a:t>
                      </a:r>
                    </a:p>
                  </a:txBody>
                  <a:tcPr marL="73152" marR="73152" marT="27432" marB="27432" anchor="ctr">
                    <a:solidFill>
                      <a:srgbClr val="EAF3FA"/>
                    </a:solidFill>
                  </a:tcPr>
                </a:tc>
              </a:tr>
              <a:tr h="393192">
                <a:tc>
                  <a:txBody>
                    <a:bodyPr wrap="square"/>
                    <a:lstStyle/>
                    <a:p>
                      <a:pPr marL="0" indent="0">
                        <a:lnSpc>
                          <a:spcPct val="100000"/>
                        </a:lnSpc>
                        <a:spcBef>
                          <a:spcPts val="0"/>
                        </a:spcBef>
                        <a:spcAft>
                          <a:spcPts val="0"/>
                        </a:spcAft>
                        <a:buNone/>
                      </a:pPr>
                      <a:r>
                        <a:rPr sz="1400" b="1" i="0">
                          <a:solidFill>
                            <a:srgbClr val="2B3A55"/>
                          </a:solidFill>
                          <a:latin typeface="+mn-lt"/>
                        </a:rPr>
                        <a:t>False quarantine</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0.0%</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0.0%</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8.4%</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6.2%</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1" i="0">
                          <a:solidFill>
                            <a:srgbClr val="1C4D98"/>
                          </a:solidFill>
                          <a:latin typeface="+mn-lt"/>
                        </a:rPr>
                        <a:t>0.0%</a:t>
                      </a:r>
                    </a:p>
                  </a:txBody>
                  <a:tcPr marL="73152" marR="73152" marT="27432" marB="27432" anchor="ctr">
                    <a:solidFill>
                      <a:srgbClr val="FFFFFF"/>
                    </a:solidFill>
                  </a:tcPr>
                </a:tc>
              </a:tr>
            </a:tbl>
          </a:graphicData>
        </a:graphic>
      </p:graphicFrame>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Key Performance Metrics</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517532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graphicFrame>
        <p:nvGraphicFramePr>
          <p:cNvPr id="6" name="Key metrics table"/>
          <p:cNvGraphicFramePr>
            <a:graphicFrameLocks noGrp="1"/>
          </p:cNvGraphicFramePr>
          <p:nvPr/>
        </p:nvGraphicFramePr>
        <p:xfrm>
          <a:off x="320040" y="1280160"/>
          <a:ext cx="7040880" cy="4279392"/>
        </p:xfrm>
        <a:graphic>
          <a:graphicData uri="http://schemas.openxmlformats.org/drawingml/2006/table">
            <a:tbl>
              <a:tblPr firstRow="1" bandRow="1">
                <a:tableStyleId>{5C22544A-7EE6-4342-B048-85BDC9FD1C3A}</a:tableStyleId>
              </a:tblPr>
              <a:tblGrid>
                <a:gridCol w="2194560"/>
                <a:gridCol w="1188720"/>
                <a:gridCol w="3657600"/>
              </a:tblGrid>
              <a:tr h="475488">
                <a:tc>
                  <a:txBody>
                    <a:bodyPr wrap="square"/>
                    <a:lstStyle/>
                    <a:p>
                      <a:pPr marL="0" indent="0">
                        <a:lnSpc>
                          <a:spcPct val="100000"/>
                        </a:lnSpc>
                        <a:spcBef>
                          <a:spcPts val="0"/>
                        </a:spcBef>
                        <a:spcAft>
                          <a:spcPts val="0"/>
                        </a:spcAft>
                        <a:buNone/>
                      </a:pPr>
                      <a:r>
                        <a:rPr sz="1400" b="1" i="0">
                          <a:solidFill>
                            <a:srgbClr val="FFFFFF"/>
                          </a:solidFill>
                          <a:latin typeface="+mn-lt"/>
                        </a:rPr>
                        <a:t>Metric</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Value</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Plain English</a:t>
                      </a:r>
                    </a:p>
                  </a:txBody>
                  <a:tcPr marL="73152" marR="73152" marT="27432" marB="27432" anchor="ctr">
                    <a:solidFill>
                      <a:srgbClr val="1F4E79"/>
                    </a:solidFill>
                  </a:tcPr>
                </a:tc>
              </a:tr>
              <a:tr h="475488">
                <a:tc>
                  <a:txBody>
                    <a:bodyPr wrap="square"/>
                    <a:lstStyle/>
                    <a:p>
                      <a:pPr marL="0" indent="0">
                        <a:lnSpc>
                          <a:spcPct val="100000"/>
                        </a:lnSpc>
                        <a:spcBef>
                          <a:spcPts val="0"/>
                        </a:spcBef>
                        <a:spcAft>
                          <a:spcPts val="0"/>
                        </a:spcAft>
                        <a:buNone/>
                      </a:pPr>
                      <a:r>
                        <a:rPr sz="1400" b="1" i="0">
                          <a:solidFill>
                            <a:srgbClr val="2B3A55"/>
                          </a:solidFill>
                          <a:latin typeface="+mn-lt"/>
                        </a:rPr>
                        <a:t>Accuracy</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96.5%</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Correct call on 96.5 of 100 models</a:t>
                      </a:r>
                    </a:p>
                  </a:txBody>
                  <a:tcPr marL="73152" marR="73152" marT="27432" marB="27432" anchor="ctr">
                    <a:solidFill>
                      <a:srgbClr val="EAF3FA"/>
                    </a:solidFill>
                  </a:tcPr>
                </a:tc>
              </a:tr>
              <a:tr h="475488">
                <a:tc>
                  <a:txBody>
                    <a:bodyPr wrap="square"/>
                    <a:lstStyle/>
                    <a:p>
                      <a:pPr marL="0" indent="0">
                        <a:lnSpc>
                          <a:spcPct val="100000"/>
                        </a:lnSpc>
                        <a:spcBef>
                          <a:spcPts val="0"/>
                        </a:spcBef>
                        <a:spcAft>
                          <a:spcPts val="0"/>
                        </a:spcAft>
                        <a:buNone/>
                      </a:pPr>
                      <a:r>
                        <a:rPr sz="1400" b="1" i="0">
                          <a:solidFill>
                            <a:srgbClr val="2B3A55"/>
                          </a:solidFill>
                          <a:latin typeface="+mn-lt"/>
                        </a:rPr>
                        <a:t>False alarms</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0.0%</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Never blocks a clean model</a:t>
                      </a:r>
                    </a:p>
                  </a:txBody>
                  <a:tcPr marL="73152" marR="73152" marT="27432" marB="27432" anchor="ctr">
                    <a:solidFill>
                      <a:srgbClr val="FFFFFF"/>
                    </a:solidFill>
                  </a:tcPr>
                </a:tc>
              </a:tr>
              <a:tr h="475488">
                <a:tc>
                  <a:txBody>
                    <a:bodyPr wrap="square"/>
                    <a:lstStyle/>
                    <a:p>
                      <a:pPr marL="0" indent="0">
                        <a:lnSpc>
                          <a:spcPct val="100000"/>
                        </a:lnSpc>
                        <a:spcBef>
                          <a:spcPts val="0"/>
                        </a:spcBef>
                        <a:spcAft>
                          <a:spcPts val="0"/>
                        </a:spcAft>
                        <a:buNone/>
                      </a:pPr>
                      <a:r>
                        <a:rPr sz="1400" b="1" i="0">
                          <a:solidFill>
                            <a:srgbClr val="2B3A55"/>
                          </a:solidFill>
                          <a:latin typeface="+mn-lt"/>
                        </a:rPr>
                        <a:t>ROC-AUC</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0.987</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98.7% separation of good vs. bad</a:t>
                      </a:r>
                    </a:p>
                  </a:txBody>
                  <a:tcPr marL="73152" marR="73152" marT="27432" marB="27432" anchor="ctr">
                    <a:solidFill>
                      <a:srgbClr val="EAF3FA"/>
                    </a:solidFill>
                  </a:tcPr>
                </a:tc>
              </a:tr>
              <a:tr h="475488">
                <a:tc>
                  <a:txBody>
                    <a:bodyPr wrap="square"/>
                    <a:lstStyle/>
                    <a:p>
                      <a:pPr marL="0" indent="0">
                        <a:lnSpc>
                          <a:spcPct val="100000"/>
                        </a:lnSpc>
                        <a:spcBef>
                          <a:spcPts val="0"/>
                        </a:spcBef>
                        <a:spcAft>
                          <a:spcPts val="0"/>
                        </a:spcAft>
                        <a:buNone/>
                      </a:pPr>
                      <a:r>
                        <a:rPr sz="1400" b="1" i="0">
                          <a:solidFill>
                            <a:srgbClr val="2B3A55"/>
                          </a:solidFill>
                          <a:latin typeface="+mn-lt"/>
                        </a:rPr>
                        <a:t>Backdoor catch rate</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100%</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Catches every hidden backdoor</a:t>
                      </a:r>
                    </a:p>
                  </a:txBody>
                  <a:tcPr marL="73152" marR="73152" marT="27432" marB="27432" anchor="ctr">
                    <a:solidFill>
                      <a:srgbClr val="FFFFFF"/>
                    </a:solidFill>
                  </a:tcPr>
                </a:tc>
              </a:tr>
              <a:tr h="475488">
                <a:tc>
                  <a:txBody>
                    <a:bodyPr wrap="square"/>
                    <a:lstStyle/>
                    <a:p>
                      <a:pPr marL="0" indent="0">
                        <a:lnSpc>
                          <a:spcPct val="100000"/>
                        </a:lnSpc>
                        <a:spcBef>
                          <a:spcPts val="0"/>
                        </a:spcBef>
                        <a:spcAft>
                          <a:spcPts val="0"/>
                        </a:spcAft>
                        <a:buNone/>
                      </a:pPr>
                      <a:r>
                        <a:rPr sz="1400" b="1" i="0">
                          <a:solidFill>
                            <a:srgbClr val="2B3A55"/>
                          </a:solidFill>
                          <a:latin typeface="+mn-lt"/>
                        </a:rPr>
                        <a:t>Stego catch rate</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100%</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Catches hidden malware in float bits</a:t>
                      </a:r>
                    </a:p>
                  </a:txBody>
                  <a:tcPr marL="73152" marR="73152" marT="27432" marB="27432" anchor="ctr">
                    <a:solidFill>
                      <a:srgbClr val="EAF3FA"/>
                    </a:solidFill>
                  </a:tcPr>
                </a:tc>
              </a:tr>
              <a:tr h="475488">
                <a:tc>
                  <a:txBody>
                    <a:bodyPr wrap="square"/>
                    <a:lstStyle/>
                    <a:p>
                      <a:pPr marL="0" indent="0">
                        <a:lnSpc>
                          <a:spcPct val="100000"/>
                        </a:lnSpc>
                        <a:spcBef>
                          <a:spcPts val="0"/>
                        </a:spcBef>
                        <a:spcAft>
                          <a:spcPts val="0"/>
                        </a:spcAft>
                        <a:buNone/>
                      </a:pPr>
                      <a:r>
                        <a:rPr sz="1400" b="1" i="0">
                          <a:solidFill>
                            <a:srgbClr val="2B3A55"/>
                          </a:solidFill>
                          <a:latin typeface="+mn-lt"/>
                        </a:rPr>
                        <a:t>Scan latency</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1.42 sec</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Scans in seconds on a laptop CPU</a:t>
                      </a:r>
                    </a:p>
                  </a:txBody>
                  <a:tcPr marL="73152" marR="73152" marT="27432" marB="27432" anchor="ctr">
                    <a:solidFill>
                      <a:srgbClr val="FFFFFF"/>
                    </a:solidFill>
                  </a:tcPr>
                </a:tc>
              </a:tr>
              <a:tr h="475488">
                <a:tc>
                  <a:txBody>
                    <a:bodyPr wrap="square"/>
                    <a:lstStyle/>
                    <a:p>
                      <a:pPr marL="0" indent="0">
                        <a:lnSpc>
                          <a:spcPct val="100000"/>
                        </a:lnSpc>
                        <a:spcBef>
                          <a:spcPts val="0"/>
                        </a:spcBef>
                        <a:spcAft>
                          <a:spcPts val="0"/>
                        </a:spcAft>
                        <a:buNone/>
                      </a:pPr>
                      <a:r>
                        <a:rPr sz="1400" b="1" i="0">
                          <a:solidFill>
                            <a:srgbClr val="2B3A55"/>
                          </a:solidFill>
                          <a:latin typeface="+mn-lt"/>
                        </a:rPr>
                        <a:t>RAM overhead</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&lt; 512 MB</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Less memory than a web browser</a:t>
                      </a:r>
                    </a:p>
                  </a:txBody>
                  <a:tcPr marL="73152" marR="73152" marT="27432" marB="27432" anchor="ctr">
                    <a:solidFill>
                      <a:srgbClr val="EAF3FA"/>
                    </a:solidFill>
                  </a:tcPr>
                </a:tc>
              </a:tr>
              <a:tr h="475488">
                <a:tc>
                  <a:txBody>
                    <a:bodyPr wrap="square"/>
                    <a:lstStyle/>
                    <a:p>
                      <a:pPr marL="0" indent="0">
                        <a:lnSpc>
                          <a:spcPct val="100000"/>
                        </a:lnSpc>
                        <a:spcBef>
                          <a:spcPts val="0"/>
                        </a:spcBef>
                        <a:spcAft>
                          <a:spcPts val="0"/>
                        </a:spcAft>
                        <a:buNone/>
                      </a:pPr>
                      <a:r>
                        <a:rPr sz="1400" b="1" i="0">
                          <a:solidFill>
                            <a:srgbClr val="2B3A55"/>
                          </a:solidFill>
                          <a:latin typeface="+mn-lt"/>
                        </a:rPr>
                        <a:t>Repaired model health</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99.8%</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Fixed in 2 sec, no retraining</a:t>
                      </a:r>
                    </a:p>
                  </a:txBody>
                  <a:tcPr marL="73152" marR="73152" marT="27432" marB="27432" anchor="ctr">
                    <a:solidFill>
                      <a:srgbClr val="FFFFFF"/>
                    </a:solidFill>
                  </a:tcPr>
                </a:tc>
              </a:tr>
            </a:tbl>
          </a:graphicData>
        </a:graphic>
      </p:graphicFrame>
      <p:sp>
        <p:nvSpPr>
          <p:cNvPr id="7" name="TextBox 6"/>
          <p:cNvSpPr txBox="1"/>
          <p:nvPr/>
        </p:nvSpPr>
        <p:spPr>
          <a:xfrm>
            <a:off x="7635240" y="1234440"/>
            <a:ext cx="4206240" cy="365760"/>
          </a:xfrm>
          <a:prstGeom prst="rect">
            <a:avLst/>
          </a:prstGeom>
          <a:noFill/>
        </p:spPr>
        <p:txBody>
          <a:bodyPr wrap="square" anchor="t">
            <a:spAutoFit/>
          </a:bodyPr>
          <a:lstStyle/>
          <a:p>
            <a:pPr marL="0" indent="0" algn="l">
              <a:lnSpc>
                <a:spcPct val="100000"/>
              </a:lnSpc>
              <a:spcBef>
                <a:spcPts val="0"/>
              </a:spcBef>
              <a:spcAft>
                <a:spcPts val="0"/>
              </a:spcAft>
              <a:buNone/>
            </a:pPr>
            <a:r>
              <a:rPr sz="1800" b="1" i="0">
                <a:solidFill>
                  <a:srgbClr val="1F4E79"/>
                </a:solidFill>
                <a:latin typeface="+mn-lt"/>
              </a:rPr>
              <a:t>Confusion matrix (conceptual)</a:t>
            </a:r>
          </a:p>
        </p:txBody>
      </p:sp>
      <p:graphicFrame>
        <p:nvGraphicFramePr>
          <p:cNvPr id="8" name="Confusion matrix"/>
          <p:cNvGraphicFramePr>
            <a:graphicFrameLocks noGrp="1"/>
          </p:cNvGraphicFramePr>
          <p:nvPr/>
        </p:nvGraphicFramePr>
        <p:xfrm>
          <a:off x="7635240" y="1645920"/>
          <a:ext cx="4206240" cy="1645920"/>
        </p:xfrm>
        <a:graphic>
          <a:graphicData uri="http://schemas.openxmlformats.org/drawingml/2006/table">
            <a:tbl>
              <a:tblPr firstRow="1" bandRow="1">
                <a:tableStyleId>{5C22544A-7EE6-4342-B048-85BDC9FD1C3A}</a:tableStyleId>
              </a:tblPr>
              <a:tblGrid>
                <a:gridCol w="1463040"/>
                <a:gridCol w="1371600"/>
                <a:gridCol w="1371600"/>
              </a:tblGrid>
              <a:tr h="548640">
                <a:tc>
                  <a:txBody>
                    <a:bodyPr wrap="square"/>
                    <a:lstStyle/>
                    <a:p>
                      <a:pPr marL="0" indent="0">
                        <a:lnSpc>
                          <a:spcPct val="100000"/>
                        </a:lnSpc>
                        <a:spcBef>
                          <a:spcPts val="0"/>
                        </a:spcBef>
                        <a:spcAft>
                          <a:spcPts val="0"/>
                        </a:spcAft>
                        <a:buNone/>
                      </a:pP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Pred. clean</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Pred. malicious</a:t>
                      </a:r>
                    </a:p>
                  </a:txBody>
                  <a:tcPr marL="73152" marR="73152" marT="27432" marB="27432" anchor="ctr">
                    <a:solidFill>
                      <a:srgbClr val="1F4E79"/>
                    </a:solidFill>
                  </a:tcPr>
                </a:tc>
              </a:tr>
              <a:tr h="548640">
                <a:tc>
                  <a:txBody>
                    <a:bodyPr wrap="square"/>
                    <a:lstStyle/>
                    <a:p>
                      <a:pPr marL="0" indent="0">
                        <a:lnSpc>
                          <a:spcPct val="100000"/>
                        </a:lnSpc>
                        <a:spcBef>
                          <a:spcPts val="0"/>
                        </a:spcBef>
                        <a:spcAft>
                          <a:spcPts val="0"/>
                        </a:spcAft>
                        <a:buNone/>
                      </a:pPr>
                      <a:r>
                        <a:rPr sz="1400" b="1" i="0">
                          <a:solidFill>
                            <a:srgbClr val="2B3A55"/>
                          </a:solidFill>
                          <a:latin typeface="+mn-lt"/>
                        </a:rPr>
                        <a:t>Actual clean</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94%</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0%</a:t>
                      </a:r>
                    </a:p>
                  </a:txBody>
                  <a:tcPr marL="73152" marR="73152" marT="27432" marB="27432" anchor="ctr">
                    <a:solidFill>
                      <a:srgbClr val="EAF3FA"/>
                    </a:solidFill>
                  </a:tcPr>
                </a:tc>
              </a:tr>
              <a:tr h="548640">
                <a:tc>
                  <a:txBody>
                    <a:bodyPr wrap="square"/>
                    <a:lstStyle/>
                    <a:p>
                      <a:pPr marL="0" indent="0">
                        <a:lnSpc>
                          <a:spcPct val="100000"/>
                        </a:lnSpc>
                        <a:spcBef>
                          <a:spcPts val="0"/>
                        </a:spcBef>
                        <a:spcAft>
                          <a:spcPts val="0"/>
                        </a:spcAft>
                        <a:buNone/>
                      </a:pPr>
                      <a:r>
                        <a:rPr sz="1400" b="1" i="0">
                          <a:solidFill>
                            <a:srgbClr val="2B3A55"/>
                          </a:solidFill>
                          <a:latin typeface="+mn-lt"/>
                        </a:rPr>
                        <a:t>Actual malicious</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6%</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100%</a:t>
                      </a:r>
                    </a:p>
                  </a:txBody>
                  <a:tcPr marL="73152" marR="73152" marT="27432" marB="27432" anchor="ctr">
                    <a:solidFill>
                      <a:srgbClr val="FFFFFF"/>
                    </a:solidFill>
                  </a:tcPr>
                </a:tc>
              </a:tr>
            </a:tbl>
          </a:graphicData>
        </a:graphic>
      </p:graphicFrame>
      <p:sp>
        <p:nvSpPr>
          <p:cNvPr id="9" name="Matrix note"/>
          <p:cNvSpPr txBox="1"/>
          <p:nvPr/>
        </p:nvSpPr>
        <p:spPr>
          <a:xfrm>
            <a:off x="7635240" y="3429000"/>
            <a:ext cx="4206240" cy="1463040"/>
          </a:xfrm>
          <a:prstGeom prst="rect">
            <a:avLst/>
          </a:prstGeom>
          <a:noFill/>
        </p:spPr>
        <p:txBody>
          <a:bodyPr wrap="square" anchor="t">
            <a:spAutoFit/>
          </a:bodyPr>
          <a:lstStyle/>
          <a:p>
            <a:pPr marL="0" indent="0" algn="l">
              <a:lnSpc>
                <a:spcPct val="100000"/>
              </a:lnSpc>
              <a:spcBef>
                <a:spcPts val="0"/>
              </a:spcBef>
              <a:spcAft>
                <a:spcPts val="0"/>
              </a:spcAft>
              <a:buNone/>
            </a:pPr>
            <a:r>
              <a:rPr sz="1400" b="1" i="0">
                <a:solidFill>
                  <a:srgbClr val="2B3A55"/>
                </a:solidFill>
                <a:latin typeface="+mn-lt"/>
              </a:rPr>
              <a:t>0.0% false quarantine; 100% recall.</a:t>
            </a:r>
          </a:p>
          <a:p>
            <a:pPr marL="0" indent="0" algn="l">
              <a:lnSpc>
                <a:spcPct val="100000"/>
              </a:lnSpc>
              <a:spcBef>
                <a:spcPts val="0"/>
              </a:spcBef>
              <a:spcAft>
                <a:spcPts val="0"/>
              </a:spcAft>
              <a:buNone/>
            </a:pPr>
            <a:r>
              <a:rPr sz="1400" b="0" i="0">
                <a:solidFill>
                  <a:srgbClr val="2B3A55"/>
                </a:solidFill>
                <a:latin typeface="+mn-lt"/>
              </a:rPr>
              <a:t>Note: 6% REVIEW rate on clean models (flagged for human review, not false quarantine).</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Why This Approach, Not Others</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6398021"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sp>
        <p:nvSpPr>
          <p:cNvPr id="6" name="Why card 1"/>
          <p:cNvSpPr/>
          <p:nvPr/>
        </p:nvSpPr>
        <p:spPr>
          <a:xfrm>
            <a:off x="320040" y="1280160"/>
            <a:ext cx="3657600" cy="310896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800" b="1" i="0">
                <a:solidFill>
                  <a:srgbClr val="2B3A55"/>
                </a:solidFill>
                <a:latin typeface="+mn-lt"/>
              </a:rPr>
              <a:t>Static, not dynamic</a:t>
            </a:r>
          </a:p>
          <a:p>
            <a:pPr marL="0" indent="0" algn="l">
              <a:lnSpc>
                <a:spcPct val="100000"/>
              </a:lnSpc>
              <a:spcBef>
                <a:spcPts val="0"/>
              </a:spcBef>
              <a:spcAft>
                <a:spcPts val="0"/>
              </a:spcAft>
              <a:buNone/>
            </a:pPr>
            <a:r>
              <a:rPr sz="1800" b="0" i="0">
                <a:solidFill>
                  <a:srgbClr val="2B3A55"/>
                </a:solidFill>
                <a:latin typeface="+mn-lt"/>
              </a:rPr>
              <a:t>Running untrusted models brings back the RCE you tried to avoid (the Execution Paradox).</a:t>
            </a:r>
          </a:p>
          <a:p>
            <a:pPr marL="0" indent="0" algn="l">
              <a:lnSpc>
                <a:spcPct val="100000"/>
              </a:lnSpc>
              <a:spcBef>
                <a:spcPts val="0"/>
              </a:spcBef>
              <a:spcAft>
                <a:spcPts val="0"/>
              </a:spcAft>
              <a:buNone/>
            </a:pPr>
            <a:r>
              <a:rPr sz="1800" b="0" i="0">
                <a:solidFill>
                  <a:srgbClr val="2B3A55"/>
                </a:solidFill>
                <a:latin typeface="+mn-lt"/>
              </a:rPr>
              <a:t>Dynamic backdoor tests need the trigger token: a needle in a haystack.</a:t>
            </a:r>
          </a:p>
          <a:p>
            <a:pPr marL="0" indent="0" algn="l">
              <a:lnSpc>
                <a:spcPct val="100000"/>
              </a:lnSpc>
              <a:spcBef>
                <a:spcPts val="0"/>
              </a:spcBef>
              <a:spcAft>
                <a:spcPts val="0"/>
              </a:spcAft>
              <a:buNone/>
            </a:pPr>
            <a:r>
              <a:rPr sz="1800" b="0" i="0">
                <a:solidFill>
                  <a:srgbClr val="2B3A55"/>
                </a:solidFill>
                <a:latin typeface="+mn-lt"/>
              </a:rPr>
              <a:t>Neural Cleanse: hours on GPU clusters plus clean validation data.</a:t>
            </a:r>
          </a:p>
        </p:txBody>
      </p:sp>
      <p:sp>
        <p:nvSpPr>
          <p:cNvPr id="7" name="Why card 2"/>
          <p:cNvSpPr/>
          <p:nvPr/>
        </p:nvSpPr>
        <p:spPr>
          <a:xfrm>
            <a:off x="4160520" y="1280160"/>
            <a:ext cx="3657600" cy="310896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800" b="1" i="0">
                <a:solidFill>
                  <a:srgbClr val="2B3A55"/>
                </a:solidFill>
                <a:latin typeface="+mn-lt"/>
              </a:rPr>
              <a:t>RMT, not just moments</a:t>
            </a:r>
          </a:p>
          <a:p>
            <a:pPr marL="0" indent="0" algn="l">
              <a:lnSpc>
                <a:spcPct val="100000"/>
              </a:lnSpc>
              <a:spcBef>
                <a:spcPts val="0"/>
              </a:spcBef>
              <a:spcAft>
                <a:spcPts val="0"/>
              </a:spcAft>
              <a:buNone/>
            </a:pPr>
            <a:r>
              <a:rPr sz="1800" b="0" i="0">
                <a:solidFill>
                  <a:srgbClr val="2B3A55"/>
                </a:solidFill>
                <a:latin typeface="+mn-lt"/>
              </a:rPr>
              <a:t>Tampering collapses matrix rank; mean, std, skew stay unchanged.</a:t>
            </a:r>
          </a:p>
          <a:p>
            <a:pPr marL="0" indent="0" algn="l">
              <a:lnSpc>
                <a:spcPct val="100000"/>
              </a:lnSpc>
              <a:spcBef>
                <a:spcPts val="0"/>
              </a:spcBef>
              <a:spcAft>
                <a:spcPts val="0"/>
              </a:spcAft>
              <a:buNone/>
            </a:pPr>
            <a:r>
              <a:rPr sz="1800" b="0" i="0">
                <a:solidFill>
                  <a:srgbClr val="2B3A55"/>
                </a:solidFill>
                <a:latin typeface="+mn-lt"/>
              </a:rPr>
              <a:t>Singular values scream: a rank-1 spike exits the Marchenko-Pastur bulk.</a:t>
            </a:r>
          </a:p>
          <a:p>
            <a:pPr marL="0" indent="0" algn="l">
              <a:lnSpc>
                <a:spcPct val="100000"/>
              </a:lnSpc>
              <a:spcBef>
                <a:spcPts val="0"/>
              </a:spcBef>
              <a:spcAft>
                <a:spcPts val="0"/>
              </a:spcAft>
              <a:buNone/>
            </a:pPr>
            <a:r>
              <a:rPr sz="1800" b="0" i="0">
                <a:solidFill>
                  <a:srgbClr val="2B3A55"/>
                </a:solidFill>
                <a:latin typeface="+mn-lt"/>
              </a:rPr>
              <a:t>The one frame that catches rank-1 injection in theory.</a:t>
            </a:r>
          </a:p>
        </p:txBody>
      </p:sp>
      <p:sp>
        <p:nvSpPr>
          <p:cNvPr id="8" name="Why card 3"/>
          <p:cNvSpPr/>
          <p:nvPr/>
        </p:nvSpPr>
        <p:spPr>
          <a:xfrm>
            <a:off x="8001000" y="1280160"/>
            <a:ext cx="3657600" cy="310896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800" b="1" i="0">
                <a:solidFill>
                  <a:srgbClr val="2B3A55"/>
                </a:solidFill>
                <a:latin typeface="+mn-lt"/>
              </a:rPr>
              <a:t>Logistic Regression, not a DNN</a:t>
            </a:r>
          </a:p>
          <a:p>
            <a:pPr marL="0" indent="0" algn="l">
              <a:lnSpc>
                <a:spcPct val="100000"/>
              </a:lnSpc>
              <a:spcBef>
                <a:spcPts val="0"/>
              </a:spcBef>
              <a:spcAft>
                <a:spcPts val="0"/>
              </a:spcAft>
              <a:buNone/>
            </a:pPr>
            <a:r>
              <a:rPr sz="1800" b="0" i="0">
                <a:solidFill>
                  <a:srgbClr val="2B3A55"/>
                </a:solidFill>
                <a:latin typeface="+mn-lt"/>
              </a:rPr>
              <a:t>On 200 samples a deep net overfits.</a:t>
            </a:r>
          </a:p>
          <a:p>
            <a:pPr marL="0" indent="0" algn="l">
              <a:lnSpc>
                <a:spcPct val="100000"/>
              </a:lnSpc>
              <a:spcBef>
                <a:spcPts val="0"/>
              </a:spcBef>
              <a:spcAft>
                <a:spcPts val="0"/>
              </a:spcAft>
              <a:buNone/>
            </a:pPr>
            <a:r>
              <a:rPr sz="1800" b="0" i="0">
                <a:solidFill>
                  <a:srgbClr val="2B3A55"/>
                </a:solidFill>
                <a:latin typeface="+mn-lt"/>
              </a:rPr>
              <a:t>Black-box verdicts are unauditable; in security, explainability is not optional.</a:t>
            </a:r>
          </a:p>
          <a:p>
            <a:pPr marL="0" indent="0" algn="l">
              <a:lnSpc>
                <a:spcPct val="100000"/>
              </a:lnSpc>
              <a:spcBef>
                <a:spcPts val="0"/>
              </a:spcBef>
              <a:spcAft>
                <a:spcPts val="0"/>
              </a:spcAft>
              <a:buNone/>
            </a:pPr>
            <a:r>
              <a:rPr sz="1800" b="0" i="0">
                <a:solidFill>
                  <a:srgbClr val="2B3A55"/>
                </a:solidFill>
                <a:latin typeface="+mn-lt"/>
              </a:rPr>
              <a:t>Linear coefficients explain the verdict; microsecond inference.</a:t>
            </a:r>
          </a:p>
        </p:txBody>
      </p:sp>
      <p:sp>
        <p:nvSpPr>
          <p:cNvPr id="9" name="Trade-off banner"/>
          <p:cNvSpPr/>
          <p:nvPr/>
        </p:nvSpPr>
        <p:spPr>
          <a:xfrm>
            <a:off x="320040" y="4572000"/>
            <a:ext cx="11338560" cy="1051560"/>
          </a:xfrm>
          <a:prstGeom prst="roundRect">
            <a:avLst>
              <a:gd name="adj" fmla="val 12000"/>
            </a:avLst>
          </a:prstGeom>
          <a:solidFill>
            <a:srgbClr val="1F4E79"/>
          </a:solidFill>
          <a:ln>
            <a:noFill/>
          </a:ln>
        </p:spPr>
        <p:txBody>
          <a:bodyPr rtlCol="0" anchor="ctr" wrap="square" lIns="73152" rIns="73152" tIns="36576" bIns="36576"/>
          <a:lstStyle/>
          <a:p>
            <a:pPr marL="0" indent="0" algn="ctr">
              <a:lnSpc>
                <a:spcPct val="100000"/>
              </a:lnSpc>
              <a:spcBef>
                <a:spcPts val="0"/>
              </a:spcBef>
              <a:spcAft>
                <a:spcPts val="0"/>
              </a:spcAft>
              <a:buNone/>
            </a:pPr>
            <a:r>
              <a:rPr sz="1600" b="0" i="0">
                <a:solidFill>
                  <a:srgbClr val="FFFFFF"/>
                </a:solidFill>
                <a:latin typeface="+mn-lt"/>
              </a:rPr>
              <a:t>Honest trade-off: spectral-only already reached 0.965 accuracy, yet I kept the distributional engine for (1) auditability, e.g. “Layer 3 has kurtosis 2261 and 14% extreme outliers”, and (2) coverage: SVD cannot see mantissa steganography or duplicate constants.</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Business View</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310270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sp>
        <p:nvSpPr>
          <p:cNvPr id="6" name="Market card 1"/>
          <p:cNvSpPr/>
          <p:nvPr/>
        </p:nvSpPr>
        <p:spPr>
          <a:xfrm>
            <a:off x="320040" y="1280160"/>
            <a:ext cx="3657600" cy="310896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2000" b="1" i="0">
                <a:solidFill>
                  <a:srgbClr val="2B3A55"/>
                </a:solidFill>
                <a:latin typeface="+mn-lt"/>
              </a:rPr>
              <a:t>1 · SaaS for CI/CD</a:t>
            </a:r>
          </a:p>
          <a:p>
            <a:pPr marL="0" indent="0" algn="l">
              <a:lnSpc>
                <a:spcPct val="100000"/>
              </a:lnSpc>
              <a:spcBef>
                <a:spcPts val="0"/>
              </a:spcBef>
              <a:spcAft>
                <a:spcPts val="0"/>
              </a:spcAft>
              <a:buNone/>
            </a:pPr>
            <a:r>
              <a:rPr sz="2000" b="0" i="0">
                <a:solidFill>
                  <a:srgbClr val="2B3A55"/>
                </a:solidFill>
                <a:latin typeface="+mn-lt"/>
              </a:rPr>
              <a:t>Subscription: auto-scan every model entering the registry.</a:t>
            </a:r>
          </a:p>
          <a:p>
            <a:pPr marL="0" indent="0" algn="l">
              <a:lnSpc>
                <a:spcPct val="100000"/>
              </a:lnSpc>
              <a:spcBef>
                <a:spcPts val="0"/>
              </a:spcBef>
              <a:spcAft>
                <a:spcPts val="0"/>
              </a:spcAft>
              <a:buNone/>
            </a:pPr>
            <a:r>
              <a:rPr sz="2000" b="0" i="0">
                <a:solidFill>
                  <a:srgbClr val="2B3A55"/>
                </a:solidFill>
                <a:latin typeface="+mn-lt"/>
              </a:rPr>
              <a:t>0.0% false quarantine is the killer feature: if a scanner blocks clean builds, engineers disable it.</a:t>
            </a:r>
          </a:p>
        </p:txBody>
      </p:sp>
      <p:sp>
        <p:nvSpPr>
          <p:cNvPr id="7" name="Market card 2"/>
          <p:cNvSpPr/>
          <p:nvPr/>
        </p:nvSpPr>
        <p:spPr>
          <a:xfrm>
            <a:off x="4160520" y="1280160"/>
            <a:ext cx="3657600" cy="310896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2000" b="1" i="0">
                <a:solidFill>
                  <a:srgbClr val="2B3A55"/>
                </a:solidFill>
                <a:latin typeface="+mn-lt"/>
              </a:rPr>
              <a:t>2 · On-prem licensing</a:t>
            </a:r>
          </a:p>
          <a:p>
            <a:pPr marL="0" indent="0" algn="l">
              <a:lnSpc>
                <a:spcPct val="100000"/>
              </a:lnSpc>
              <a:spcBef>
                <a:spcPts val="0"/>
              </a:spcBef>
              <a:spcAft>
                <a:spcPts val="0"/>
              </a:spcAft>
              <a:buNone/>
            </a:pPr>
            <a:r>
              <a:rPr sz="2000" b="0" i="0">
                <a:solidFill>
                  <a:srgbClr val="2B3A55"/>
                </a:solidFill>
                <a:latin typeface="+mn-lt"/>
              </a:rPr>
              <a:t>Defense, finance, and healthcare need air-gapped deployment.</a:t>
            </a:r>
          </a:p>
          <a:p>
            <a:pPr marL="0" indent="0" algn="l">
              <a:lnSpc>
                <a:spcPct val="100000"/>
              </a:lnSpc>
              <a:spcBef>
                <a:spcPts val="0"/>
              </a:spcBef>
              <a:spcAft>
                <a:spcPts val="0"/>
              </a:spcAft>
              <a:buNone/>
            </a:pPr>
            <a:r>
              <a:rPr sz="2000" b="0" i="0">
                <a:solidFill>
                  <a:srgbClr val="2B3A55"/>
                </a:solidFill>
                <a:latin typeface="+mn-lt"/>
              </a:rPr>
              <a:t>CPU-only, &lt; 512 MB RAM: air-gapped deployment is trivial.</a:t>
            </a:r>
          </a:p>
        </p:txBody>
      </p:sp>
      <p:sp>
        <p:nvSpPr>
          <p:cNvPr id="8" name="Market card 3"/>
          <p:cNvSpPr/>
          <p:nvPr/>
        </p:nvSpPr>
        <p:spPr>
          <a:xfrm>
            <a:off x="8001000" y="1280160"/>
            <a:ext cx="3657600" cy="310896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2000" b="1" i="0">
                <a:solidFill>
                  <a:srgbClr val="2B3A55"/>
                </a:solidFill>
                <a:latin typeface="+mn-lt"/>
              </a:rPr>
              <a:t>3 · Premium threat intelligence</a:t>
            </a:r>
          </a:p>
          <a:p>
            <a:pPr marL="0" indent="0" algn="l">
              <a:lnSpc>
                <a:spcPct val="100000"/>
              </a:lnSpc>
              <a:spcBef>
                <a:spcPts val="0"/>
              </a:spcBef>
              <a:spcAft>
                <a:spcPts val="0"/>
              </a:spcAft>
              <a:buNone/>
            </a:pPr>
            <a:r>
              <a:rPr sz="2000" b="0" i="0">
                <a:solidFill>
                  <a:srgbClr val="2B3A55"/>
                </a:solidFill>
                <a:latin typeface="+mn-lt"/>
              </a:rPr>
              <a:t>The detection algorithms are the moat.</a:t>
            </a:r>
          </a:p>
          <a:p>
            <a:pPr marL="0" indent="0" algn="l">
              <a:lnSpc>
                <a:spcPct val="100000"/>
              </a:lnSpc>
              <a:spcBef>
                <a:spcPts val="0"/>
              </a:spcBef>
              <a:spcAft>
                <a:spcPts val="0"/>
              </a:spcAft>
              <a:buNone/>
            </a:pPr>
            <a:r>
              <a:rPr sz="2000" b="0" i="0">
                <a:solidFill>
                  <a:srgbClr val="2B3A55"/>
                </a:solidFill>
                <a:latin typeface="+mn-lt"/>
              </a:rPr>
              <a:t>Real-world attack signatures become a premium tier.</a:t>
            </a:r>
          </a:p>
        </p:txBody>
      </p:sp>
      <p:sp>
        <p:nvSpPr>
          <p:cNvPr id="9" name="Trust banner"/>
          <p:cNvSpPr/>
          <p:nvPr/>
        </p:nvSpPr>
        <p:spPr>
          <a:xfrm>
            <a:off x="320040" y="4572000"/>
            <a:ext cx="11338560" cy="1051560"/>
          </a:xfrm>
          <a:prstGeom prst="roundRect">
            <a:avLst>
              <a:gd name="adj" fmla="val 12000"/>
            </a:avLst>
          </a:prstGeom>
          <a:solidFill>
            <a:srgbClr val="1F4E79"/>
          </a:solidFill>
          <a:ln>
            <a:noFill/>
          </a:ln>
        </p:spPr>
        <p:txBody>
          <a:bodyPr rtlCol="0" anchor="ctr" wrap="square" lIns="73152" rIns="73152" tIns="36576" bIns="36576"/>
          <a:lstStyle/>
          <a:p>
            <a:pPr marL="0" indent="0" algn="ctr">
              <a:lnSpc>
                <a:spcPct val="100000"/>
              </a:lnSpc>
              <a:spcBef>
                <a:spcPts val="0"/>
              </a:spcBef>
              <a:spcAft>
                <a:spcPts val="0"/>
              </a:spcAft>
              <a:buNone/>
            </a:pPr>
            <a:r>
              <a:rPr sz="2000" b="0" i="0">
                <a:solidFill>
                  <a:srgbClr val="FFFFFF"/>
                </a:solidFill>
                <a:latin typeface="+mn-lt"/>
              </a:rPr>
              <a:t>Trust is the product: a scanner enterprises can trust on day one, because it never blocks a clean model and never misses a Trojan.</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6032" y="1280160"/>
            <a:ext cx="11521440" cy="3291840"/>
          </a:xfrm>
        </p:spPr>
        <p:txBody>
          <a:bodyPr>
            <a:noAutofit/>
          </a:bodyPr>
          <a:lstStyle/>
          <a:p>
            <a:pPr marL="292608" indent="-292608">
              <a:lnSpc>
                <a:spcPct val="100000"/>
              </a:lnSpc>
              <a:spcBef>
                <a:spcPts val="0"/>
              </a:spcBef>
              <a:spcAft>
                <a:spcPts val="1200"/>
              </a:spcAft>
              <a:buClr>
                <a:srgbClr val="2A7F8F"/>
              </a:buClr>
              <a:buFont typeface="Arial"/>
              <a:buChar char="•"/>
            </a:pPr>
            <a:r>
              <a:rPr sz="2200" b="1" i="0">
                <a:solidFill>
                  <a:srgbClr val="1C4D98"/>
                </a:solidFill>
                <a:latin typeface="+mn-lt"/>
              </a:rPr>
              <a:t>Deep Random Matrix Theory</a:t>
            </a:r>
            <a:r>
              <a:rPr sz="2200" b="0" i="0">
                <a:solidFill>
                  <a:srgbClr val="2B3A55"/>
                </a:solidFill>
                <a:latin typeface="+mn-lt"/>
              </a:rPr>
              <a:t> applied to production AI security</a:t>
            </a:r>
          </a:p>
          <a:p>
            <a:pPr marL="292608" indent="-292608">
              <a:lnSpc>
                <a:spcPct val="100000"/>
              </a:lnSpc>
              <a:spcBef>
                <a:spcPts val="0"/>
              </a:spcBef>
              <a:spcAft>
                <a:spcPts val="1200"/>
              </a:spcAft>
              <a:buClr>
                <a:srgbClr val="2A7F8F"/>
              </a:buClr>
              <a:buFont typeface="Arial"/>
              <a:buChar char="•"/>
            </a:pPr>
            <a:r>
              <a:rPr sz="2200" b="1" i="0">
                <a:solidFill>
                  <a:srgbClr val="1C4D98"/>
                </a:solidFill>
                <a:latin typeface="+mn-lt"/>
              </a:rPr>
              <a:t>Zero-trust architecture</a:t>
            </a:r>
            <a:r>
              <a:rPr sz="2200" b="0" i="0">
                <a:solidFill>
                  <a:srgbClr val="2B3A55"/>
                </a:solidFill>
                <a:latin typeface="+mn-lt"/>
              </a:rPr>
              <a:t> with fail-closed contracts</a:t>
            </a:r>
          </a:p>
          <a:p>
            <a:pPr marL="292608" indent="-292608">
              <a:lnSpc>
                <a:spcPct val="100000"/>
              </a:lnSpc>
              <a:spcBef>
                <a:spcPts val="0"/>
              </a:spcBef>
              <a:spcAft>
                <a:spcPts val="1200"/>
              </a:spcAft>
              <a:buClr>
                <a:srgbClr val="2A7F8F"/>
              </a:buClr>
              <a:buFont typeface="Arial"/>
              <a:buChar char="•"/>
            </a:pPr>
            <a:r>
              <a:rPr sz="2200" b="1" i="0">
                <a:solidFill>
                  <a:srgbClr val="1C4D98"/>
                </a:solidFill>
                <a:latin typeface="+mn-lt"/>
              </a:rPr>
              <a:t>MLSecOps engineering:</a:t>
            </a:r>
            <a:r>
              <a:rPr sz="2200" b="0" i="0">
                <a:solidFill>
                  <a:srgbClr val="2B3A55"/>
                </a:solidFill>
                <a:latin typeface="+mn-lt"/>
              </a:rPr>
              <a:t> pip package, CLI, FastAPI, Streamlit, MCP, Docker</a:t>
            </a:r>
          </a:p>
          <a:p>
            <a:pPr marL="292608" indent="-292608">
              <a:lnSpc>
                <a:spcPct val="100000"/>
              </a:lnSpc>
              <a:spcBef>
                <a:spcPts val="0"/>
              </a:spcBef>
              <a:spcAft>
                <a:spcPts val="1200"/>
              </a:spcAft>
              <a:buClr>
                <a:srgbClr val="2A7F8F"/>
              </a:buClr>
              <a:buFont typeface="Arial"/>
              <a:buChar char="•"/>
            </a:pPr>
            <a:r>
              <a:rPr sz="2200" b="1" i="0">
                <a:solidFill>
                  <a:srgbClr val="1C4D98"/>
                </a:solidFill>
                <a:latin typeface="+mn-lt"/>
              </a:rPr>
              <a:t>Rigorous validation:</a:t>
            </a:r>
            <a:r>
              <a:rPr sz="2200" b="0" i="0">
                <a:solidFill>
                  <a:srgbClr val="2B3A55"/>
                </a:solidFill>
                <a:latin typeface="+mn-lt"/>
              </a:rPr>
              <a:t> 15-fold cross-validation</a:t>
            </a:r>
          </a:p>
          <a:p>
            <a:pPr marL="292608" indent="-292608">
              <a:lnSpc>
                <a:spcPct val="100000"/>
              </a:lnSpc>
              <a:spcBef>
                <a:spcPts val="0"/>
              </a:spcBef>
              <a:spcAft>
                <a:spcPts val="1200"/>
              </a:spcAft>
              <a:buClr>
                <a:srgbClr val="2A7F8F"/>
              </a:buClr>
              <a:buFont typeface="Arial"/>
              <a:buChar char="•"/>
            </a:pPr>
            <a:r>
              <a:rPr sz="2200" b="1" i="0">
                <a:solidFill>
                  <a:srgbClr val="1C4D98"/>
                </a:solidFill>
                <a:latin typeface="+mn-lt"/>
              </a:rPr>
              <a:t>Business judgment:</a:t>
            </a:r>
            <a:r>
              <a:rPr sz="2200" b="0" i="0">
                <a:solidFill>
                  <a:srgbClr val="2B3A55"/>
                </a:solidFill>
                <a:latin typeface="+mn-lt"/>
              </a:rPr>
              <a:t> kept interpretable features even when metrics said I could drop them</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Resume-Level Takeaways</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5167332"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sp>
        <p:nvSpPr>
          <p:cNvPr id="6" name="Soundbite"/>
          <p:cNvSpPr/>
          <p:nvPr/>
        </p:nvSpPr>
        <p:spPr>
          <a:xfrm>
            <a:off x="320040" y="4754880"/>
            <a:ext cx="11338560" cy="868680"/>
          </a:xfrm>
          <a:prstGeom prst="roundRect">
            <a:avLst>
              <a:gd name="adj" fmla="val 12000"/>
            </a:avLst>
          </a:prstGeom>
          <a:solidFill>
            <a:srgbClr val="1F4E79"/>
          </a:solidFill>
          <a:ln>
            <a:noFill/>
          </a:ln>
        </p:spPr>
        <p:txBody>
          <a:bodyPr rtlCol="0" anchor="ctr" wrap="square" lIns="73152" rIns="73152" tIns="36576" bIns="36576"/>
          <a:lstStyle/>
          <a:p>
            <a:pPr marL="0" indent="0" algn="ctr">
              <a:lnSpc>
                <a:spcPct val="100000"/>
              </a:lnSpc>
              <a:spcBef>
                <a:spcPts val="0"/>
              </a:spcBef>
              <a:spcAft>
                <a:spcPts val="0"/>
              </a:spcAft>
              <a:buNone/>
            </a:pPr>
            <a:r>
              <a:rPr sz="2000" b="0" i="0">
                <a:solidFill>
                  <a:srgbClr val="FFFFFF"/>
                </a:solidFill>
                <a:latin typeface="+mn-lt"/>
              </a:rPr>
              <a:t>“SafeTensors secures the envelope. ModelSentinel is the X-ray machine that inspects the letter inside, without opening it.”</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Current Tools vs ModelSentinel (1/2)</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5331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pic>
        <p:nvPicPr>
          <p:cNvPr id="6" name="Infographic top" descr="Left: existing scanners check only the file header and report SAFE on trojaned .safetensors. Right: ModelSentinel's 10-stage forensic pipeline detects Trojans, attention hijacking and steganography and returns QUARANTINE / REVIEW / ALLOW."/>
          <p:cNvPicPr>
            <a:picLocks noChangeAspect="1"/>
          </p:cNvPicPr>
          <p:nvPr/>
        </p:nvPicPr>
        <p:blipFill>
          <a:blip r:embed="rId2"/>
          <a:stretch>
            <a:fillRect/>
          </a:stretch>
        </p:blipFill>
        <p:spPr>
          <a:xfrm>
            <a:off x="551696" y="1280160"/>
            <a:ext cx="11088303" cy="4389120"/>
          </a:xfrm>
          <a:prstGeom prst="rect">
            <a:avLst/>
          </a:prstGeom>
        </p:spPr>
      </p:pic>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Why My Idea is Better (2/2)</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5645546"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pic>
        <p:nvPicPr>
          <p:cNvPr id="6" name="Infographic bottom" descr="Capability comparison table (existing scanners vs ModelSentinel) and the four reasons ModelSentinel is better: detects real threats, solves layer dilution, explainable and auditable, practical and enterprise-ready."/>
          <p:cNvPicPr>
            <a:picLocks noChangeAspect="1"/>
          </p:cNvPicPr>
          <p:nvPr/>
        </p:nvPicPr>
        <p:blipFill>
          <a:blip r:embed="rId2"/>
          <a:stretch>
            <a:fillRect/>
          </a:stretch>
        </p:blipFill>
        <p:spPr>
          <a:xfrm>
            <a:off x="426567" y="1645920"/>
            <a:ext cx="11338560" cy="3056096"/>
          </a:xfrm>
          <a:prstGeom prst="rect">
            <a:avLst/>
          </a:prstGeom>
        </p:spPr>
      </p:pic>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872131-A6C0-4ECF-9994-EA002B6EAD86}"/>
              </a:ext>
            </a:extLst>
          </p:cNvPr>
          <p:cNvSpPr>
            <a:spLocks noGrp="1"/>
          </p:cNvSpPr>
          <p:nvPr>
            <p:ph type="body" sz="quarter" idx="13"/>
          </p:nvPr>
        </p:nvSpPr>
        <p:spPr>
          <a:xfrm>
            <a:off x="256032" y="1280160"/>
            <a:ext cx="6583680" cy="4389120"/>
          </a:xfrm>
        </p:spPr>
        <p:txBody>
          <a:bodyPr>
            <a:noAutofit/>
          </a:bodyPr>
          <a:lstStyle/>
          <a:p>
            <a:pPr marL="292608" indent="-292608">
              <a:lnSpc>
                <a:spcPct val="100000"/>
              </a:lnSpc>
              <a:spcBef>
                <a:spcPts val="0"/>
              </a:spcBef>
              <a:spcAft>
                <a:spcPts val="800"/>
              </a:spcAft>
              <a:buClr>
                <a:srgbClr val="2A7F8F"/>
              </a:buClr>
              <a:buFont typeface="Arial"/>
              <a:buChar char="•"/>
            </a:pPr>
            <a:r>
              <a:rPr sz="1700" b="1" i="0">
                <a:solidFill>
                  <a:srgbClr val="1C4D98"/>
                </a:solidFill>
                <a:latin typeface="+mn-lt"/>
              </a:rPr>
              <a:t>Solved the SafeTensors Fallacy:</a:t>
            </a:r>
            <a:r>
              <a:rPr sz="1700" b="0" i="0">
                <a:solidFill>
                  <a:srgbClr val="2B3A55"/>
                </a:solidFill>
                <a:latin typeface="+mn-lt"/>
              </a:rPr>
              <a:t> first zero-code-execution static forensics for .safetensors weights; detects Trojans, backdoors, attention hijacking, and steganography.</a:t>
            </a:r>
          </a:p>
          <a:p>
            <a:pPr marL="292608" indent="-292608">
              <a:lnSpc>
                <a:spcPct val="100000"/>
              </a:lnSpc>
              <a:spcBef>
                <a:spcPts val="0"/>
              </a:spcBef>
              <a:spcAft>
                <a:spcPts val="800"/>
              </a:spcAft>
              <a:buClr>
                <a:srgbClr val="2A7F8F"/>
              </a:buClr>
              <a:buFont typeface="Arial"/>
              <a:buChar char="•"/>
            </a:pPr>
            <a:r>
              <a:rPr sz="1700" b="1" i="0">
                <a:solidFill>
                  <a:srgbClr val="1C4D98"/>
                </a:solidFill>
                <a:latin typeface="+mn-lt"/>
              </a:rPr>
              <a:t>State-of-the-art:</a:t>
            </a:r>
            <a:r>
              <a:rPr sz="1700" b="0" i="0">
                <a:solidFill>
                  <a:srgbClr val="2B3A55"/>
                </a:solidFill>
                <a:latin typeface="+mn-lt"/>
              </a:rPr>
              <a:t> 96.5% accuracy, 0.987 ROC-AUC, 0.0% false quarantine, 100% stego recall; 1.42 s CPU scan, &lt; 512 MB RAM.</a:t>
            </a:r>
          </a:p>
          <a:p>
            <a:pPr marL="292608" indent="-292608">
              <a:lnSpc>
                <a:spcPct val="100000"/>
              </a:lnSpc>
              <a:spcBef>
                <a:spcPts val="0"/>
              </a:spcBef>
              <a:spcAft>
                <a:spcPts val="800"/>
              </a:spcAft>
              <a:buClr>
                <a:srgbClr val="2A7F8F"/>
              </a:buClr>
              <a:buFont typeface="Arial"/>
              <a:buChar char="•"/>
            </a:pPr>
            <a:r>
              <a:rPr sz="1700" b="1" i="0">
                <a:solidFill>
                  <a:srgbClr val="1C4D98"/>
                </a:solidFill>
                <a:latin typeface="+mn-lt"/>
              </a:rPr>
              <a:t>Novel contributions:</a:t>
            </a:r>
            <a:r>
              <a:rPr sz="1700" b="0" i="0">
                <a:solidFill>
                  <a:srgbClr val="2B3A55"/>
                </a:solidFill>
                <a:latin typeface="+mn-lt"/>
              </a:rPr>
              <a:t> Sarle's BC lifts bimodal triggers 24% → 96%; duplicate ratio lifts repeated constants 71% → 100%; LSE-MIL (τ = 6.0) defeats layer dilution; BBP ratio on a robust MAD bulk.</a:t>
            </a:r>
          </a:p>
          <a:p>
            <a:pPr marL="292608" indent="-292608">
              <a:lnSpc>
                <a:spcPct val="100000"/>
              </a:lnSpc>
              <a:spcBef>
                <a:spcPts val="0"/>
              </a:spcBef>
              <a:spcAft>
                <a:spcPts val="800"/>
              </a:spcAft>
              <a:buClr>
                <a:srgbClr val="2A7F8F"/>
              </a:buClr>
              <a:buFont typeface="Arial"/>
              <a:buChar char="•"/>
            </a:pPr>
            <a:r>
              <a:rPr sz="1700" b="1" i="0">
                <a:solidFill>
                  <a:srgbClr val="1C4D98"/>
                </a:solidFill>
                <a:latin typeface="+mn-lt"/>
              </a:rPr>
              <a:t>Surgical remediation:</a:t>
            </a:r>
            <a:r>
              <a:rPr sz="1700" b="0" i="0">
                <a:solidFill>
                  <a:srgbClr val="2B3A55"/>
                </a:solidFill>
                <a:latin typeface="+mn-lt"/>
              </a:rPr>
              <a:t> Rank-1 SVD deflation in &lt; 2 s keeps 99.8% utility; no retraining.</a:t>
            </a:r>
          </a:p>
          <a:p>
            <a:pPr marL="292608" indent="-292608">
              <a:lnSpc>
                <a:spcPct val="100000"/>
              </a:lnSpc>
              <a:spcBef>
                <a:spcPts val="0"/>
              </a:spcBef>
              <a:spcAft>
                <a:spcPts val="800"/>
              </a:spcAft>
              <a:buClr>
                <a:srgbClr val="2A7F8F"/>
              </a:buClr>
              <a:buFont typeface="Arial"/>
              <a:buChar char="•"/>
            </a:pPr>
            <a:r>
              <a:rPr sz="1700" b="1" i="0">
                <a:solidFill>
                  <a:srgbClr val="1C4D98"/>
                </a:solidFill>
                <a:latin typeface="+mn-lt"/>
              </a:rPr>
              <a:t>Production-ready:</a:t>
            </a:r>
            <a:r>
              <a:rPr sz="1700" b="0" i="0">
                <a:solidFill>
                  <a:srgbClr val="2B3A55"/>
                </a:solidFill>
                <a:latin typeface="+mn-lt"/>
              </a:rPr>
              <a:t> Python package, CLI (exit codes 0/2/3), FastAPI, Streamlit, MCP server, hardened Docker.</a:t>
            </a:r>
          </a:p>
        </p:txBody>
      </p:sp>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1521440" cy="646331"/>
          </a:xfrm>
          <a:prstGeom prst="rect">
            <a:avLst/>
          </a:prstGeom>
          <a:noFill/>
        </p:spPr>
        <p:txBody>
          <a:bodyPr wrap="square" rtlCol="0">
            <a:spAutoFit/>
          </a:bodyPr>
          <a:lstStyle/>
          <a:p>
            <a:pPr lvl="0">
              <a:defRPr/>
            </a:pPr>
            <a:r>
              <a:rPr lang="fr-FR" sz="3600" b="1" dirty="0">
                <a:solidFill>
                  <a:srgbClr val="5B9BD5">
                    <a:lumMod val="50000"/>
                  </a:srgbClr>
                </a:solidFill>
              </a:rPr>
              <a:t>Conclusion: Summary of Achievements</a:t>
            </a: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79841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sp>
        <p:nvSpPr>
          <p:cNvPr id="6" name="Achievement 1"/>
          <p:cNvSpPr/>
          <p:nvPr/>
        </p:nvSpPr>
        <p:spPr>
          <a:xfrm>
            <a:off x="7132320" y="1280160"/>
            <a:ext cx="4663440" cy="132588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600" b="1" i="0">
                <a:solidFill>
                  <a:srgbClr val="2B3A55"/>
                </a:solidFill>
                <a:latin typeface="+mn-lt"/>
              </a:rPr>
              <a:t>Detection</a:t>
            </a:r>
          </a:p>
          <a:p>
            <a:pPr marL="0" indent="0" algn="l">
              <a:lnSpc>
                <a:spcPct val="100000"/>
              </a:lnSpc>
              <a:spcBef>
                <a:spcPts val="0"/>
              </a:spcBef>
              <a:spcAft>
                <a:spcPts val="0"/>
              </a:spcAft>
              <a:buNone/>
            </a:pPr>
            <a:r>
              <a:rPr sz="1600" b="0" i="0">
                <a:solidFill>
                  <a:srgbClr val="2B3A55"/>
                </a:solidFill>
                <a:latin typeface="+mn-lt"/>
              </a:rPr>
              <a:t>96.5% accuracy · 0.987 ROC-AUC</a:t>
            </a:r>
          </a:p>
          <a:p>
            <a:pPr marL="0" indent="0" algn="l">
              <a:lnSpc>
                <a:spcPct val="100000"/>
              </a:lnSpc>
              <a:spcBef>
                <a:spcPts val="0"/>
              </a:spcBef>
              <a:spcAft>
                <a:spcPts val="0"/>
              </a:spcAft>
              <a:buNone/>
            </a:pPr>
            <a:r>
              <a:rPr sz="1600" b="0" i="0">
                <a:solidFill>
                  <a:srgbClr val="2B3A55"/>
                </a:solidFill>
                <a:latin typeface="+mn-lt"/>
              </a:rPr>
              <a:t>100% Trojan · 100% Stego</a:t>
            </a:r>
          </a:p>
        </p:txBody>
      </p:sp>
      <p:sp>
        <p:nvSpPr>
          <p:cNvPr id="7" name="Achievement 2"/>
          <p:cNvSpPr/>
          <p:nvPr/>
        </p:nvSpPr>
        <p:spPr>
          <a:xfrm>
            <a:off x="7132320" y="2743200"/>
            <a:ext cx="4663440" cy="132588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600" b="1" i="0">
                <a:solidFill>
                  <a:srgbClr val="2B3A55"/>
                </a:solidFill>
                <a:latin typeface="+mn-lt"/>
              </a:rPr>
              <a:t>Performance</a:t>
            </a:r>
          </a:p>
          <a:p>
            <a:pPr marL="0" indent="0" algn="l">
              <a:lnSpc>
                <a:spcPct val="100000"/>
              </a:lnSpc>
              <a:spcBef>
                <a:spcPts val="0"/>
              </a:spcBef>
              <a:spcAft>
                <a:spcPts val="0"/>
              </a:spcAft>
              <a:buNone/>
            </a:pPr>
            <a:r>
              <a:rPr sz="1600" b="0" i="0">
                <a:solidFill>
                  <a:srgbClr val="2B3A55"/>
                </a:solidFill>
                <a:latin typeface="+mn-lt"/>
              </a:rPr>
              <a:t>1.42 s scan · &lt; 512 MB RAM</a:t>
            </a:r>
          </a:p>
          <a:p>
            <a:pPr marL="0" indent="0" algn="l">
              <a:lnSpc>
                <a:spcPct val="100000"/>
              </a:lnSpc>
              <a:spcBef>
                <a:spcPts val="0"/>
              </a:spcBef>
              <a:spcAft>
                <a:spcPts val="0"/>
              </a:spcAft>
              <a:buNone/>
            </a:pPr>
            <a:r>
              <a:rPr sz="1600" b="0" i="0">
                <a:solidFill>
                  <a:srgbClr val="2B3A55"/>
                </a:solidFill>
                <a:latin typeface="+mn-lt"/>
              </a:rPr>
              <a:t>CPU-only · zero GPU</a:t>
            </a:r>
          </a:p>
        </p:txBody>
      </p:sp>
      <p:sp>
        <p:nvSpPr>
          <p:cNvPr id="8" name="Achievement 3"/>
          <p:cNvSpPr/>
          <p:nvPr/>
        </p:nvSpPr>
        <p:spPr>
          <a:xfrm>
            <a:off x="7132320" y="4206240"/>
            <a:ext cx="4663440" cy="132588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600" b="1" i="0">
                <a:solidFill>
                  <a:srgbClr val="2B3A55"/>
                </a:solidFill>
                <a:latin typeface="+mn-lt"/>
              </a:rPr>
              <a:t>Remediation</a:t>
            </a:r>
          </a:p>
          <a:p>
            <a:pPr marL="0" indent="0" algn="l">
              <a:lnSpc>
                <a:spcPct val="100000"/>
              </a:lnSpc>
              <a:spcBef>
                <a:spcPts val="0"/>
              </a:spcBef>
              <a:spcAft>
                <a:spcPts val="0"/>
              </a:spcAft>
              <a:buNone/>
            </a:pPr>
            <a:r>
              <a:rPr sz="1600" b="0" i="0">
                <a:solidFill>
                  <a:srgbClr val="2B3A55"/>
                </a:solidFill>
                <a:latin typeface="+mn-lt"/>
              </a:rPr>
              <a:t>SVD deflation · 99.8% utility</a:t>
            </a:r>
          </a:p>
          <a:p>
            <a:pPr marL="0" indent="0" algn="l">
              <a:lnSpc>
                <a:spcPct val="100000"/>
              </a:lnSpc>
              <a:spcBef>
                <a:spcPts val="0"/>
              </a:spcBef>
              <a:spcAft>
                <a:spcPts val="0"/>
              </a:spcAft>
              <a:buNone/>
            </a:pPr>
            <a:r>
              <a:rPr sz="1600" b="0" i="0">
                <a:solidFill>
                  <a:srgbClr val="2B3A55"/>
                </a:solidFill>
                <a:latin typeface="+mn-lt"/>
              </a:rPr>
              <a:t>&lt; 2 s fix · no retraining</a:t>
            </a:r>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Limitations &amp; Future Work</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5421114"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graphicFrame>
        <p:nvGraphicFramePr>
          <p:cNvPr id="6" name="Limitations table"/>
          <p:cNvGraphicFramePr>
            <a:graphicFrameLocks noGrp="1"/>
          </p:cNvGraphicFramePr>
          <p:nvPr/>
        </p:nvGraphicFramePr>
        <p:xfrm>
          <a:off x="320040" y="1280160"/>
          <a:ext cx="11338560" cy="3401568"/>
        </p:xfrm>
        <a:graphic>
          <a:graphicData uri="http://schemas.openxmlformats.org/drawingml/2006/table">
            <a:tbl>
              <a:tblPr firstRow="1" bandRow="1">
                <a:tableStyleId>{5C22544A-7EE6-4342-B048-85BDC9FD1C3A}</a:tableStyleId>
              </a:tblPr>
              <a:tblGrid>
                <a:gridCol w="5486400"/>
                <a:gridCol w="5852160"/>
              </a:tblGrid>
              <a:tr h="566928">
                <a:tc>
                  <a:txBody>
                    <a:bodyPr wrap="square"/>
                    <a:lstStyle/>
                    <a:p>
                      <a:pPr marL="0" indent="0">
                        <a:lnSpc>
                          <a:spcPct val="100000"/>
                        </a:lnSpc>
                        <a:spcBef>
                          <a:spcPts val="0"/>
                        </a:spcBef>
                        <a:spcAft>
                          <a:spcPts val="0"/>
                        </a:spcAft>
                        <a:buNone/>
                      </a:pPr>
                      <a:r>
                        <a:rPr sz="1500" b="1" i="0">
                          <a:solidFill>
                            <a:srgbClr val="FFFFFF"/>
                          </a:solidFill>
                          <a:latin typeface="+mn-lt"/>
                        </a:rPr>
                        <a:t>Limitation</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500" b="1" i="0">
                          <a:solidFill>
                            <a:srgbClr val="FFFFFF"/>
                          </a:solidFill>
                          <a:latin typeface="+mn-lt"/>
                        </a:rPr>
                        <a:t>Future work</a:t>
                      </a:r>
                    </a:p>
                  </a:txBody>
                  <a:tcPr marL="73152" marR="73152" marT="27432" marB="27432" anchor="ctr">
                    <a:solidFill>
                      <a:srgbClr val="1F4E79"/>
                    </a:solidFill>
                  </a:tcPr>
                </a:tc>
              </a:tr>
              <a:tr h="566928">
                <a:tc>
                  <a:txBody>
                    <a:bodyPr wrap="square"/>
                    <a:lstStyle/>
                    <a:p>
                      <a:pPr marL="0" indent="0">
                        <a:lnSpc>
                          <a:spcPct val="100000"/>
                        </a:lnSpc>
                        <a:spcBef>
                          <a:spcPts val="0"/>
                        </a:spcBef>
                        <a:spcAft>
                          <a:spcPts val="0"/>
                        </a:spcAft>
                        <a:buNone/>
                      </a:pPr>
                      <a:r>
                        <a:rPr sz="1500" b="0" i="0">
                          <a:solidFill>
                            <a:srgbClr val="2B3A55"/>
                          </a:solidFill>
                          <a:latin typeface="+mn-lt"/>
                        </a:rPr>
                        <a:t>Exact SVD is O(min(m</a:t>
                      </a:r>
                      <a:r>
                        <a:rPr sz="1500" b="0" i="0" baseline="30000">
                          <a:solidFill>
                            <a:srgbClr val="2B3A55"/>
                          </a:solidFill>
                          <a:latin typeface="+mn-lt"/>
                        </a:rPr>
                        <a:t>2</a:t>
                      </a:r>
                      <a:r>
                        <a:rPr sz="1500" b="0" i="0">
                          <a:solidFill>
                            <a:srgbClr val="2B3A55"/>
                          </a:solidFill>
                          <a:latin typeface="+mn-lt"/>
                        </a:rPr>
                        <a:t>n, mn</a:t>
                      </a:r>
                      <a:r>
                        <a:rPr sz="1500" b="0" i="0" baseline="30000">
                          <a:solidFill>
                            <a:srgbClr val="2B3A55"/>
                          </a:solidFill>
                          <a:latin typeface="+mn-lt"/>
                        </a:rPr>
                        <a:t>2</a:t>
                      </a:r>
                      <a:r>
                        <a:rPr sz="1500" b="0" i="0">
                          <a:solidFill>
                            <a:srgbClr val="2B3A55"/>
                          </a:solidFill>
                          <a:latin typeface="+mn-lt"/>
                        </a:rPr>
                        <a:t>)): slow on 70B+ models</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500" b="0" i="0">
                          <a:solidFill>
                            <a:srgbClr val="2B3A55"/>
                          </a:solidFill>
                          <a:latin typeface="+mn-lt"/>
                        </a:rPr>
                        <a:t>Randomized SVD (Halko et al.) for sub-second spectral analysis</a:t>
                      </a:r>
                    </a:p>
                  </a:txBody>
                  <a:tcPr marL="73152" marR="73152" marT="27432" marB="27432" anchor="ctr">
                    <a:solidFill>
                      <a:srgbClr val="EAF3FA"/>
                    </a:solidFill>
                  </a:tcPr>
                </a:tc>
              </a:tr>
              <a:tr h="566928">
                <a:tc>
                  <a:txBody>
                    <a:bodyPr wrap="square"/>
                    <a:lstStyle/>
                    <a:p>
                      <a:pPr marL="0" indent="0">
                        <a:lnSpc>
                          <a:spcPct val="100000"/>
                        </a:lnSpc>
                        <a:spcBef>
                          <a:spcPts val="0"/>
                        </a:spcBef>
                        <a:spcAft>
                          <a:spcPts val="0"/>
                        </a:spcAft>
                        <a:buNone/>
                      </a:pPr>
                      <a:r>
                        <a:rPr sz="1500" b="0" i="0">
                          <a:solidFill>
                            <a:srgbClr val="2B3A55"/>
                          </a:solidFill>
                          <a:latin typeface="+mn-lt"/>
                        </a:rPr>
                        <a:t>Only FP32 / FP16 / BF16 .safetensors</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500" b="0" i="0">
                          <a:solidFill>
                            <a:srgbClr val="2B3A55"/>
                          </a:solidFill>
                          <a:latin typeface="+mn-lt"/>
                        </a:rPr>
                        <a:t>Streaming dequantization for GGUF, AWQ, GPTQ</a:t>
                      </a:r>
                    </a:p>
                  </a:txBody>
                  <a:tcPr marL="73152" marR="73152" marT="27432" marB="27432" anchor="ctr">
                    <a:solidFill>
                      <a:srgbClr val="FFFFFF"/>
                    </a:solidFill>
                  </a:tcPr>
                </a:tc>
              </a:tr>
              <a:tr h="566928">
                <a:tc>
                  <a:txBody>
                    <a:bodyPr wrap="square"/>
                    <a:lstStyle/>
                    <a:p>
                      <a:pPr marL="0" indent="0">
                        <a:lnSpc>
                          <a:spcPct val="100000"/>
                        </a:lnSpc>
                        <a:spcBef>
                          <a:spcPts val="0"/>
                        </a:spcBef>
                        <a:spcAft>
                          <a:spcPts val="0"/>
                        </a:spcAft>
                        <a:buNone/>
                      </a:pPr>
                      <a:r>
                        <a:rPr sz="1500" b="0" i="0">
                          <a:solidFill>
                            <a:srgbClr val="2B3A55"/>
                          </a:solidFill>
                          <a:latin typeface="+mn-lt"/>
                        </a:rPr>
                        <a:t>In-memory report store does not scale across workers</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500" b="0" i="0">
                          <a:solidFill>
                            <a:srgbClr val="2B3A55"/>
                          </a:solidFill>
                          <a:latin typeface="+mn-lt"/>
                        </a:rPr>
                        <a:t>Replace with Redis + PostgreSQL + Celery</a:t>
                      </a:r>
                    </a:p>
                  </a:txBody>
                  <a:tcPr marL="73152" marR="73152" marT="27432" marB="27432" anchor="ctr">
                    <a:solidFill>
                      <a:srgbClr val="EAF3FA"/>
                    </a:solidFill>
                  </a:tcPr>
                </a:tc>
              </a:tr>
              <a:tr h="566928">
                <a:tc>
                  <a:txBody>
                    <a:bodyPr wrap="square"/>
                    <a:lstStyle/>
                    <a:p>
                      <a:pPr marL="0" indent="0">
                        <a:lnSpc>
                          <a:spcPct val="100000"/>
                        </a:lnSpc>
                        <a:spcBef>
                          <a:spcPts val="0"/>
                        </a:spcBef>
                        <a:spcAft>
                          <a:spcPts val="0"/>
                        </a:spcAft>
                        <a:buNone/>
                      </a:pPr>
                      <a:r>
                        <a:rPr sz="1500" b="0" i="0">
                          <a:solidFill>
                            <a:srgbClr val="2B3A55"/>
                          </a:solidFill>
                          <a:latin typeface="+mn-lt"/>
                        </a:rPr>
                        <a:t>Adaptive adversaries can spread perturbations</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500" b="0" i="0">
                          <a:solidFill>
                            <a:srgbClr val="2B3A55"/>
                          </a:solidFill>
                          <a:latin typeface="+mn-lt"/>
                        </a:rPr>
                        <a:t>Combine with runtime activation monitoring (defense-in-depth)</a:t>
                      </a:r>
                    </a:p>
                  </a:txBody>
                  <a:tcPr marL="73152" marR="73152" marT="27432" marB="27432" anchor="ctr">
                    <a:solidFill>
                      <a:srgbClr val="FFFFFF"/>
                    </a:solidFill>
                  </a:tcPr>
                </a:tc>
              </a:tr>
              <a:tr h="566928">
                <a:tc>
                  <a:txBody>
                    <a:bodyPr wrap="square"/>
                    <a:lstStyle/>
                    <a:p>
                      <a:pPr marL="0" indent="0">
                        <a:lnSpc>
                          <a:spcPct val="100000"/>
                        </a:lnSpc>
                        <a:spcBef>
                          <a:spcPts val="0"/>
                        </a:spcBef>
                        <a:spcAft>
                          <a:spcPts val="0"/>
                        </a:spcAft>
                        <a:buNone/>
                      </a:pPr>
                      <a:r>
                        <a:rPr sz="1500" b="0" i="0">
                          <a:solidFill>
                            <a:srgbClr val="2B3A55"/>
                          </a:solidFill>
                          <a:latin typeface="+mn-lt"/>
                        </a:rPr>
                        <a:t>A few kurtosis-skew cases still land at ALLOW</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500" b="0" i="0">
                          <a:solidFill>
                            <a:srgbClr val="2B3A55"/>
                          </a:solidFill>
                          <a:latin typeface="+mn-lt"/>
                        </a:rPr>
                        <a:t>Hard override if any single tensor scores &gt; 0.95</a:t>
                      </a:r>
                    </a:p>
                  </a:txBody>
                  <a:tcPr marL="73152" marR="73152" marT="27432" marB="27432" anchor="ctr">
                    <a:solidFill>
                      <a:srgbClr val="EAF3FA"/>
                    </a:solidFill>
                  </a:tcPr>
                </a:tc>
              </a:tr>
            </a:tbl>
          </a:graphicData>
        </a:graphic>
      </p:graphicFrame>
      <p:sp>
        <p:nvSpPr>
          <p:cNvPr id="7" name="Soundbite"/>
          <p:cNvSpPr/>
          <p:nvPr/>
        </p:nvSpPr>
        <p:spPr>
          <a:xfrm>
            <a:off x="320040" y="4892040"/>
            <a:ext cx="11338560" cy="777240"/>
          </a:xfrm>
          <a:prstGeom prst="roundRect">
            <a:avLst>
              <a:gd name="adj" fmla="val 12000"/>
            </a:avLst>
          </a:prstGeom>
          <a:solidFill>
            <a:srgbClr val="1F4E79"/>
          </a:solidFill>
          <a:ln>
            <a:noFill/>
          </a:ln>
        </p:spPr>
        <p:txBody>
          <a:bodyPr rtlCol="0" anchor="ctr" wrap="square" lIns="73152" rIns="73152" tIns="36576" bIns="36576"/>
          <a:lstStyle/>
          <a:p>
            <a:pPr marL="0" indent="0" algn="ctr">
              <a:lnSpc>
                <a:spcPct val="100000"/>
              </a:lnSpc>
              <a:spcBef>
                <a:spcPts val="0"/>
              </a:spcBef>
              <a:spcAft>
                <a:spcPts val="0"/>
              </a:spcAft>
              <a:buNone/>
            </a:pPr>
            <a:r>
              <a:rPr sz="1800" b="0" i="0">
                <a:solidFill>
                  <a:srgbClr val="FFFFFF"/>
                </a:solidFill>
                <a:latin typeface="+mn-lt"/>
              </a:rPr>
              <a:t>“SafeTensors secures the envelope, not the letter inside. ModelSentinel is the X-ray machine that inspects the contents of the letter without opening it.”</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C1BA9-EED8-0553-15DB-7AC5ADC07E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1E11D5E-73A6-DACE-A314-51CBCF3D39FA}"/>
              </a:ext>
            </a:extLst>
          </p:cNvPr>
          <p:cNvSpPr>
            <a:spLocks noGrp="1"/>
          </p:cNvSpPr>
          <p:nvPr>
            <p:ph type="body" sz="quarter" idx="13"/>
          </p:nvPr>
        </p:nvSpPr>
        <p:spPr>
          <a:xfrm>
            <a:off x="256032" y="1280160"/>
            <a:ext cx="11521440" cy="4389120"/>
          </a:xfrm>
        </p:spPr>
        <p:txBody>
          <a:bodyPr>
            <a:noAutofit/>
          </a:bodyPr>
          <a:lstStyle/>
          <a:p>
            <a:pPr marL="0" indent="0">
              <a:lnSpc>
                <a:spcPct val="100000"/>
              </a:lnSpc>
              <a:spcBef>
                <a:spcPts val="0"/>
              </a:spcBef>
              <a:spcAft>
                <a:spcPts val="600"/>
              </a:spcAft>
              <a:buNone/>
            </a:pPr>
            <a:r>
              <a:rPr sz="1600" b="0" i="0">
                <a:solidFill>
                  <a:srgbClr val="2B3A55"/>
                </a:solidFill>
                <a:latin typeface="+mn-lt"/>
              </a:rPr>
              <a:t>[1] Hugging Face. “safetensors: Simple, safe way to store and distribute tensors.” GitHub Repository, 2023. https://github.com/huggingface/safetensors</a:t>
            </a:r>
          </a:p>
          <a:p>
            <a:pPr marL="0" indent="0">
              <a:lnSpc>
                <a:spcPct val="100000"/>
              </a:lnSpc>
              <a:spcBef>
                <a:spcPts val="0"/>
              </a:spcBef>
              <a:spcAft>
                <a:spcPts val="600"/>
              </a:spcAft>
              <a:buNone/>
            </a:pPr>
            <a:r>
              <a:rPr sz="1600" b="0" i="0">
                <a:solidFill>
                  <a:srgbClr val="2B3A55"/>
                </a:solidFill>
                <a:latin typeface="+mn-lt"/>
              </a:rPr>
              <a:t>[2] Baik, J., Ben Arous, G., &amp; Péché, S. “Phase transition of the largest eigenvalue for nonnull complex sample covariance matrices.” Annals of Probability, 33(5):1643–1697, 2005.</a:t>
            </a:r>
          </a:p>
          <a:p>
            <a:pPr marL="0" indent="0">
              <a:lnSpc>
                <a:spcPct val="100000"/>
              </a:lnSpc>
              <a:spcBef>
                <a:spcPts val="0"/>
              </a:spcBef>
              <a:spcAft>
                <a:spcPts val="600"/>
              </a:spcAft>
              <a:buNone/>
            </a:pPr>
            <a:r>
              <a:rPr sz="1600" b="0" i="0">
                <a:solidFill>
                  <a:srgbClr val="2B3A55"/>
                </a:solidFill>
                <a:latin typeface="+mn-lt"/>
              </a:rPr>
              <a:t>[3] Marchenko, V. A., &amp; Pastur, L. A. “Distribution of eigenvalues for some sets of random matrices.” Matematicheskii Sbornik, 114(4):507–536, 1967.</a:t>
            </a:r>
          </a:p>
          <a:p>
            <a:pPr marL="0" indent="0">
              <a:lnSpc>
                <a:spcPct val="100000"/>
              </a:lnSpc>
              <a:spcBef>
                <a:spcPts val="0"/>
              </a:spcBef>
              <a:spcAft>
                <a:spcPts val="600"/>
              </a:spcAft>
              <a:buNone/>
            </a:pPr>
            <a:r>
              <a:rPr sz="1600" b="0" i="0">
                <a:solidFill>
                  <a:srgbClr val="2B3A55"/>
                </a:solidFill>
                <a:latin typeface="+mn-lt"/>
              </a:rPr>
              <a:t>[4] Martin, C. H., &amp; Mahoney, M. W. “Implicit self-regularization in deep neural networks: Evidence from random matrix theory and implications for learning.” JMLR, 22(165):1–73, 2021.</a:t>
            </a:r>
          </a:p>
          <a:p>
            <a:pPr marL="0" indent="0">
              <a:lnSpc>
                <a:spcPct val="100000"/>
              </a:lnSpc>
              <a:spcBef>
                <a:spcPts val="0"/>
              </a:spcBef>
              <a:spcAft>
                <a:spcPts val="600"/>
              </a:spcAft>
              <a:buNone/>
            </a:pPr>
            <a:r>
              <a:rPr sz="1600" b="0" i="0">
                <a:solidFill>
                  <a:srgbClr val="2B3A55"/>
                </a:solidFill>
                <a:latin typeface="+mn-lt"/>
              </a:rPr>
              <a:t>[5] Sarle, W. S. “The Bimodality Coefficient: A new measure of bimodality.” SAS Institute Inc., 1990.</a:t>
            </a:r>
          </a:p>
          <a:p>
            <a:pPr marL="0" indent="0">
              <a:lnSpc>
                <a:spcPct val="100000"/>
              </a:lnSpc>
              <a:spcBef>
                <a:spcPts val="0"/>
              </a:spcBef>
              <a:spcAft>
                <a:spcPts val="600"/>
              </a:spcAft>
              <a:buNone/>
            </a:pPr>
            <a:r>
              <a:rPr sz="1600" b="0" i="0">
                <a:solidFill>
                  <a:srgbClr val="2B3A55"/>
                </a:solidFill>
                <a:latin typeface="+mn-lt"/>
              </a:rPr>
              <a:t>[6] Halko, N., Martinsson, P. G., &amp; Tropp, J. A. “Finding structure with randomness: Probabilistic algorithms for constructing approximate matrix decompositions.” SIAM Review, 53(2):217–288, 2011.</a:t>
            </a:r>
          </a:p>
          <a:p>
            <a:pPr marL="0" indent="0">
              <a:lnSpc>
                <a:spcPct val="100000"/>
              </a:lnSpc>
              <a:spcBef>
                <a:spcPts val="0"/>
              </a:spcBef>
              <a:spcAft>
                <a:spcPts val="600"/>
              </a:spcAft>
              <a:buNone/>
            </a:pPr>
            <a:r>
              <a:rPr sz="1600" b="0" i="0">
                <a:solidFill>
                  <a:srgbClr val="2B3A55"/>
                </a:solidFill>
                <a:latin typeface="+mn-lt"/>
              </a:rPr>
              <a:t>[7] IEEE. “IEEE Standard for Floating-Point Arithmetic.” IEEE Std 754-2019, 2019.</a:t>
            </a:r>
          </a:p>
          <a:p>
            <a:pPr marL="0" indent="0">
              <a:lnSpc>
                <a:spcPct val="100000"/>
              </a:lnSpc>
              <a:spcBef>
                <a:spcPts val="0"/>
              </a:spcBef>
              <a:spcAft>
                <a:spcPts val="600"/>
              </a:spcAft>
              <a:buNone/>
            </a:pPr>
            <a:r>
              <a:rPr sz="1600" b="0" i="0">
                <a:solidFill>
                  <a:srgbClr val="2B3A55"/>
                </a:solidFill>
                <a:latin typeface="+mn-lt"/>
              </a:rPr>
              <a:t>[8] Liu, Y., et al. “Trojaning Attack on Neural Networks.” NDSS, 2018.</a:t>
            </a:r>
          </a:p>
          <a:p>
            <a:pPr marL="0" indent="0">
              <a:lnSpc>
                <a:spcPct val="100000"/>
              </a:lnSpc>
              <a:spcBef>
                <a:spcPts val="0"/>
              </a:spcBef>
              <a:spcAft>
                <a:spcPts val="600"/>
              </a:spcAft>
              <a:buNone/>
            </a:pPr>
            <a:r>
              <a:rPr sz="1600" b="0" i="0">
                <a:solidFill>
                  <a:srgbClr val="2B3A55"/>
                </a:solidFill>
                <a:latin typeface="+mn-lt"/>
              </a:rPr>
              <a:t>[9] Wang, B., et al. “Neural Cleanse: Identifying and Mitigating Backdoor Attacks in Neural Networks.” IEEE S&amp;P, 2019.</a:t>
            </a:r>
          </a:p>
        </p:txBody>
      </p:sp>
      <p:sp>
        <p:nvSpPr>
          <p:cNvPr id="3" name="TextBox 2">
            <a:extLst>
              <a:ext uri="{FF2B5EF4-FFF2-40B4-BE49-F238E27FC236}">
                <a16:creationId xmlns:a16="http://schemas.microsoft.com/office/drawing/2014/main" id="{776CD0F3-77A2-E482-9F59-462941CA9EFC}"/>
              </a:ext>
            </a:extLst>
          </p:cNvPr>
          <p:cNvSpPr txBox="1"/>
          <p:nvPr/>
        </p:nvSpPr>
        <p:spPr>
          <a:xfrm>
            <a:off x="255996" y="502545"/>
            <a:ext cx="11521440" cy="646331"/>
          </a:xfrm>
          <a:prstGeom prst="rect">
            <a:avLst/>
          </a:prstGeom>
          <a:noFill/>
        </p:spPr>
        <p:txBody>
          <a:bodyPr wrap="square" rtlCol="0">
            <a:spAutoFit/>
          </a:bodyPr>
          <a:lstStyle/>
          <a:p>
            <a:pPr lvl="0">
              <a:defRPr/>
            </a:pPr>
            <a:r>
              <a:rPr lang="fr-FR" sz="3600" b="1" dirty="0">
                <a:solidFill>
                  <a:srgbClr val="5B9BD5">
                    <a:lumMod val="50000"/>
                  </a:srgbClr>
                </a:solidFill>
              </a:rPr>
              <a:t>References</a:t>
            </a:r>
          </a:p>
        </p:txBody>
      </p:sp>
      <p:cxnSp>
        <p:nvCxnSpPr>
          <p:cNvPr id="5" name="Straight Connector 4">
            <a:extLst>
              <a:ext uri="{FF2B5EF4-FFF2-40B4-BE49-F238E27FC236}">
                <a16:creationId xmlns:a16="http://schemas.microsoft.com/office/drawing/2014/main" id="{0EF328B9-B5B2-A4C8-C436-49616B481A74}"/>
              </a:ext>
            </a:extLst>
          </p:cNvPr>
          <p:cNvCxnSpPr>
            <a:cxnSpLocks/>
          </p:cNvCxnSpPr>
          <p:nvPr/>
        </p:nvCxnSpPr>
        <p:spPr>
          <a:xfrm>
            <a:off x="221274" y="1191756"/>
            <a:ext cx="292608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9E96C34-B06E-814D-72EC-EF1F6BBFAA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spTree>
    <p:extLst>
      <p:ext uri="{BB962C8B-B14F-4D97-AF65-F5344CB8AC3E}">
        <p14:creationId xmlns:p14="http://schemas.microsoft.com/office/powerpoint/2010/main" val="16598901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6032" y="1280160"/>
            <a:ext cx="6766560" cy="4389120"/>
          </a:xfrm>
        </p:spPr>
        <p:txBody>
          <a:bodyPr>
            <a:noAutofit/>
          </a:bodyPr>
          <a:lstStyle/>
          <a:p>
            <a:pPr marL="292608" indent="-292608">
              <a:lnSpc>
                <a:spcPct val="100000"/>
              </a:lnSpc>
              <a:spcBef>
                <a:spcPts val="0"/>
              </a:spcBef>
              <a:spcAft>
                <a:spcPts val="700"/>
              </a:spcAft>
              <a:buClr>
                <a:srgbClr val="2A7F8F"/>
              </a:buClr>
              <a:buFont typeface="Arial"/>
              <a:buChar char="•"/>
            </a:pPr>
            <a:r>
              <a:rPr sz="1800" b="0" i="0">
                <a:solidFill>
                  <a:srgbClr val="2B3A55"/>
                </a:solidFill>
                <a:latin typeface="+mn-lt"/>
              </a:rPr>
              <a:t>The AI industry relies on open-source pre-trained weights from Hugging Face, Civitai, and third-party vendors.</a:t>
            </a:r>
          </a:p>
          <a:p>
            <a:pPr marL="292608" indent="-292608">
              <a:lnSpc>
                <a:spcPct val="100000"/>
              </a:lnSpc>
              <a:spcBef>
                <a:spcPts val="0"/>
              </a:spcBef>
              <a:spcAft>
                <a:spcPts val="700"/>
              </a:spcAft>
              <a:buClr>
                <a:srgbClr val="2A7F8F"/>
              </a:buClr>
              <a:buFont typeface="Arial"/>
              <a:buChar char="•"/>
            </a:pPr>
            <a:r>
              <a:rPr sz="1800" b="0" i="0">
                <a:solidFill>
                  <a:srgbClr val="2B3A55"/>
                </a:solidFill>
                <a:latin typeface="+mn-lt"/>
              </a:rPr>
              <a:t>Legacy formats (.bin, .pt) used Python pickle, allowing Arbitrary Code Execution (RCE) via __reduce__ payloads.</a:t>
            </a:r>
          </a:p>
          <a:p>
            <a:pPr marL="292608" indent="-292608">
              <a:lnSpc>
                <a:spcPct val="100000"/>
              </a:lnSpc>
              <a:spcBef>
                <a:spcPts val="0"/>
              </a:spcBef>
              <a:spcAft>
                <a:spcPts val="700"/>
              </a:spcAft>
              <a:buClr>
                <a:srgbClr val="2A7F8F"/>
              </a:buClr>
              <a:buFont typeface="Arial"/>
              <a:buChar char="•"/>
            </a:pPr>
            <a:r>
              <a:rPr sz="1800" b="0" i="0">
                <a:solidFill>
                  <a:srgbClr val="2B3A55"/>
                </a:solidFill>
                <a:latin typeface="+mn-lt"/>
              </a:rPr>
              <a:t>Hugging Face introduced .safetensors to eliminate code execution: raw binary floats + JSON header.</a:t>
            </a:r>
          </a:p>
          <a:p>
            <a:pPr marL="292608" indent="-292608">
              <a:lnSpc>
                <a:spcPct val="100000"/>
              </a:lnSpc>
              <a:spcBef>
                <a:spcPts val="0"/>
              </a:spcBef>
              <a:spcAft>
                <a:spcPts val="700"/>
              </a:spcAft>
              <a:buClr>
                <a:srgbClr val="2A7F8F"/>
              </a:buClr>
              <a:buFont typeface="Arial"/>
              <a:buChar char="•"/>
            </a:pPr>
            <a:r>
              <a:rPr sz="1800" b="0" i="0">
                <a:solidFill>
                  <a:srgbClr val="2B3A55"/>
                </a:solidFill>
                <a:latin typeface="+mn-lt"/>
              </a:rPr>
              <a:t>This created the </a:t>
            </a:r>
            <a:r>
              <a:rPr sz="1800" b="1" i="0">
                <a:solidFill>
                  <a:srgbClr val="1C4D98"/>
                </a:solidFill>
                <a:latin typeface="+mn-lt"/>
              </a:rPr>
              <a:t>“SafeTensors Fallacy”</a:t>
            </a:r>
            <a:r>
              <a:rPr sz="1800" b="0" i="0">
                <a:solidFill>
                  <a:srgbClr val="2B3A55"/>
                </a:solidFill>
                <a:latin typeface="+mn-lt"/>
              </a:rPr>
              <a:t>: a file that cannot execute code is assumed to hold benign weights.</a:t>
            </a:r>
          </a:p>
          <a:p>
            <a:pPr marL="292608" indent="-292608">
              <a:lnSpc>
                <a:spcPct val="100000"/>
              </a:lnSpc>
              <a:spcBef>
                <a:spcPts val="0"/>
              </a:spcBef>
              <a:spcAft>
                <a:spcPts val="700"/>
              </a:spcAft>
              <a:buClr>
                <a:srgbClr val="2A7F8F"/>
              </a:buClr>
              <a:buFont typeface="Arial"/>
              <a:buChar char="•"/>
            </a:pPr>
            <a:r>
              <a:rPr sz="1800" b="1" i="0">
                <a:solidFill>
                  <a:srgbClr val="1C4D98"/>
                </a:solidFill>
                <a:latin typeface="+mn-lt"/>
              </a:rPr>
              <a:t>Reality:</a:t>
            </a:r>
            <a:r>
              <a:rPr sz="1800" b="0" i="0">
                <a:solidFill>
                  <a:srgbClr val="2B3A55"/>
                </a:solidFill>
                <a:latin typeface="+mn-lt"/>
              </a:rPr>
              <a:t> attackers embed neural Trojans, backdoors, attention hijacking, and encrypted steganography inside weight matrices.</a:t>
            </a:r>
          </a:p>
          <a:p>
            <a:pPr marL="292608" indent="-292608">
              <a:lnSpc>
                <a:spcPct val="100000"/>
              </a:lnSpc>
              <a:spcBef>
                <a:spcPts val="0"/>
              </a:spcBef>
              <a:spcAft>
                <a:spcPts val="700"/>
              </a:spcAft>
              <a:buClr>
                <a:srgbClr val="2A7F8F"/>
              </a:buClr>
              <a:buFont typeface="Arial"/>
              <a:buChar char="•"/>
            </a:pPr>
            <a:r>
              <a:rPr sz="1800" b="1" i="0">
                <a:solidFill>
                  <a:srgbClr val="1C4D98"/>
                </a:solidFill>
                <a:latin typeface="+mn-lt"/>
              </a:rPr>
              <a:t>ModelSentinel:</a:t>
            </a:r>
            <a:r>
              <a:rPr sz="1800" b="0" i="0">
                <a:solidFill>
                  <a:srgbClr val="2B3A55"/>
                </a:solidFill>
                <a:latin typeface="+mn-lt"/>
              </a:rPr>
              <a:t> zero-code-execution static forensics that localizes the corrupted block and issues an explainable ALLOW / REVIEW / QUARANTINE verdict.</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292608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sp>
        <p:nvSpPr>
          <p:cNvPr id="6" name="TextBox 5"/>
          <p:cNvSpPr txBox="1"/>
          <p:nvPr/>
        </p:nvSpPr>
        <p:spPr>
          <a:xfrm>
            <a:off x="7223760" y="1280160"/>
            <a:ext cx="4572000" cy="365760"/>
          </a:xfrm>
          <a:prstGeom prst="rect">
            <a:avLst/>
          </a:prstGeom>
          <a:noFill/>
        </p:spPr>
        <p:txBody>
          <a:bodyPr wrap="square" anchor="t">
            <a:spAutoFit/>
          </a:bodyPr>
          <a:lstStyle/>
          <a:p>
            <a:pPr marL="0" indent="0" algn="l">
              <a:lnSpc>
                <a:spcPct val="100000"/>
              </a:lnSpc>
              <a:spcBef>
                <a:spcPts val="0"/>
              </a:spcBef>
              <a:spcAft>
                <a:spcPts val="0"/>
              </a:spcAft>
              <a:buNone/>
            </a:pPr>
            <a:r>
              <a:rPr sz="1800" b="1" i="0">
                <a:solidFill>
                  <a:srgbClr val="1F4E79"/>
                </a:solidFill>
                <a:latin typeface="+mn-lt"/>
              </a:rPr>
              <a:t>The SafeTensors Fallacy</a:t>
            </a:r>
          </a:p>
        </p:txBody>
      </p:sp>
      <p:graphicFrame>
        <p:nvGraphicFramePr>
          <p:cNvPr id="7" name="Fallacy comparison"/>
          <p:cNvGraphicFramePr>
            <a:graphicFrameLocks noGrp="1"/>
          </p:cNvGraphicFramePr>
          <p:nvPr/>
        </p:nvGraphicFramePr>
        <p:xfrm>
          <a:off x="7223760" y="1691640"/>
          <a:ext cx="4572000" cy="3200400"/>
        </p:xfrm>
        <a:graphic>
          <a:graphicData uri="http://schemas.openxmlformats.org/drawingml/2006/table">
            <a:tbl>
              <a:tblPr firstRow="1" bandRow="1">
                <a:tableStyleId>{5C22544A-7EE6-4342-B048-85BDC9FD1C3A}</a:tableStyleId>
              </a:tblPr>
              <a:tblGrid>
                <a:gridCol w="2286000"/>
                <a:gridCol w="2286000"/>
              </a:tblGrid>
              <a:tr h="640080">
                <a:tc>
                  <a:txBody>
                    <a:bodyPr wrap="square"/>
                    <a:lstStyle/>
                    <a:p>
                      <a:pPr marL="0" indent="0">
                        <a:lnSpc>
                          <a:spcPct val="100000"/>
                        </a:lnSpc>
                        <a:spcBef>
                          <a:spcPts val="0"/>
                        </a:spcBef>
                        <a:spcAft>
                          <a:spcPts val="0"/>
                        </a:spcAft>
                        <a:buNone/>
                      </a:pPr>
                      <a:r>
                        <a:rPr sz="1400" b="1" i="0">
                          <a:solidFill>
                            <a:srgbClr val="FFFFFF"/>
                          </a:solidFill>
                          <a:latin typeface="+mn-lt"/>
                        </a:rPr>
                        <a:t>Legacy pickle (.bin / .pt)</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Modern safetensors</a:t>
                      </a:r>
                    </a:p>
                  </a:txBody>
                  <a:tcPr marL="73152" marR="73152" marT="27432" marB="27432" anchor="ctr">
                    <a:solidFill>
                      <a:srgbClr val="1F4E79"/>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Pickle VM opcode stream</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JSON header + raw byte array</a:t>
                      </a:r>
                    </a:p>
                  </a:txBody>
                  <a:tcPr marL="73152" marR="73152" marT="27432" marB="27432" anchor="ctr">
                    <a:solidFill>
                      <a:srgbClr val="EAF3FA"/>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RCE on load via __reduce__</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Zero code execution on load</a:t>
                      </a:r>
                    </a:p>
                  </a:txBody>
                  <a:tcPr marL="73152" marR="73152" marT="27432" marB="27432" anchor="ctr">
                    <a:solidFill>
                      <a:srgbClr val="FFFFFF"/>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Blind to weight manipulation</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BLIND TO WEAPONIZED WEIGHTS</a:t>
                      </a:r>
                    </a:p>
                  </a:txBody>
                  <a:tcPr marL="73152" marR="73152" marT="27432" marB="27432" anchor="ctr">
                    <a:solidFill>
                      <a:srgbClr val="EAF3FA"/>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Fails unsafe</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Safe container, unsafe math</a:t>
                      </a:r>
                    </a:p>
                  </a:txBody>
                  <a:tcPr marL="73152" marR="73152" marT="27432" marB="27432" anchor="ctr">
                    <a:solidFill>
                      <a:srgbClr val="FFFFFF"/>
                    </a:solidFill>
                  </a:tcPr>
                </a:tc>
              </a:tr>
            </a:tbl>
          </a:graphicData>
        </a:graphic>
      </p:graphicFrame>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Presenter Cue Card (hidden slide)</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6733837"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graphicFrame>
        <p:nvGraphicFramePr>
          <p:cNvPr id="6" name="Cue card table"/>
          <p:cNvGraphicFramePr>
            <a:graphicFrameLocks noGrp="1"/>
          </p:cNvGraphicFramePr>
          <p:nvPr/>
        </p:nvGraphicFramePr>
        <p:xfrm>
          <a:off x="320040" y="1280160"/>
          <a:ext cx="11338560" cy="3657600"/>
        </p:xfrm>
        <a:graphic>
          <a:graphicData uri="http://schemas.openxmlformats.org/drawingml/2006/table">
            <a:tbl>
              <a:tblPr firstRow="1" bandRow="1">
                <a:tableStyleId>{5C22544A-7EE6-4342-B048-85BDC9FD1C3A}</a:tableStyleId>
              </a:tblPr>
              <a:tblGrid>
                <a:gridCol w="914400"/>
                <a:gridCol w="1280160"/>
                <a:gridCol w="9144000"/>
              </a:tblGrid>
              <a:tr h="365760">
                <a:tc>
                  <a:txBody>
                    <a:bodyPr wrap="square"/>
                    <a:lstStyle/>
                    <a:p>
                      <a:pPr marL="0" indent="0">
                        <a:lnSpc>
                          <a:spcPct val="100000"/>
                        </a:lnSpc>
                        <a:spcBef>
                          <a:spcPts val="0"/>
                        </a:spcBef>
                        <a:spcAft>
                          <a:spcPts val="0"/>
                        </a:spcAft>
                        <a:buNone/>
                      </a:pPr>
                      <a:r>
                        <a:rPr sz="1400" b="1" i="0">
                          <a:solidFill>
                            <a:srgbClr val="FFFFFF"/>
                          </a:solidFill>
                          <a:latin typeface="+mn-lt"/>
                        </a:rPr>
                        <a:t>Time</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Slide</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Key sentence</a:t>
                      </a:r>
                    </a:p>
                  </a:txBody>
                  <a:tcPr marL="73152" marR="73152" marT="27432" marB="27432" anchor="ctr">
                    <a:solidFill>
                      <a:srgbClr val="1F4E79"/>
                    </a:solidFill>
                  </a:tcPr>
                </a:tc>
              </a:tr>
              <a:tr h="365760">
                <a:tc>
                  <a:txBody>
                    <a:bodyPr wrap="square"/>
                    <a:lstStyle/>
                    <a:p>
                      <a:pPr marL="0" indent="0">
                        <a:lnSpc>
                          <a:spcPct val="100000"/>
                        </a:lnSpc>
                        <a:spcBef>
                          <a:spcPts val="0"/>
                        </a:spcBef>
                        <a:spcAft>
                          <a:spcPts val="0"/>
                        </a:spcAft>
                        <a:buNone/>
                      </a:pPr>
                      <a:r>
                        <a:rPr sz="1400" b="1" i="0">
                          <a:solidFill>
                            <a:srgbClr val="2B3A55"/>
                          </a:solidFill>
                          <a:latin typeface="+mn-lt"/>
                        </a:rPr>
                        <a:t>0:00</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1</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ModelSentinel: AI model supply-chain security.</a:t>
                      </a:r>
                    </a:p>
                  </a:txBody>
                  <a:tcPr marL="73152" marR="73152" marT="27432" marB="27432" anchor="ctr">
                    <a:solidFill>
                      <a:srgbClr val="EAF3FA"/>
                    </a:solidFill>
                  </a:tcPr>
                </a:tc>
              </a:tr>
              <a:tr h="365760">
                <a:tc>
                  <a:txBody>
                    <a:bodyPr wrap="square"/>
                    <a:lstStyle/>
                    <a:p>
                      <a:pPr marL="0" indent="0">
                        <a:lnSpc>
                          <a:spcPct val="100000"/>
                        </a:lnSpc>
                        <a:spcBef>
                          <a:spcPts val="0"/>
                        </a:spcBef>
                        <a:spcAft>
                          <a:spcPts val="0"/>
                        </a:spcAft>
                        <a:buNone/>
                      </a:pPr>
                      <a:r>
                        <a:rPr sz="1400" b="1" i="0">
                          <a:solidFill>
                            <a:srgbClr val="2B3A55"/>
                          </a:solidFill>
                          <a:latin typeface="+mn-lt"/>
                        </a:rPr>
                        <a:t>0:30</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2 → 6</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SafeTensors fallacy: envelope safe, letter malicious.</a:t>
                      </a:r>
                    </a:p>
                  </a:txBody>
                  <a:tcPr marL="73152" marR="73152" marT="27432" marB="27432" anchor="ctr">
                    <a:solidFill>
                      <a:srgbClr val="FFFFFF"/>
                    </a:solidFill>
                  </a:tcPr>
                </a:tc>
              </a:tr>
              <a:tr h="365760">
                <a:tc>
                  <a:txBody>
                    <a:bodyPr wrap="square"/>
                    <a:lstStyle/>
                    <a:p>
                      <a:pPr marL="0" indent="0">
                        <a:lnSpc>
                          <a:spcPct val="100000"/>
                        </a:lnSpc>
                        <a:spcBef>
                          <a:spcPts val="0"/>
                        </a:spcBef>
                        <a:spcAft>
                          <a:spcPts val="0"/>
                        </a:spcAft>
                        <a:buNone/>
                      </a:pPr>
                      <a:r>
                        <a:rPr sz="1400" b="1" i="0">
                          <a:solidFill>
                            <a:srgbClr val="2B3A55"/>
                          </a:solidFill>
                          <a:latin typeface="+mn-lt"/>
                        </a:rPr>
                        <a:t>1:15</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3 → 4</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10-stage pipeline; LSE-MIL kills layer dilution.</a:t>
                      </a:r>
                    </a:p>
                  </a:txBody>
                  <a:tcPr marL="73152" marR="73152" marT="27432" marB="27432" anchor="ctr">
                    <a:solidFill>
                      <a:srgbClr val="EAF3FA"/>
                    </a:solidFill>
                  </a:tcPr>
                </a:tc>
              </a:tr>
              <a:tr h="365760">
                <a:tc>
                  <a:txBody>
                    <a:bodyPr wrap="square"/>
                    <a:lstStyle/>
                    <a:p>
                      <a:pPr marL="0" indent="0">
                        <a:lnSpc>
                          <a:spcPct val="100000"/>
                        </a:lnSpc>
                        <a:spcBef>
                          <a:spcPts val="0"/>
                        </a:spcBef>
                        <a:spcAft>
                          <a:spcPts val="0"/>
                        </a:spcAft>
                        <a:buNone/>
                      </a:pPr>
                      <a:r>
                        <a:rPr sz="1400" b="1" i="0">
                          <a:solidFill>
                            <a:srgbClr val="2B3A55"/>
                          </a:solidFill>
                          <a:latin typeface="+mn-lt"/>
                        </a:rPr>
                        <a:t>2:00</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10</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Sarle's BC 24→96%. BBP: 100% Trojan recall. Mantissa entropy: 100% stego.</a:t>
                      </a:r>
                    </a:p>
                  </a:txBody>
                  <a:tcPr marL="73152" marR="73152" marT="27432" marB="27432" anchor="ctr">
                    <a:solidFill>
                      <a:srgbClr val="FFFFFF"/>
                    </a:solidFill>
                  </a:tcPr>
                </a:tc>
              </a:tr>
              <a:tr h="365760">
                <a:tc>
                  <a:txBody>
                    <a:bodyPr wrap="square"/>
                    <a:lstStyle/>
                    <a:p>
                      <a:pPr marL="0" indent="0">
                        <a:lnSpc>
                          <a:spcPct val="100000"/>
                        </a:lnSpc>
                        <a:spcBef>
                          <a:spcPts val="0"/>
                        </a:spcBef>
                        <a:spcAft>
                          <a:spcPts val="0"/>
                        </a:spcAft>
                        <a:buNone/>
                      </a:pPr>
                      <a:r>
                        <a:rPr sz="1400" b="1" i="0">
                          <a:solidFill>
                            <a:srgbClr val="2B3A55"/>
                          </a:solidFill>
                          <a:latin typeface="+mn-lt"/>
                        </a:rPr>
                        <a:t>2:45</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12 → 13</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15-fold CV: 96.5%, 0.987 AUC, 0.0% false quarantine. Kept distributional features for auditability.</a:t>
                      </a:r>
                    </a:p>
                  </a:txBody>
                  <a:tcPr marL="73152" marR="73152" marT="27432" marB="27432" anchor="ctr">
                    <a:solidFill>
                      <a:srgbClr val="EAF3FA"/>
                    </a:solidFill>
                  </a:tcPr>
                </a:tc>
              </a:tr>
              <a:tr h="365760">
                <a:tc>
                  <a:txBody>
                    <a:bodyPr wrap="square"/>
                    <a:lstStyle/>
                    <a:p>
                      <a:pPr marL="0" indent="0">
                        <a:lnSpc>
                          <a:spcPct val="100000"/>
                        </a:lnSpc>
                        <a:spcBef>
                          <a:spcPts val="0"/>
                        </a:spcBef>
                        <a:spcAft>
                          <a:spcPts val="0"/>
                        </a:spcAft>
                        <a:buNone/>
                      </a:pPr>
                      <a:r>
                        <a:rPr sz="1400" b="1" i="0">
                          <a:solidFill>
                            <a:srgbClr val="2B3A55"/>
                          </a:solidFill>
                          <a:latin typeface="+mn-lt"/>
                        </a:rPr>
                        <a:t>3:30</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16</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Static, not dynamic (Execution Paradox). RMT, not moments (rank collapse).</a:t>
                      </a:r>
                    </a:p>
                  </a:txBody>
                  <a:tcPr marL="73152" marR="73152" marT="27432" marB="27432" anchor="ctr">
                    <a:solidFill>
                      <a:srgbClr val="FFFFFF"/>
                    </a:solidFill>
                  </a:tcPr>
                </a:tc>
              </a:tr>
              <a:tr h="365760">
                <a:tc>
                  <a:txBody>
                    <a:bodyPr wrap="square"/>
                    <a:lstStyle/>
                    <a:p>
                      <a:pPr marL="0" indent="0">
                        <a:lnSpc>
                          <a:spcPct val="100000"/>
                        </a:lnSpc>
                        <a:spcBef>
                          <a:spcPts val="0"/>
                        </a:spcBef>
                        <a:spcAft>
                          <a:spcPts val="0"/>
                        </a:spcAft>
                        <a:buNone/>
                      </a:pPr>
                      <a:r>
                        <a:rPr sz="1400" b="1" i="0">
                          <a:solidFill>
                            <a:srgbClr val="2B3A55"/>
                          </a:solidFill>
                          <a:latin typeface="+mn-lt"/>
                        </a:rPr>
                        <a:t>4:00</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17</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SaaS, on-prem, threat intel. Zero false alarms = trust.</a:t>
                      </a:r>
                    </a:p>
                  </a:txBody>
                  <a:tcPr marL="73152" marR="73152" marT="27432" marB="27432" anchor="ctr">
                    <a:solidFill>
                      <a:srgbClr val="EAF3FA"/>
                    </a:solidFill>
                  </a:tcPr>
                </a:tc>
              </a:tr>
              <a:tr h="365760">
                <a:tc>
                  <a:txBody>
                    <a:bodyPr wrap="square"/>
                    <a:lstStyle/>
                    <a:p>
                      <a:pPr marL="0" indent="0">
                        <a:lnSpc>
                          <a:spcPct val="100000"/>
                        </a:lnSpc>
                        <a:spcBef>
                          <a:spcPts val="0"/>
                        </a:spcBef>
                        <a:spcAft>
                          <a:spcPts val="0"/>
                        </a:spcAft>
                        <a:buNone/>
                      </a:pPr>
                      <a:r>
                        <a:rPr sz="1400" b="1" i="0">
                          <a:solidFill>
                            <a:srgbClr val="2B3A55"/>
                          </a:solidFill>
                          <a:latin typeface="+mn-lt"/>
                        </a:rPr>
                        <a:t>4:30</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18</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X-ray machine for AI weights.</a:t>
                      </a:r>
                    </a:p>
                  </a:txBody>
                  <a:tcPr marL="73152" marR="73152" marT="27432" marB="27432" anchor="ctr">
                    <a:solidFill>
                      <a:srgbClr val="FFFFFF"/>
                    </a:solidFill>
                  </a:tcPr>
                </a:tc>
              </a:tr>
              <a:tr h="365760">
                <a:tc>
                  <a:txBody>
                    <a:bodyPr wrap="square"/>
                    <a:lstStyle/>
                    <a:p>
                      <a:pPr marL="0" indent="0">
                        <a:lnSpc>
                          <a:spcPct val="100000"/>
                        </a:lnSpc>
                        <a:spcBef>
                          <a:spcPts val="0"/>
                        </a:spcBef>
                        <a:spcAft>
                          <a:spcPts val="0"/>
                        </a:spcAft>
                        <a:buNone/>
                      </a:pPr>
                      <a:r>
                        <a:rPr sz="1400" b="1" i="0">
                          <a:solidFill>
                            <a:srgbClr val="2B3A55"/>
                          </a:solidFill>
                          <a:latin typeface="+mn-lt"/>
                        </a:rPr>
                        <a:t>4:55</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21</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96.5% · 0.987 · 0.0% · 100% · 1.42 s · 99.8%.</a:t>
                      </a:r>
                    </a:p>
                  </a:txBody>
                  <a:tcPr marL="73152" marR="73152" marT="27432" marB="27432" anchor="ctr">
                    <a:solidFill>
                      <a:srgbClr val="EAF3FA"/>
                    </a:solidFill>
                  </a:tcPr>
                </a:tc>
              </a:tr>
            </a:tbl>
          </a:graphicData>
        </a:graphic>
      </p:graphicFrame>
      <p:sp>
        <p:nvSpPr>
          <p:cNvPr id="7" name="Story spine"/>
          <p:cNvSpPr/>
          <p:nvPr/>
        </p:nvSpPr>
        <p:spPr>
          <a:xfrm>
            <a:off x="320040" y="5440680"/>
            <a:ext cx="11338560" cy="457200"/>
          </a:xfrm>
          <a:prstGeom prst="roundRect">
            <a:avLst>
              <a:gd name="adj" fmla="val 12000"/>
            </a:avLst>
          </a:prstGeom>
          <a:solidFill>
            <a:srgbClr val="2A7F8F"/>
          </a:solidFill>
          <a:ln>
            <a:noFill/>
          </a:ln>
        </p:spPr>
        <p:txBody>
          <a:bodyPr rtlCol="0" anchor="ctr" wrap="square" lIns="73152" rIns="73152" tIns="36576" bIns="36576"/>
          <a:lstStyle/>
          <a:p>
            <a:pPr marL="0" indent="0" algn="ctr">
              <a:lnSpc>
                <a:spcPct val="100000"/>
              </a:lnSpc>
              <a:spcBef>
                <a:spcPts val="0"/>
              </a:spcBef>
              <a:spcAft>
                <a:spcPts val="0"/>
              </a:spcAft>
              <a:buNone/>
            </a:pPr>
            <a:r>
              <a:rPr sz="1600" b="1" i="0">
                <a:solidFill>
                  <a:srgbClr val="FFFFFF"/>
                </a:solidFill>
                <a:latin typeface="+mn-lt"/>
              </a:rPr>
              <a:t>Story spine:  ENVELOPE (problem)  →  X-RAY (solution)  →  PROOF (validation)  →  TRUST (business)</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Why Each Algorithm? (Simple Points)</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292608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sp>
        <p:nvSpPr>
          <p:cNvPr id="6" name="TextBox 5"/>
          <p:cNvSpPr txBox="1"/>
          <p:nvPr/>
        </p:nvSpPr>
        <p:spPr>
          <a:xfrm>
            <a:off x="7223760" y="1280160"/>
            <a:ext cx="4572000" cy="365760"/>
          </a:xfrm>
          <a:prstGeom prst="rect">
            <a:avLst/>
          </a:prstGeom>
          <a:noFill/>
        </p:spPr>
        <p:txBody>
          <a:bodyPr wrap="square" anchor="t">
            <a:spAutoFit/>
          </a:bodyPr>
          <a:lstStyle/>
          <a:p>
            <a:pPr marL="0" indent="0" algn="l">
              <a:lnSpc>
                <a:spcPct val="100000"/>
              </a:lnSpc>
              <a:spcBef>
                <a:spcPts val="0"/>
              </a:spcBef>
              <a:spcAft>
                <a:spcPts val="0"/>
              </a:spcAft>
              <a:buNone/>
            </a:pPr>
            <a:r>
              <a:rPr sz="1800" b="1" i="0">
                <a:solidFill>
                  <a:srgbClr val="1F4E79"/>
                </a:solidFill>
                <a:latin typeface="+mn-lt"/>
              </a:rPr>
              <a:t>The SafeTensors Fallacy</a:t>
            </a:r>
          </a:p>
        </p:txBody>
      </p:sp>
      <p:graphicFrame>
        <p:nvGraphicFramePr>
          <p:cNvPr id="7" name="Fallacy comparison"/>
          <p:cNvGraphicFramePr>
            <a:graphicFrameLocks noGrp="1"/>
          </p:cNvGraphicFramePr>
          <p:nvPr/>
        </p:nvGraphicFramePr>
        <p:xfrm>
          <a:off x="7223760" y="1691640"/>
          <a:ext cx="4572000" cy="3200400"/>
        </p:xfrm>
        <a:graphic>
          <a:graphicData uri="http://schemas.openxmlformats.org/drawingml/2006/table">
            <a:tbl>
              <a:tblPr firstRow="1" bandRow="1">
                <a:tableStyleId>{5C22544A-7EE6-4342-B048-85BDC9FD1C3A}</a:tableStyleId>
              </a:tblPr>
              <a:tblGrid>
                <a:gridCol w="2286000"/>
                <a:gridCol w="2286000"/>
              </a:tblGrid>
              <a:tr h="640080">
                <a:tc>
                  <a:txBody>
                    <a:bodyPr wrap="square"/>
                    <a:lstStyle/>
                    <a:p>
                      <a:pPr marL="0" indent="0">
                        <a:lnSpc>
                          <a:spcPct val="100000"/>
                        </a:lnSpc>
                        <a:spcBef>
                          <a:spcPts val="0"/>
                        </a:spcBef>
                        <a:spcAft>
                          <a:spcPts val="0"/>
                        </a:spcAft>
                        <a:buNone/>
                      </a:pPr>
                      <a:r>
                        <a:rPr sz="1400" b="1" i="0">
                          <a:solidFill>
                            <a:srgbClr val="FFFFFF"/>
                          </a:solidFill>
                          <a:latin typeface="+mn-lt"/>
                        </a:rPr>
                        <a:t>Legacy pickle (.bin / .pt)</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Modern safetensors</a:t>
                      </a:r>
                    </a:p>
                  </a:txBody>
                  <a:tcPr marL="73152" marR="73152" marT="27432" marB="27432" anchor="ctr">
                    <a:solidFill>
                      <a:srgbClr val="1F4E79"/>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Pickle VM opcode stream</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JSON header + raw byte array</a:t>
                      </a:r>
                    </a:p>
                  </a:txBody>
                  <a:tcPr marL="73152" marR="73152" marT="27432" marB="27432" anchor="ctr">
                    <a:solidFill>
                      <a:srgbClr val="EAF3FA"/>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RCE on load via __reduce__</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Zero code execution on load</a:t>
                      </a:r>
                    </a:p>
                  </a:txBody>
                  <a:tcPr marL="73152" marR="73152" marT="27432" marB="27432" anchor="ctr">
                    <a:solidFill>
                      <a:srgbClr val="FFFFFF"/>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Blind to weight manipulation</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BLIND TO WEAPONIZED WEIGHTS</a:t>
                      </a:r>
                    </a:p>
                  </a:txBody>
                  <a:tcPr marL="73152" marR="73152" marT="27432" marB="27432" anchor="ctr">
                    <a:solidFill>
                      <a:srgbClr val="EAF3FA"/>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Fails unsafe</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Safe container, unsafe math</a:t>
                      </a:r>
                    </a:p>
                  </a:txBody>
                  <a:tcPr marL="73152" marR="73152" marT="27432" marB="27432" anchor="ctr">
                    <a:solidFill>
                      <a:srgbClr val="FFFFFF"/>
                    </a:solidFill>
                  </a:tcPr>
                </a:tc>
              </a:tr>
            </a:tbl>
          </a:graphicData>
        </a:graphic>
      </p:graphicFrame>
      <p:sp>
        <p:nvSpPr>
          <p:cNvPr id="8" name="AH0"/>
          <p:cNvSpPr/>
          <p:nvPr/>
        </p:nvSpPr>
        <p:spPr>
          <a:xfrm>
            <a:off x="182880" y="1280160"/>
            <a:ext cx="2240280" cy="502920"/>
          </a:xfrm>
          <a:prstGeom prst="roundRect">
            <a:avLst>
              <a:gd name="adj" fmla="val 12000"/>
            </a:avLst>
          </a:prstGeom>
          <a:solidFill>
            <a:srgbClr val="1C4D98"/>
          </a:solidFill>
          <a:ln>
            <a:noFill/>
          </a:ln>
        </p:spPr>
        <p:txBody>
          <a:bodyPr rtlCol="0" anchor="ctr" wrap="square" lIns="73152" rIns="73152" tIns="36576" bIns="36576"/>
          <a:lstStyle/>
          <a:p>
            <a:pPr marL="0" indent="0" algn="ctr">
              <a:lnSpc>
                <a:spcPct val="100000"/>
              </a:lnSpc>
              <a:spcBef>
                <a:spcPts val="0"/>
              </a:spcBef>
              <a:spcAft>
                <a:spcPts val="0"/>
              </a:spcAft>
              <a:buNone/>
            </a:pPr>
            <a:r>
              <a:rPr sz="1300" b="1" i="0">
                <a:solidFill>
                  <a:srgbClr val="FFFFFF"/>
                </a:solidFill>
                <a:latin typeface="+mn-lt"/>
              </a:rPr>
              <a:t>Sarle's Bimodality Coefficient</a:t>
            </a:r>
          </a:p>
        </p:txBody>
      </p:sp>
      <p:sp>
        <p:nvSpPr>
          <p:cNvPr id="9" name="AB0"/>
          <p:cNvSpPr/>
          <p:nvPr/>
        </p:nvSpPr>
        <p:spPr>
          <a:xfrm>
            <a:off x="182880" y="1801368"/>
            <a:ext cx="2240280" cy="338328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400" b="0" i="0">
                <a:solidFill>
                  <a:srgbClr val="2B3A55"/>
                </a:solidFill>
                <a:latin typeface="+mn-lt"/>
              </a:rPr>
              <a:t>Standard checks (mean, std) missed bimodal weight clusters — only 24% detection.</a:t>
            </a:r>
          </a:p>
          <a:p>
            <a:pPr marL="0" indent="0" algn="l">
              <a:lnSpc>
                <a:spcPct val="100000"/>
              </a:lnSpc>
              <a:spcBef>
                <a:spcPts val="0"/>
              </a:spcBef>
              <a:spcAft>
                <a:spcPts val="0"/>
              </a:spcAft>
              <a:buNone/>
            </a:pPr>
          </a:p>
          <a:p>
            <a:pPr marL="0" indent="0" algn="l">
              <a:lnSpc>
                <a:spcPct val="100000"/>
              </a:lnSpc>
              <a:spcBef>
                <a:spcPts val="0"/>
              </a:spcBef>
              <a:spcAft>
                <a:spcPts val="0"/>
              </a:spcAft>
              <a:buNone/>
            </a:pPr>
            <a:r>
              <a:rPr sz="1400" b="0" i="0">
                <a:solidFill>
                  <a:srgbClr val="2B3A55"/>
                </a:solidFill>
                <a:latin typeface="+mn-lt"/>
              </a:rPr>
              <a:t>Sarle's BC divides skewness² by kurtosis, making flat-peak (platykurtic) shapes spike.</a:t>
            </a:r>
          </a:p>
          <a:p>
            <a:pPr marL="0" indent="0" algn="l">
              <a:lnSpc>
                <a:spcPct val="100000"/>
              </a:lnSpc>
              <a:spcBef>
                <a:spcPts val="0"/>
              </a:spcBef>
              <a:spcAft>
                <a:spcPts val="0"/>
              </a:spcAft>
              <a:buNone/>
            </a:pPr>
          </a:p>
          <a:p>
            <a:pPr marL="0" indent="0" algn="l">
              <a:lnSpc>
                <a:spcPct val="100000"/>
              </a:lnSpc>
              <a:spcBef>
                <a:spcPts val="0"/>
              </a:spcBef>
              <a:spcAft>
                <a:spcPts val="0"/>
              </a:spcAft>
              <a:buNone/>
            </a:pPr>
            <a:r>
              <a:rPr sz="1400" b="0" i="0">
                <a:solidFill>
                  <a:srgbClr val="2B3A55"/>
                </a:solidFill>
                <a:latin typeface="+mn-lt"/>
              </a:rPr>
              <a:t>Result: 24% → 96% detection with one threshold (BC &gt; 0.555).</a:t>
            </a:r>
          </a:p>
        </p:txBody>
      </p:sp>
      <p:sp>
        <p:nvSpPr>
          <p:cNvPr id="10" name="AH1"/>
          <p:cNvSpPr/>
          <p:nvPr/>
        </p:nvSpPr>
        <p:spPr>
          <a:xfrm>
            <a:off x="2551176" y="1280160"/>
            <a:ext cx="2240280" cy="502920"/>
          </a:xfrm>
          <a:prstGeom prst="roundRect">
            <a:avLst>
              <a:gd name="adj" fmla="val 12000"/>
            </a:avLst>
          </a:prstGeom>
          <a:solidFill>
            <a:srgbClr val="2A7F8F"/>
          </a:solidFill>
          <a:ln>
            <a:noFill/>
          </a:ln>
        </p:spPr>
        <p:txBody>
          <a:bodyPr rtlCol="0" anchor="ctr" wrap="square" lIns="73152" rIns="73152" tIns="36576" bIns="36576"/>
          <a:lstStyle/>
          <a:p>
            <a:pPr marL="0" indent="0" algn="ctr">
              <a:lnSpc>
                <a:spcPct val="100000"/>
              </a:lnSpc>
              <a:spcBef>
                <a:spcPts val="0"/>
              </a:spcBef>
              <a:spcAft>
                <a:spcPts val="0"/>
              </a:spcAft>
              <a:buNone/>
            </a:pPr>
            <a:r>
              <a:rPr sz="1300" b="1" i="0">
                <a:solidFill>
                  <a:srgbClr val="FFFFFF"/>
                </a:solidFill>
                <a:latin typeface="+mn-lt"/>
              </a:rPr>
              <a:t>BBP Spike Ratio</a:t>
            </a:r>
          </a:p>
          <a:p>
            <a:pPr marL="0" indent="0" algn="ctr">
              <a:lnSpc>
                <a:spcPct val="100000"/>
              </a:lnSpc>
              <a:spcBef>
                <a:spcPts val="0"/>
              </a:spcBef>
              <a:spcAft>
                <a:spcPts val="0"/>
              </a:spcAft>
              <a:buNone/>
            </a:pPr>
            <a:r>
              <a:rPr sz="1300" b="0" i="0">
                <a:solidFill>
                  <a:srgbClr val="FFFFFF"/>
                </a:solidFill>
                <a:latin typeface="+mn-lt"/>
              </a:rPr>
              <a:t>σ₁ / λ₊</a:t>
            </a:r>
          </a:p>
        </p:txBody>
      </p:sp>
      <p:sp>
        <p:nvSpPr>
          <p:cNvPr id="11" name="AB1"/>
          <p:cNvSpPr/>
          <p:nvPr/>
        </p:nvSpPr>
        <p:spPr>
          <a:xfrm>
            <a:off x="2551176" y="1801368"/>
            <a:ext cx="2240280" cy="338328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400" b="0" i="0">
                <a:solidFill>
                  <a:srgbClr val="2B3A55"/>
                </a:solidFill>
                <a:latin typeface="+mn-lt"/>
              </a:rPr>
              <a:t>A rank-1 Trojan pushes the top singular value outside the Marchenko-Pastur noise boundary.</a:t>
            </a:r>
          </a:p>
          <a:p>
            <a:pPr marL="0" indent="0" algn="l">
              <a:lnSpc>
                <a:spcPct val="100000"/>
              </a:lnSpc>
              <a:spcBef>
                <a:spcPts val="0"/>
              </a:spcBef>
              <a:spcAft>
                <a:spcPts val="0"/>
              </a:spcAft>
              <a:buNone/>
            </a:pPr>
          </a:p>
          <a:p>
            <a:pPr marL="0" indent="0" algn="l">
              <a:lnSpc>
                <a:spcPct val="100000"/>
              </a:lnSpc>
              <a:spcBef>
                <a:spcPts val="0"/>
              </a:spcBef>
              <a:spcAft>
                <a:spcPts val="0"/>
              </a:spcAft>
              <a:buNone/>
            </a:pPr>
            <a:r>
              <a:rPr sz="1400" b="0" i="0">
                <a:solidFill>
                  <a:srgbClr val="2B3A55"/>
                </a:solidFill>
                <a:latin typeface="+mn-lt"/>
              </a:rPr>
              <a:t>Mean, std, skew stay unchanged — only singular values reveal the injection.</a:t>
            </a:r>
          </a:p>
          <a:p>
            <a:pPr marL="0" indent="0" algn="l">
              <a:lnSpc>
                <a:spcPct val="100000"/>
              </a:lnSpc>
              <a:spcBef>
                <a:spcPts val="0"/>
              </a:spcBef>
              <a:spcAft>
                <a:spcPts val="0"/>
              </a:spcAft>
              <a:buNone/>
            </a:pPr>
          </a:p>
          <a:p>
            <a:pPr marL="0" indent="0" algn="l">
              <a:lnSpc>
                <a:spcPct val="100000"/>
              </a:lnSpc>
              <a:spcBef>
                <a:spcPts val="0"/>
              </a:spcBef>
              <a:spcAft>
                <a:spcPts val="0"/>
              </a:spcAft>
              <a:buNone/>
            </a:pPr>
            <a:r>
              <a:rPr sz="1400" b="0" i="0">
                <a:solidFill>
                  <a:srgbClr val="2B3A55"/>
                </a:solidFill>
                <a:latin typeface="+mn-lt"/>
              </a:rPr>
              <a:t>Result: 100% recall on rank-1 Trojans with threshold &gt; 1.25.</a:t>
            </a:r>
          </a:p>
        </p:txBody>
      </p:sp>
      <p:sp>
        <p:nvSpPr>
          <p:cNvPr id="12" name="AH2"/>
          <p:cNvSpPr/>
          <p:nvPr/>
        </p:nvSpPr>
        <p:spPr>
          <a:xfrm>
            <a:off x="4919472" y="1280160"/>
            <a:ext cx="2240280" cy="502920"/>
          </a:xfrm>
          <a:prstGeom prst="roundRect">
            <a:avLst>
              <a:gd name="adj" fmla="val 12000"/>
            </a:avLst>
          </a:prstGeom>
          <a:solidFill>
            <a:srgbClr val="2F6DB5"/>
          </a:solidFill>
          <a:ln>
            <a:noFill/>
          </a:ln>
        </p:spPr>
        <p:txBody>
          <a:bodyPr rtlCol="0" anchor="ctr" wrap="square" lIns="73152" rIns="73152" tIns="36576" bIns="36576"/>
          <a:lstStyle/>
          <a:p>
            <a:pPr marL="0" indent="0" algn="ctr">
              <a:lnSpc>
                <a:spcPct val="100000"/>
              </a:lnSpc>
              <a:spcBef>
                <a:spcPts val="0"/>
              </a:spcBef>
              <a:spcAft>
                <a:spcPts val="0"/>
              </a:spcAft>
              <a:buNone/>
            </a:pPr>
            <a:r>
              <a:rPr sz="1300" b="1" i="0">
                <a:solidFill>
                  <a:srgbClr val="FFFFFF"/>
                </a:solidFill>
                <a:latin typeface="+mn-lt"/>
              </a:rPr>
              <a:t>Mantissa Bitplane Entropy</a:t>
            </a:r>
          </a:p>
        </p:txBody>
      </p:sp>
      <p:sp>
        <p:nvSpPr>
          <p:cNvPr id="13" name="AB2"/>
          <p:cNvSpPr/>
          <p:nvPr/>
        </p:nvSpPr>
        <p:spPr>
          <a:xfrm>
            <a:off x="4919472" y="1801368"/>
            <a:ext cx="2240280" cy="338328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400" b="0" i="0">
                <a:solidFill>
                  <a:srgbClr val="2B3A55"/>
                </a:solidFill>
                <a:latin typeface="+mn-lt"/>
              </a:rPr>
              <a:t>Encrypted payloads fill float32 lower mantissa bits with near-random values → entropy ≈ 8 bits (max).</a:t>
            </a:r>
          </a:p>
          <a:p>
            <a:pPr marL="0" indent="0" algn="l">
              <a:lnSpc>
                <a:spcPct val="100000"/>
              </a:lnSpc>
              <a:spcBef>
                <a:spcPts val="0"/>
              </a:spcBef>
              <a:spcAft>
                <a:spcPts val="0"/>
              </a:spcAft>
              <a:buNone/>
            </a:pPr>
          </a:p>
          <a:p>
            <a:pPr marL="0" indent="0" algn="l">
              <a:lnSpc>
                <a:spcPct val="100000"/>
              </a:lnSpc>
              <a:spcBef>
                <a:spcPts val="0"/>
              </a:spcBef>
              <a:spcAft>
                <a:spcPts val="0"/>
              </a:spcAft>
              <a:buNone/>
            </a:pPr>
            <a:r>
              <a:rPr sz="1400" b="0" i="0">
                <a:solidFill>
                  <a:srgbClr val="2B3A55"/>
                </a:solidFill>
                <a:latin typeface="+mn-lt"/>
              </a:rPr>
              <a:t>Natural weight gradients give &lt; 6.5 bits.</a:t>
            </a:r>
          </a:p>
          <a:p>
            <a:pPr marL="0" indent="0" algn="l">
              <a:lnSpc>
                <a:spcPct val="100000"/>
              </a:lnSpc>
              <a:spcBef>
                <a:spcPts val="0"/>
              </a:spcBef>
              <a:spcAft>
                <a:spcPts val="0"/>
              </a:spcAft>
              <a:buNone/>
            </a:pPr>
          </a:p>
          <a:p>
            <a:pPr marL="0" indent="0" algn="l">
              <a:lnSpc>
                <a:spcPct val="100000"/>
              </a:lnSpc>
              <a:spcBef>
                <a:spcPts val="0"/>
              </a:spcBef>
              <a:spcAft>
                <a:spcPts val="0"/>
              </a:spcAft>
              <a:buNone/>
            </a:pPr>
            <a:r>
              <a:rPr sz="1400" b="0" i="0">
                <a:solidFill>
                  <a:srgbClr val="2B3A55"/>
                </a:solidFill>
                <a:latin typeface="+mn-lt"/>
              </a:rPr>
              <a:t>Result: 100% steganography recall, zero model execution.</a:t>
            </a:r>
          </a:p>
        </p:txBody>
      </p:sp>
      <p:sp>
        <p:nvSpPr>
          <p:cNvPr id="14" name="AH3"/>
          <p:cNvSpPr/>
          <p:nvPr/>
        </p:nvSpPr>
        <p:spPr>
          <a:xfrm>
            <a:off x="7287768" y="1280160"/>
            <a:ext cx="2240280" cy="502920"/>
          </a:xfrm>
          <a:prstGeom prst="roundRect">
            <a:avLst>
              <a:gd name="adj" fmla="val 12000"/>
            </a:avLst>
          </a:prstGeom>
          <a:solidFill>
            <a:srgbClr val="C8561F"/>
          </a:solidFill>
          <a:ln>
            <a:noFill/>
          </a:ln>
        </p:spPr>
        <p:txBody>
          <a:bodyPr rtlCol="0" anchor="ctr" wrap="square" lIns="73152" rIns="73152" tIns="36576" bIns="36576"/>
          <a:lstStyle/>
          <a:p>
            <a:pPr marL="0" indent="0" algn="ctr">
              <a:lnSpc>
                <a:spcPct val="100000"/>
              </a:lnSpc>
              <a:spcBef>
                <a:spcPts val="0"/>
              </a:spcBef>
              <a:spcAft>
                <a:spcPts val="0"/>
              </a:spcAft>
              <a:buNone/>
            </a:pPr>
            <a:r>
              <a:rPr sz="1300" b="1" i="0">
                <a:solidFill>
                  <a:srgbClr val="FFFFFF"/>
                </a:solidFill>
                <a:latin typeface="+mn-lt"/>
              </a:rPr>
              <a:t>LSE-MIL Pooling</a:t>
            </a:r>
          </a:p>
          <a:p>
            <a:pPr marL="0" indent="0" algn="ctr">
              <a:lnSpc>
                <a:spcPct val="100000"/>
              </a:lnSpc>
              <a:spcBef>
                <a:spcPts val="0"/>
              </a:spcBef>
              <a:spcAft>
                <a:spcPts val="0"/>
              </a:spcAft>
              <a:buNone/>
            </a:pPr>
            <a:r>
              <a:rPr sz="1300" b="0" i="0">
                <a:solidFill>
                  <a:srgbClr val="FFFFFF"/>
                </a:solidFill>
                <a:latin typeface="+mn-lt"/>
              </a:rPr>
              <a:t>(τ = 6.0)</a:t>
            </a:r>
          </a:p>
        </p:txBody>
      </p:sp>
      <p:sp>
        <p:nvSpPr>
          <p:cNvPr id="15" name="AB3"/>
          <p:cNvSpPr/>
          <p:nvPr/>
        </p:nvSpPr>
        <p:spPr>
          <a:xfrm>
            <a:off x="7287768" y="1801368"/>
            <a:ext cx="2240280" cy="338328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400" b="0" i="0">
                <a:solidFill>
                  <a:srgbClr val="2B3A55"/>
                </a:solidFill>
                <a:latin typeface="+mn-lt"/>
              </a:rPr>
              <a:t>Simple average hides a poisoned layer: 0.95 ÷ 100 = 0.0095 (looks clean).</a:t>
            </a:r>
          </a:p>
          <a:p>
            <a:pPr marL="0" indent="0" algn="l">
              <a:lnSpc>
                <a:spcPct val="100000"/>
              </a:lnSpc>
              <a:spcBef>
                <a:spcPts val="0"/>
              </a:spcBef>
              <a:spcAft>
                <a:spcPts val="0"/>
              </a:spcAft>
              <a:buNone/>
            </a:pPr>
          </a:p>
          <a:p>
            <a:pPr marL="0" indent="0" algn="l">
              <a:lnSpc>
                <a:spcPct val="100000"/>
              </a:lnSpc>
              <a:spcBef>
                <a:spcPts val="0"/>
              </a:spcBef>
              <a:spcAft>
                <a:spcPts val="0"/>
              </a:spcAft>
              <a:buNone/>
            </a:pPr>
            <a:r>
              <a:rPr sz="1400" b="0" i="0">
                <a:solidFill>
                  <a:srgbClr val="2B3A55"/>
                </a:solidFill>
                <a:latin typeface="+mn-lt"/>
              </a:rPr>
              <a:t>LSE-MIL is a smooth-max: one anomalous layer dominates the global score.</a:t>
            </a:r>
          </a:p>
          <a:p>
            <a:pPr marL="0" indent="0" algn="l">
              <a:lnSpc>
                <a:spcPct val="100000"/>
              </a:lnSpc>
              <a:spcBef>
                <a:spcPts val="0"/>
              </a:spcBef>
              <a:spcAft>
                <a:spcPts val="0"/>
              </a:spcAft>
              <a:buNone/>
            </a:pPr>
          </a:p>
          <a:p>
            <a:pPr marL="0" indent="0" algn="l">
              <a:lnSpc>
                <a:spcPct val="100000"/>
              </a:lnSpc>
              <a:spcBef>
                <a:spcPts val="0"/>
              </a:spcBef>
              <a:spcAft>
                <a:spcPts val="0"/>
              </a:spcAft>
              <a:buNone/>
            </a:pPr>
            <a:r>
              <a:rPr sz="1400" b="0" i="0">
                <a:solidFill>
                  <a:srgbClr val="2B3A55"/>
                </a:solidFill>
                <a:latin typeface="+mn-lt"/>
              </a:rPr>
              <a:t>Result: Any layer ≥ 0.90 guarantees model risk ≥ 0.75 → QUARANTINE.</a:t>
            </a:r>
          </a:p>
        </p:txBody>
      </p:sp>
      <p:sp>
        <p:nvSpPr>
          <p:cNvPr id="16" name="AH4"/>
          <p:cNvSpPr/>
          <p:nvPr/>
        </p:nvSpPr>
        <p:spPr>
          <a:xfrm>
            <a:off x="9656064" y="1280160"/>
            <a:ext cx="2240280" cy="502920"/>
          </a:xfrm>
          <a:prstGeom prst="roundRect">
            <a:avLst>
              <a:gd name="adj" fmla="val 12000"/>
            </a:avLst>
          </a:prstGeom>
          <a:solidFill>
            <a:srgbClr val="1F4E79"/>
          </a:solidFill>
          <a:ln>
            <a:noFill/>
          </a:ln>
        </p:spPr>
        <p:txBody>
          <a:bodyPr rtlCol="0" anchor="ctr" wrap="square" lIns="73152" rIns="73152" tIns="36576" bIns="36576"/>
          <a:lstStyle/>
          <a:p>
            <a:pPr marL="0" indent="0" algn="ctr">
              <a:lnSpc>
                <a:spcPct val="100000"/>
              </a:lnSpc>
              <a:spcBef>
                <a:spcPts val="0"/>
              </a:spcBef>
              <a:spcAft>
                <a:spcPts val="0"/>
              </a:spcAft>
              <a:buNone/>
            </a:pPr>
            <a:r>
              <a:rPr sz="1300" b="1" i="0">
                <a:solidFill>
                  <a:srgbClr val="FFFFFF"/>
                </a:solidFill>
                <a:latin typeface="+mn-lt"/>
              </a:rPr>
              <a:t>Logistic Regression</a:t>
            </a:r>
          </a:p>
          <a:p>
            <a:pPr marL="0" indent="0" algn="ctr">
              <a:lnSpc>
                <a:spcPct val="100000"/>
              </a:lnSpc>
              <a:spcBef>
                <a:spcPts val="0"/>
              </a:spcBef>
              <a:spcAft>
                <a:spcPts val="0"/>
              </a:spcAft>
              <a:buNone/>
            </a:pPr>
            <a:r>
              <a:rPr sz="1300" b="0" i="0">
                <a:solidFill>
                  <a:srgbClr val="FFFFFF"/>
                </a:solidFill>
                <a:latin typeface="+mn-lt"/>
              </a:rPr>
              <a:t>(28-D vector)</a:t>
            </a:r>
          </a:p>
        </p:txBody>
      </p:sp>
      <p:sp>
        <p:nvSpPr>
          <p:cNvPr id="17" name="AB4"/>
          <p:cNvSpPr/>
          <p:nvPr/>
        </p:nvSpPr>
        <p:spPr>
          <a:xfrm>
            <a:off x="9656064" y="1801368"/>
            <a:ext cx="2240280" cy="3383280"/>
          </a:xfrm>
          <a:prstGeom prst="roundRect">
            <a:avLst>
              <a:gd name="adj" fmla="val 12000"/>
            </a:avLst>
          </a:prstGeom>
          <a:solidFill>
            <a:srgbClr val="EAF3FA"/>
          </a:solidFill>
          <a:ln>
            <a:noFill/>
          </a:ln>
        </p:spPr>
        <p:txBody>
          <a:bodyPr rtlCol="0" anchor="t" wrap="square" lIns="73152" rIns="73152" tIns="36576" bIns="36576"/>
          <a:lstStyle/>
          <a:p>
            <a:pPr marL="0" indent="0" algn="l">
              <a:lnSpc>
                <a:spcPct val="100000"/>
              </a:lnSpc>
              <a:spcBef>
                <a:spcPts val="0"/>
              </a:spcBef>
              <a:spcAft>
                <a:spcPts val="0"/>
              </a:spcAft>
              <a:buNone/>
            </a:pPr>
            <a:r>
              <a:rPr sz="1400" b="0" i="0">
                <a:solidFill>
                  <a:srgbClr val="2B3A55"/>
                </a:solidFill>
                <a:latin typeface="+mn-lt"/>
              </a:rPr>
              <a:t>200 training samples — a deep network would overfit.</a:t>
            </a:r>
          </a:p>
          <a:p>
            <a:pPr marL="0" indent="0" algn="l">
              <a:lnSpc>
                <a:spcPct val="100000"/>
              </a:lnSpc>
              <a:spcBef>
                <a:spcPts val="0"/>
              </a:spcBef>
              <a:spcAft>
                <a:spcPts val="0"/>
              </a:spcAft>
              <a:buNone/>
            </a:pPr>
          </a:p>
          <a:p>
            <a:pPr marL="0" indent="0" algn="l">
              <a:lnSpc>
                <a:spcPct val="100000"/>
              </a:lnSpc>
              <a:spcBef>
                <a:spcPts val="0"/>
              </a:spcBef>
              <a:spcAft>
                <a:spcPts val="0"/>
              </a:spcAft>
              <a:buNone/>
            </a:pPr>
            <a:r>
              <a:rPr sz="1400" b="0" i="0">
                <a:solidFill>
                  <a:srgbClr val="2B3A55"/>
                </a:solidFill>
                <a:latin typeface="+mn-lt"/>
              </a:rPr>
              <a:t>Linear coefficients are inspectable: a security engineer can read exactly why a model was flagged.</a:t>
            </a:r>
          </a:p>
          <a:p>
            <a:pPr marL="0" indent="0" algn="l">
              <a:lnSpc>
                <a:spcPct val="100000"/>
              </a:lnSpc>
              <a:spcBef>
                <a:spcPts val="0"/>
              </a:spcBef>
              <a:spcAft>
                <a:spcPts val="0"/>
              </a:spcAft>
              <a:buNone/>
            </a:pPr>
          </a:p>
          <a:p>
            <a:pPr marL="0" indent="0" algn="l">
              <a:lnSpc>
                <a:spcPct val="100000"/>
              </a:lnSpc>
              <a:spcBef>
                <a:spcPts val="0"/>
              </a:spcBef>
              <a:spcAft>
                <a:spcPts val="0"/>
              </a:spcAft>
              <a:buNone/>
            </a:pPr>
            <a:r>
              <a:rPr sz="1400" b="0" i="0">
                <a:solidFill>
                  <a:srgbClr val="2B3A55"/>
                </a:solidFill>
                <a:latin typeface="+mn-lt"/>
              </a:rPr>
              <a:t>Result: Microsecond inference, full audit trail, no black box.</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15214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Why Cross-Validation? (2 Main Points)</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292608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ModelSentinel – AI Supply-Chain Security</a:t>
            </a:r>
          </a:p>
          <a:p>
            <a:pPr algn="r"/>
            <a:endParaRPr lang="en-US" dirty="0"/>
          </a:p>
        </p:txBody>
      </p:sp>
      <p:sp>
        <p:nvSpPr>
          <p:cNvPr id="6" name="TextBox 5"/>
          <p:cNvSpPr txBox="1"/>
          <p:nvPr/>
        </p:nvSpPr>
        <p:spPr>
          <a:xfrm>
            <a:off x="7223760" y="1280160"/>
            <a:ext cx="4572000" cy="365760"/>
          </a:xfrm>
          <a:prstGeom prst="rect">
            <a:avLst/>
          </a:prstGeom>
          <a:noFill/>
        </p:spPr>
        <p:txBody>
          <a:bodyPr wrap="square" anchor="t">
            <a:spAutoFit/>
          </a:bodyPr>
          <a:lstStyle/>
          <a:p>
            <a:pPr marL="0" indent="0" algn="l">
              <a:lnSpc>
                <a:spcPct val="100000"/>
              </a:lnSpc>
              <a:spcBef>
                <a:spcPts val="0"/>
              </a:spcBef>
              <a:spcAft>
                <a:spcPts val="0"/>
              </a:spcAft>
              <a:buNone/>
            </a:pPr>
            <a:r>
              <a:rPr sz="1800" b="1" i="0">
                <a:solidFill>
                  <a:srgbClr val="1F4E79"/>
                </a:solidFill>
                <a:latin typeface="+mn-lt"/>
              </a:rPr>
              <a:t>The SafeTensors Fallacy</a:t>
            </a:r>
          </a:p>
        </p:txBody>
      </p:sp>
      <p:graphicFrame>
        <p:nvGraphicFramePr>
          <p:cNvPr id="7" name="Fallacy comparison"/>
          <p:cNvGraphicFramePr>
            <a:graphicFrameLocks noGrp="1"/>
          </p:cNvGraphicFramePr>
          <p:nvPr/>
        </p:nvGraphicFramePr>
        <p:xfrm>
          <a:off x="7223760" y="1691640"/>
          <a:ext cx="4572000" cy="3200400"/>
        </p:xfrm>
        <a:graphic>
          <a:graphicData uri="http://schemas.openxmlformats.org/drawingml/2006/table">
            <a:tbl>
              <a:tblPr firstRow="1" bandRow="1">
                <a:tableStyleId>{5C22544A-7EE6-4342-B048-85BDC9FD1C3A}</a:tableStyleId>
              </a:tblPr>
              <a:tblGrid>
                <a:gridCol w="2286000"/>
                <a:gridCol w="2286000"/>
              </a:tblGrid>
              <a:tr h="640080">
                <a:tc>
                  <a:txBody>
                    <a:bodyPr wrap="square"/>
                    <a:lstStyle/>
                    <a:p>
                      <a:pPr marL="0" indent="0">
                        <a:lnSpc>
                          <a:spcPct val="100000"/>
                        </a:lnSpc>
                        <a:spcBef>
                          <a:spcPts val="0"/>
                        </a:spcBef>
                        <a:spcAft>
                          <a:spcPts val="0"/>
                        </a:spcAft>
                        <a:buNone/>
                      </a:pPr>
                      <a:r>
                        <a:rPr sz="1400" b="1" i="0">
                          <a:solidFill>
                            <a:srgbClr val="FFFFFF"/>
                          </a:solidFill>
                          <a:latin typeface="+mn-lt"/>
                        </a:rPr>
                        <a:t>Legacy pickle (.bin / .pt)</a:t>
                      </a:r>
                    </a:p>
                  </a:txBody>
                  <a:tcPr marL="73152" marR="73152" marT="27432" marB="27432" anchor="ctr">
                    <a:solidFill>
                      <a:srgbClr val="1F4E79"/>
                    </a:solidFill>
                  </a:tcPr>
                </a:tc>
                <a:tc>
                  <a:txBody>
                    <a:bodyPr wrap="square"/>
                    <a:lstStyle/>
                    <a:p>
                      <a:pPr marL="0" indent="0">
                        <a:lnSpc>
                          <a:spcPct val="100000"/>
                        </a:lnSpc>
                        <a:spcBef>
                          <a:spcPts val="0"/>
                        </a:spcBef>
                        <a:spcAft>
                          <a:spcPts val="0"/>
                        </a:spcAft>
                        <a:buNone/>
                      </a:pPr>
                      <a:r>
                        <a:rPr sz="1400" b="1" i="0">
                          <a:solidFill>
                            <a:srgbClr val="FFFFFF"/>
                          </a:solidFill>
                          <a:latin typeface="+mn-lt"/>
                        </a:rPr>
                        <a:t>Modern safetensors</a:t>
                      </a:r>
                    </a:p>
                  </a:txBody>
                  <a:tcPr marL="73152" marR="73152" marT="27432" marB="27432" anchor="ctr">
                    <a:solidFill>
                      <a:srgbClr val="1F4E79"/>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Pickle VM opcode stream</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JSON header + raw byte array</a:t>
                      </a:r>
                    </a:p>
                  </a:txBody>
                  <a:tcPr marL="73152" marR="73152" marT="27432" marB="27432" anchor="ctr">
                    <a:solidFill>
                      <a:srgbClr val="EAF3FA"/>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RCE on load via __reduce__</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Zero code execution on load</a:t>
                      </a:r>
                    </a:p>
                  </a:txBody>
                  <a:tcPr marL="73152" marR="73152" marT="27432" marB="27432" anchor="ctr">
                    <a:solidFill>
                      <a:srgbClr val="FFFFFF"/>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Blind to weight manipulation</a:t>
                      </a:r>
                    </a:p>
                  </a:txBody>
                  <a:tcPr marL="73152" marR="73152" marT="27432" marB="27432" anchor="ctr">
                    <a:solidFill>
                      <a:srgbClr val="EAF3FA"/>
                    </a:solidFill>
                  </a:tcPr>
                </a:tc>
                <a:tc>
                  <a:txBody>
                    <a:bodyPr wrap="square"/>
                    <a:lstStyle/>
                    <a:p>
                      <a:pPr marL="0" indent="0">
                        <a:lnSpc>
                          <a:spcPct val="100000"/>
                        </a:lnSpc>
                        <a:spcBef>
                          <a:spcPts val="0"/>
                        </a:spcBef>
                        <a:spcAft>
                          <a:spcPts val="0"/>
                        </a:spcAft>
                        <a:buNone/>
                      </a:pPr>
                      <a:r>
                        <a:rPr sz="1400" b="0" i="0">
                          <a:solidFill>
                            <a:srgbClr val="2B3A55"/>
                          </a:solidFill>
                          <a:latin typeface="+mn-lt"/>
                        </a:rPr>
                        <a:t>BLIND TO WEAPONIZED WEIGHTS</a:t>
                      </a:r>
                    </a:p>
                  </a:txBody>
                  <a:tcPr marL="73152" marR="73152" marT="27432" marB="27432" anchor="ctr">
                    <a:solidFill>
                      <a:srgbClr val="EAF3FA"/>
                    </a:solidFill>
                  </a:tcPr>
                </a:tc>
              </a:tr>
              <a:tr h="640080">
                <a:tc>
                  <a:txBody>
                    <a:bodyPr wrap="square"/>
                    <a:lstStyle/>
                    <a:p>
                      <a:pPr marL="0" indent="0">
                        <a:lnSpc>
                          <a:spcPct val="100000"/>
                        </a:lnSpc>
                        <a:spcBef>
                          <a:spcPts val="0"/>
                        </a:spcBef>
                        <a:spcAft>
                          <a:spcPts val="0"/>
                        </a:spcAft>
                        <a:buNone/>
                      </a:pPr>
                      <a:r>
                        <a:rPr sz="1400" b="0" i="0">
                          <a:solidFill>
                            <a:srgbClr val="2B3A55"/>
                          </a:solidFill>
                          <a:latin typeface="+mn-lt"/>
                        </a:rPr>
                        <a:t>Fails unsafe</a:t>
                      </a:r>
                    </a:p>
                  </a:txBody>
                  <a:tcPr marL="73152" marR="73152" marT="27432" marB="27432" anchor="ctr">
                    <a:solidFill>
                      <a:srgbClr val="FFFFFF"/>
                    </a:solidFill>
                  </a:tcPr>
                </a:tc>
                <a:tc>
                  <a:txBody>
                    <a:bodyPr wrap="square"/>
                    <a:lstStyle/>
                    <a:p>
                      <a:pPr marL="0" indent="0">
                        <a:lnSpc>
                          <a:spcPct val="100000"/>
                        </a:lnSpc>
                        <a:spcBef>
                          <a:spcPts val="0"/>
                        </a:spcBef>
                        <a:spcAft>
                          <a:spcPts val="0"/>
                        </a:spcAft>
                        <a:buNone/>
                      </a:pPr>
                      <a:r>
                        <a:rPr sz="1400" b="0" i="0">
                          <a:solidFill>
                            <a:srgbClr val="2B3A55"/>
                          </a:solidFill>
                          <a:latin typeface="+mn-lt"/>
                        </a:rPr>
                        <a:t>Safe container, unsafe math</a:t>
                      </a:r>
                    </a:p>
                  </a:txBody>
                  <a:tcPr marL="73152" marR="73152" marT="27432" marB="27432" anchor="ctr">
                    <a:solidFill>
                      <a:srgbClr val="FFFFFF"/>
                    </a:solidFill>
                  </a:tcPr>
                </a:tc>
              </a:tr>
            </a:tbl>
          </a:graphicData>
        </a:graphic>
      </p:graphicFrame>
      <p:sp>
        <p:nvSpPr>
          <p:cNvPr id="8" name="CV1"/>
          <p:cNvSpPr/>
          <p:nvPr/>
        </p:nvSpPr>
        <p:spPr>
          <a:xfrm>
            <a:off x="256032" y="1298448"/>
            <a:ext cx="5669280" cy="4206240"/>
          </a:xfrm>
          <a:prstGeom prst="roundRect">
            <a:avLst>
              <a:gd name="adj" fmla="val 12000"/>
            </a:avLst>
          </a:prstGeom>
          <a:solidFill>
            <a:srgbClr val="1F4E79"/>
          </a:solidFill>
          <a:ln>
            <a:noFill/>
          </a:ln>
        </p:spPr>
        <p:txBody>
          <a:bodyPr rtlCol="0" anchor="t" wrap="square" lIns="137160" rIns="137160" tIns="109728" bIns="109728"/>
          <a:lstStyle/>
          <a:p>
            <a:pPr marL="0" indent="0">
              <a:lnSpc>
                <a:spcPct val="100000"/>
              </a:lnSpc>
              <a:spcBef>
                <a:spcPts val="0"/>
              </a:spcBef>
              <a:spcAft>
                <a:spcPts val="0"/>
              </a:spcAft>
              <a:buNone/>
            </a:pPr>
            <a:r>
              <a:rPr sz="2100" b="1" i="0">
                <a:solidFill>
                  <a:srgbClr val="FFFFFF"/>
                </a:solidFill>
                <a:latin typeface="+mn-lt"/>
              </a:rPr>
              <a:t>1.  The dataset is small — 200 models</a:t>
            </a:r>
          </a:p>
          <a:p>
            <a:pPr marL="0" indent="0">
              <a:lnSpc>
                <a:spcPct val="100000"/>
              </a:lnSpc>
              <a:spcBef>
                <a:spcPts val="0"/>
              </a:spcBef>
              <a:spcAft>
                <a:spcPts val="0"/>
              </a:spcAft>
              <a:buNone/>
            </a:pPr>
          </a:p>
          <a:p>
            <a:pPr marL="0" indent="0">
              <a:lnSpc>
                <a:spcPct val="100000"/>
              </a:lnSpc>
              <a:spcBef>
                <a:spcPts val="0"/>
              </a:spcBef>
              <a:spcAft>
                <a:spcPts val="0"/>
              </a:spcAft>
              <a:buNone/>
            </a:pPr>
            <a:r>
              <a:rPr sz="1600" b="0" i="0">
                <a:solidFill>
                  <a:srgbClr val="FFFFFF"/>
                </a:solidFill>
                <a:latin typeface="+mn-lt"/>
              </a:rPr>
              <a:t>With only 200 checkpoints, a single random split is unreliable — one lucky or unlucky cut can shift the reported accuracy by ±10%.</a:t>
            </a:r>
          </a:p>
          <a:p>
            <a:pPr marL="0" indent="0">
              <a:lnSpc>
                <a:spcPct val="100000"/>
              </a:lnSpc>
              <a:spcBef>
                <a:spcPts val="0"/>
              </a:spcBef>
              <a:spcAft>
                <a:spcPts val="0"/>
              </a:spcAft>
              <a:buNone/>
            </a:pPr>
          </a:p>
          <a:p>
            <a:pPr marL="0" indent="0">
              <a:lnSpc>
                <a:spcPct val="100000"/>
              </a:lnSpc>
              <a:spcBef>
                <a:spcPts val="0"/>
              </a:spcBef>
              <a:spcAft>
                <a:spcPts val="0"/>
              </a:spcAft>
              <a:buNone/>
            </a:pPr>
            <a:r>
              <a:rPr sz="1600" b="0" i="0">
                <a:solidFill>
                  <a:srgbClr val="FFFFFF"/>
                </a:solidFill>
                <a:latin typeface="+mn-lt"/>
              </a:rPr>
              <a:t>5-fold CV × 3 seeds = 15 independent evaluations. The mean ±2.4% standard deviation tells the committee the result is stable, not cherry-picked.</a:t>
            </a:r>
          </a:p>
          <a:p>
            <a:pPr marL="0" indent="0">
              <a:lnSpc>
                <a:spcPct val="100000"/>
              </a:lnSpc>
              <a:spcBef>
                <a:spcPts val="0"/>
              </a:spcBef>
              <a:spcAft>
                <a:spcPts val="0"/>
              </a:spcAft>
              <a:buNone/>
            </a:pPr>
          </a:p>
          <a:p>
            <a:pPr marL="0" indent="0">
              <a:lnSpc>
                <a:spcPct val="100000"/>
              </a:lnSpc>
              <a:spcBef>
                <a:spcPts val="0"/>
              </a:spcBef>
              <a:spcAft>
                <a:spcPts val="0"/>
              </a:spcAft>
              <a:buNone/>
            </a:pPr>
            <a:r>
              <a:rPr sz="1500" b="0" i="0">
                <a:solidFill>
                  <a:srgbClr val="FFFFFF"/>
                </a:solidFill>
                <a:latin typeface="+mn-lt"/>
              </a:rPr>
              <a:t>Plain English: “We ran the test 15 times with different splits. 96.5% was the average — not a lucky run.”</a:t>
            </a:r>
          </a:p>
        </p:txBody>
      </p:sp>
      <p:sp>
        <p:nvSpPr>
          <p:cNvPr id="9" name="CV2"/>
          <p:cNvSpPr/>
          <p:nvPr/>
        </p:nvSpPr>
        <p:spPr>
          <a:xfrm>
            <a:off x="6281928" y="1298448"/>
            <a:ext cx="5669280" cy="4206240"/>
          </a:xfrm>
          <a:prstGeom prst="roundRect">
            <a:avLst>
              <a:gd name="adj" fmla="val 12000"/>
            </a:avLst>
          </a:prstGeom>
          <a:solidFill>
            <a:srgbClr val="2A7F8F"/>
          </a:solidFill>
          <a:ln>
            <a:noFill/>
          </a:ln>
        </p:spPr>
        <p:txBody>
          <a:bodyPr rtlCol="0" anchor="t" wrap="square" lIns="137160" rIns="137160" tIns="109728" bIns="109728"/>
          <a:lstStyle/>
          <a:p>
            <a:pPr marL="0" indent="0">
              <a:lnSpc>
                <a:spcPct val="100000"/>
              </a:lnSpc>
              <a:spcBef>
                <a:spcPts val="0"/>
              </a:spcBef>
              <a:spcAft>
                <a:spcPts val="0"/>
              </a:spcAft>
              <a:buNone/>
            </a:pPr>
            <a:r>
              <a:rPr sz="2100" b="1" i="0">
                <a:solidFill>
                  <a:srgbClr val="FFFFFF"/>
                </a:solidFill>
                <a:latin typeface="+mn-lt"/>
              </a:rPr>
              <a:t>2.  The classes are imbalanced</a:t>
            </a:r>
          </a:p>
          <a:p>
            <a:pPr marL="0" indent="0">
              <a:lnSpc>
                <a:spcPct val="100000"/>
              </a:lnSpc>
              <a:spcBef>
                <a:spcPts val="0"/>
              </a:spcBef>
              <a:spcAft>
                <a:spcPts val="0"/>
              </a:spcAft>
              <a:buNone/>
            </a:pPr>
          </a:p>
          <a:p>
            <a:pPr marL="0" indent="0">
              <a:lnSpc>
                <a:spcPct val="100000"/>
              </a:lnSpc>
              <a:spcBef>
                <a:spcPts val="0"/>
              </a:spcBef>
              <a:spcAft>
                <a:spcPts val="0"/>
              </a:spcAft>
              <a:buNone/>
            </a:pPr>
            <a:r>
              <a:rPr sz="1600" b="0" i="0">
                <a:solidFill>
                  <a:srgbClr val="FFFFFF"/>
                </a:solidFill>
                <a:latin typeface="+mn-lt"/>
              </a:rPr>
              <a:t>Clean models outnumber trojaned ones. A random split can put nearly all trojaned models in training, leaving almost none to test on — giving falsely high recall.</a:t>
            </a:r>
          </a:p>
          <a:p>
            <a:pPr marL="0" indent="0">
              <a:lnSpc>
                <a:spcPct val="100000"/>
              </a:lnSpc>
              <a:spcBef>
                <a:spcPts val="0"/>
              </a:spcBef>
              <a:spcAft>
                <a:spcPts val="0"/>
              </a:spcAft>
              <a:buNone/>
            </a:pPr>
          </a:p>
          <a:p>
            <a:pPr marL="0" indent="0">
              <a:lnSpc>
                <a:spcPct val="100000"/>
              </a:lnSpc>
              <a:spcBef>
                <a:spcPts val="0"/>
              </a:spcBef>
              <a:spcAft>
                <a:spcPts val="0"/>
              </a:spcAft>
              <a:buNone/>
            </a:pPr>
            <a:r>
              <a:rPr sz="1600" b="0" i="0">
                <a:solidFill>
                  <a:srgbClr val="FFFFFF"/>
                </a:solidFill>
                <a:latin typeface="+mn-lt"/>
              </a:rPr>
              <a:t>Stratified CV forces each fold to hold the same clean-to-trojaned ratio, so every fold is a fair test. This is why 0.0% false quarantine and 100% recall hold across all 15 folds.</a:t>
            </a:r>
          </a:p>
          <a:p>
            <a:pPr marL="0" indent="0">
              <a:lnSpc>
                <a:spcPct val="100000"/>
              </a:lnSpc>
              <a:spcBef>
                <a:spcPts val="0"/>
              </a:spcBef>
              <a:spcAft>
                <a:spcPts val="0"/>
              </a:spcAft>
              <a:buNone/>
            </a:pPr>
          </a:p>
          <a:p>
            <a:pPr marL="0" indent="0">
              <a:lnSpc>
                <a:spcPct val="100000"/>
              </a:lnSpc>
              <a:spcBef>
                <a:spcPts val="0"/>
              </a:spcBef>
              <a:spcAft>
                <a:spcPts val="0"/>
              </a:spcAft>
              <a:buNone/>
            </a:pPr>
            <a:r>
              <a:rPr sz="1500" b="0" i="0">
                <a:solidFill>
                  <a:srgbClr val="FFFFFF"/>
                </a:solidFill>
                <a:latin typeface="+mn-lt"/>
              </a:rPr>
              <a:t>Plain English: “Stratified means the test is fair every time — no fold is accidentally all-clean or all-trojaned.”</a:t>
            </a:r>
          </a:p>
        </p:txBody>
      </p:sp>
      <p:sp>
        <p:nvSpPr>
          <p:cNvPr id="10" name="CVsummary"/>
          <p:cNvSpPr/>
          <p:nvPr/>
        </p:nvSpPr>
        <p:spPr>
          <a:xfrm>
            <a:off x="256032" y="5577840"/>
            <a:ext cx="11695176" cy="658368"/>
          </a:xfrm>
          <a:prstGeom prst="roundRect">
            <a:avLst>
              <a:gd name="adj" fmla="val 12000"/>
            </a:avLst>
          </a:prstGeom>
          <a:solidFill>
            <a:srgbClr val="1F4E79"/>
          </a:solidFill>
          <a:ln>
            <a:noFill/>
          </a:ln>
        </p:spPr>
        <p:txBody>
          <a:bodyPr rtlCol="0" anchor="ctr" wrap="square" lIns="73152" rIns="73152" tIns="36576" bIns="36576"/>
          <a:lstStyle/>
          <a:p>
            <a:pPr marL="0" indent="0" algn="ctr">
              <a:lnSpc>
                <a:spcPct val="100000"/>
              </a:lnSpc>
              <a:spcBef>
                <a:spcPts val="0"/>
              </a:spcBef>
              <a:spcAft>
                <a:spcPts val="0"/>
              </a:spcAft>
              <a:buNone/>
            </a:pPr>
            <a:r>
              <a:rPr sz="1800" b="0" i="0">
                <a:solidFill>
                  <a:srgbClr val="FFFFFF"/>
                </a:solidFill>
                <a:latin typeface="+mn-lt"/>
              </a:rPr>
              <a:t>Together: 15-fold stratified CV proves the numbers are STABLE (not a lucky split) AND FAIR (not a biased test).</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244</TotalTime>
  <Words>205</Words>
  <Application>Microsoft Office PowerPoint</Application>
  <PresentationFormat>Widescreen</PresentationFormat>
  <Paragraphs>47</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(Body)</vt:lpstr>
      <vt:lpstr>Calibri Light</vt:lpstr>
      <vt:lpstr>Frutiger 45 bold</vt:lpstr>
      <vt:lpstr>Frutiger LT Pro 45 Light</vt:lpstr>
      <vt:lpstr>source-serif-pro</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HARI PRASATH</cp:lastModifiedBy>
  <cp:revision>14</cp:revision>
  <dcterms:created xsi:type="dcterms:W3CDTF">2024-05-13T10:33:11Z</dcterms:created>
  <dcterms:modified xsi:type="dcterms:W3CDTF">2025-10-06T09:41:15Z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