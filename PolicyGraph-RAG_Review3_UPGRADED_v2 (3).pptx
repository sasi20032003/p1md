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494" r:id="rId6"/>
    <p:sldId id="2147470501" r:id="rId7"/>
    <p:sldId id="2147470498" r:id="rId8"/>
    <p:sldId id="2147470510" r:id="rId23"/>
    <p:sldId id="2147470497" r:id="rId9"/>
    <p:sldId id="2147470499" r:id="rId10"/>
    <p:sldId id="2147470502" r:id="rId11"/>
    <p:sldId id="2147470503" r:id="rId12"/>
    <p:sldId id="2147470504" r:id="rId17"/>
    <p:sldId id="2147470505" r:id="rId18"/>
    <p:sldId id="2147470506" r:id="rId19"/>
    <p:sldId id="2147470507" r:id="rId20"/>
    <p:sldId id="2147470508" r:id="rId21"/>
    <p:sldId id="214747050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12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6" Type="http://schemas.openxmlformats.org/officeDocument/2006/relationships/image" Target="../media/image2.png"/><Relationship Id="rId17" Type="http://schemas.microsoft.com/office/2007/relationships/hdphoto" Target="../media/hdphoto1.wdp"/><Relationship Id="rId18" Type="http://schemas.openxmlformats.org/officeDocument/2006/relationships/image" Target="../media/image3.png"/><Relationship Id="rId19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3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8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164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PolicyGraph-RAG v2.5</a:t>
            </a:r>
          </a:p>
          <a:p>
            <a:pPr lvl="0"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Temporal · Contradiction-Aware · Evidence-Verified · OKF-Grounded Healthcare Insurance Navigation</a:t>
            </a:r>
            <a:r>
              <a:rPr lang="en-US" sz="5400" b="1" dirty="0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/>
            </a:r>
            <a:r>
              <a:rPr lang="en-US" sz="3600" b="1" dirty="0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/>
            </a: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Sasi Vardhan Talluri (T9928)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285750" indent="-285750">
              <a:lnSpc>
                <a:spcPct val="100000"/>
              </a:lnSpc>
              <a:spcAft>
                <a:spcPts val="500"/>
              </a:spcAft>
              <a:buFont typeface="Arial"/>
              <a:buChar char="•"/>
            </a:pPr>
            <a:r>
              <a:rPr lang="en-US" sz="1312" dirty="0">
                <a:solidFill>
                  <a:srgbClr val="374151"/>
                </a:solidFill>
                <a:latin typeface="+mn-lt"/>
              </a:rPr>
              <a:t>Enterprise GenAI platform engineered for high-stakes healthcare insurance navigation and automated claims pre-adjudication.</a:t>
            </a:r>
          </a:p>
          <a:p>
            <a:pPr marL="285750" indent="-285750">
              <a:lnSpc>
                <a:spcPct val="100000"/>
              </a:lnSpc>
              <a:spcAft>
                <a:spcPts val="500"/>
              </a:spcAft>
              <a:buFont typeface="Arial"/>
              <a:buChar char="•"/>
            </a:pPr>
            <a:r>
              <a:rPr lang="en-US" sz="1312" dirty="0">
                <a:solidFill>
                  <a:srgbClr val="374151"/>
                </a:solidFill>
                <a:latin typeface="+mn-lt"/>
              </a:rPr>
              <a:t>Navigates dense 40–120 page IRDAI-statutory contracts with complex waiting periods, room-rent cappings, and co-payment clauses.</a:t>
            </a:r>
          </a:p>
          <a:p>
            <a:pPr marL="285750" indent="-285750">
              <a:lnSpc>
                <a:spcPct val="100000"/>
              </a:lnSpc>
              <a:spcAft>
                <a:spcPts val="500"/>
              </a:spcAft>
              <a:buFont typeface="Arial"/>
              <a:buChar char="•"/>
            </a:pPr>
            <a:r>
              <a:rPr lang="en-US" sz="1312" dirty="0">
                <a:solidFill>
                  <a:srgbClr val="374151"/>
                </a:solidFill>
                <a:latin typeface="+mn-lt"/>
              </a:rPr>
              <a:t>Overcomes 5 critical generic-RAG failures: vector number-blindness, clause fragmentation, temporal contamination, parametric hallucination &amp; pairwise inefficiency.</a:t>
            </a:r>
          </a:p>
          <a:p>
            <a:pPr marL="285750" indent="-285750">
              <a:lnSpc>
                <a:spcPct val="100000"/>
              </a:lnSpc>
              <a:spcAft>
                <a:spcPts val="500"/>
              </a:spcAft>
              <a:buFont typeface="Arial"/>
              <a:buChar char="•"/>
            </a:pPr>
            <a:r>
              <a:rPr lang="en-US" sz="1312" dirty="0">
                <a:solidFill>
                  <a:srgbClr val="374151"/>
                </a:solidFill>
                <a:latin typeface="+mn-lt"/>
              </a:rPr>
              <a:t>Dual-Architecture: OKF canonical rule engine (deterministic truth) + Contextual RAG + HippoRAG KG (evidentiary retrieval).</a:t>
            </a:r>
          </a:p>
          <a:p>
            <a:pPr marL="285750" indent="-285750">
              <a:lnSpc>
                <a:spcPct val="100000"/>
              </a:lnSpc>
              <a:spcAft>
                <a:spcPts val="500"/>
              </a:spcAft>
              <a:buFont typeface="Arial"/>
              <a:buChar char="•"/>
            </a:pPr>
            <a:r>
              <a:rPr lang="en-US" sz="1312" dirty="0">
                <a:solidFill>
                  <a:srgbClr val="374151"/>
                </a:solidFill>
                <a:latin typeface="+mn-lt"/>
              </a:rPr>
              <a:t>Delivers zero-hallucination guidance backed by SQL-level temporal validation, MiniCheck atomic verification, and auditable page-level citations.</a:t>
            </a:r>
          </a:p>
          <a:p>
            <a:pPr marL="285750" indent="-285750">
              <a:lnSpc>
                <a:spcPct val="100000"/>
              </a:lnSpc>
              <a:spcAft>
                <a:spcPts val="500"/>
              </a:spcAft>
              <a:buFont typeface="Arial"/>
              <a:buChar char="•"/>
            </a:pPr>
            <a:r>
              <a:rPr lang="en-US" sz="1312" dirty="0">
                <a:solidFill>
                  <a:srgbClr val="374151"/>
                </a:solidFill>
                <a:latin typeface="+mn-lt"/>
              </a:rPr>
              <a:t>Validated on 29 real-world statutory PDFs from 10 top Indian insurers (Star Health, Care Health, etc.).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Introduction: PolicyGraph-RAG — Enterprise Context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PolicyGraph-RAG | LTIMindtree</a:t>
            </a:r>
          </a:p>
          <a:p>
            <a:pPr algn="r"/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571000" y="4850000"/>
            <a:ext cx="2090000" cy="470000"/>
          </a:xfrm>
          <a:prstGeom prst="roundRect">
            <a:avLst/>
          </a:prstGeom>
          <a:solidFill>
            <a:srgbClr val="1A365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Enterprise GenAI Platform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Calibri"/>
              </a:rPr>
              <a:t>Healthcare Insurance Navigation &amp; Claims Pre-Adjudication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11000" y="4850000"/>
            <a:ext cx="2090000" cy="470000"/>
          </a:xfrm>
          <a:prstGeom prst="roundRect">
            <a:avLst/>
          </a:prstGeom>
          <a:solidFill>
            <a:srgbClr val="0E749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40–120 Page IRDAI Policies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Calibri"/>
              </a:rPr>
              <a:t>Waiting Periods · Room-Rent Caps · Co-Payments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51000" y="4850000"/>
            <a:ext cx="2090000" cy="470000"/>
          </a:xfrm>
          <a:prstGeom prst="roundRect">
            <a:avLst/>
          </a:prstGeom>
          <a:solidFill>
            <a:srgbClr val="1A365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5 Generic RAG Failures Identified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Calibri"/>
              </a:rPr>
              <a:t>Fragmentation · Number-Blindness · Contamination · Hallucination · Inefficiency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91000" y="4850000"/>
            <a:ext cx="2090000" cy="470000"/>
          </a:xfrm>
          <a:prstGeom prst="roundRect">
            <a:avLst/>
          </a:prstGeom>
          <a:solidFill>
            <a:srgbClr val="0E749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OKF + Contextual RAG + HippoRAG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Calibri"/>
              </a:rPr>
              <a:t>Deterministic Rules + Evidence Retrieval + Graph Walks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31000" y="4850000"/>
            <a:ext cx="2090000" cy="470000"/>
          </a:xfrm>
          <a:prstGeom prst="roundRect">
            <a:avLst/>
          </a:prstGeom>
          <a:solidFill>
            <a:srgbClr val="10956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Zero-Hallucination Verified Output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Calibri"/>
              </a:rPr>
              <a:t>MiniCheck · SQL Temporal · Page Citations · 0.98 Confidence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285750" indent="-285750">
              <a:lnSpc>
                <a:spcPct val="100000"/>
              </a:lnSpc>
              <a:spcAft>
                <a:spcPts val="700"/>
              </a:spcAft>
              <a:buFont typeface="Arial"/>
              <a:buChar char="•"/>
            </a:pPr>
            <a:r>
              <a:rPr lang="en-US" sz="1435" dirty="0">
                <a:solidFill>
                  <a:srgbClr val="374151"/>
                </a:solidFill>
                <a:latin typeface="+mn-lt"/>
              </a:rPr>
              <a:t>Obj 1 — Temporal Integrity: eliminate policy wording contamination across renewal years using SQL temporal predicates (effective_from / effective_until).</a:t>
            </a:r>
          </a:p>
          <a:p>
            <a:pPr marL="285750" indent="-285750">
              <a:lnSpc>
                <a:spcPct val="100000"/>
              </a:lnSpc>
              <a:spcAft>
                <a:spcPts val="700"/>
              </a:spcAft>
              <a:buFont typeface="Arial"/>
              <a:buChar char="•"/>
            </a:pPr>
            <a:r>
              <a:rPr lang="en-US" sz="1435" dirty="0">
                <a:solidFill>
                  <a:srgbClr val="374151"/>
                </a:solidFill>
                <a:latin typeface="+mn-lt"/>
              </a:rPr>
              <a:t>Obj 2 — OKF Deterministic Rules: integrate Open Knowledge Format canonical ontologies to enforce IRDAI statutory guidelines with zero hallucination.</a:t>
            </a:r>
          </a:p>
          <a:p>
            <a:pPr marL="285750" indent="-285750">
              <a:lnSpc>
                <a:spcPct val="100000"/>
              </a:lnSpc>
              <a:spcAft>
                <a:spcPts val="700"/>
              </a:spcAft>
              <a:buFont typeface="Arial"/>
              <a:buChar char="•"/>
            </a:pPr>
            <a:r>
              <a:rPr lang="en-US" sz="1435" dirty="0">
                <a:solidFill>
                  <a:srgbClr val="374151"/>
                </a:solidFill>
                <a:latin typeface="+mn-lt"/>
              </a:rPr>
              <a:t>Obj 3 — Multi-Hop Clause Resolution: resolve non-contiguous clause dependencies (room-rent → proportionate deductions) via HippoRAG associative PageRank walks.</a:t>
            </a:r>
          </a:p>
          <a:p>
            <a:pPr marL="285750" indent="-285750">
              <a:lnSpc>
                <a:spcPct val="100000"/>
              </a:lnSpc>
              <a:spcAft>
                <a:spcPts val="700"/>
              </a:spcAft>
              <a:buFont typeface="Arial"/>
              <a:buChar char="•"/>
            </a:pPr>
            <a:r>
              <a:rPr lang="en-US" sz="1435" dirty="0">
                <a:solidFill>
                  <a:srgbClr val="374151"/>
                </a:solidFill>
                <a:latin typeface="+mn-lt"/>
              </a:rPr>
              <a:t>Obj 4 — Zero Numerical Hallucination: enforce MiniCheck atomic proposition NLI + mathematical set-difference guard: Numbers(Answer) − Numbers(Evidence) = ∅.</a:t>
            </a:r>
          </a:p>
          <a:p>
            <a:pPr marL="285750" indent="-285750">
              <a:lnSpc>
                <a:spcPct val="100000"/>
              </a:lnSpc>
              <a:spcAft>
                <a:spcPts val="700"/>
              </a:spcAft>
              <a:buFont typeface="Arial"/>
              <a:buChar char="•"/>
            </a:pPr>
            <a:r>
              <a:rPr lang="en-US" sz="1435" dirty="0">
                <a:solidFill>
                  <a:srgbClr val="374151"/>
                </a:solidFill>
                <a:latin typeface="+mn-lt"/>
              </a:rPr>
              <a:t>Obj 5 — Enterprise Deployment: sub-second PDF ingestion (~120ms), cross-version diffing under 30 seconds, full page-accurate citation provenance.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Project Objectives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PolicyGraph-RAG | LTIMindtree</a:t>
            </a:r>
          </a:p>
          <a:p>
            <a:pPr algn="r"/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10000" y="4920000"/>
            <a:ext cx="2000000" cy="550000"/>
          </a:xfrm>
          <a:prstGeom prst="roundRect">
            <a:avLst/>
          </a:prstGeom>
          <a:solidFill>
            <a:srgbClr val="1A365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①
Temporal
Integrity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10000" y="4920000"/>
            <a:ext cx="2000000" cy="550000"/>
          </a:xfrm>
          <a:prstGeom prst="roundRect">
            <a:avLst/>
          </a:prstGeom>
          <a:solidFill>
            <a:srgbClr val="0E749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②
OKF
Compliance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10000" y="4920000"/>
            <a:ext cx="2000000" cy="550000"/>
          </a:xfrm>
          <a:prstGeom prst="roundRect">
            <a:avLst/>
          </a:prstGeom>
          <a:solidFill>
            <a:srgbClr val="1A365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③
Multi-Hop
Clauses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10000" y="4920000"/>
            <a:ext cx="2000000" cy="550000"/>
          </a:xfrm>
          <a:prstGeom prst="roundRect">
            <a:avLst/>
          </a:prstGeom>
          <a:solidFill>
            <a:srgbClr val="D9770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④
Zero
Hallucination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10000" y="4920000"/>
            <a:ext cx="2000000" cy="550000"/>
          </a:xfrm>
          <a:prstGeom prst="roundRect">
            <a:avLst/>
          </a:prstGeom>
          <a:solidFill>
            <a:srgbClr val="10956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⑤
Enterprise
Deployment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lnSpc>
                <a:spcPct val="100000"/>
              </a:lnSpc>
              <a:spcAft>
                <a:spcPts val="500"/>
              </a:spcAft>
              <a:buFont typeface="Arial"/>
              <a:buChar char="•"/>
            </a:pPr>
            <a:r>
              <a:rPr lang="en-US" sz="1271" dirty="0">
                <a:solidFill>
                  <a:srgbClr val="374151"/>
                </a:solidFill>
                <a:latin typeface="+mn-lt"/>
              </a:rPr>
              <a:t>Module 1 — Contextual Ingestion: PyMuPDF + OCR → section-aware chunker (900/150 window) → hierarchical breadcrumb injection [Policy|Section|Clause|Type].</a:t>
            </a:r>
          </a:p>
          <a:p>
            <a:pPr marL="285750" indent="-285750">
              <a:lnSpc>
                <a:spcPct val="100000"/>
              </a:lnSpc>
              <a:spcAft>
                <a:spcPts val="500"/>
              </a:spcAft>
              <a:buFont typeface="Arial"/>
              <a:buChar char="•"/>
            </a:pPr>
            <a:r>
              <a:rPr lang="en-US" sz="1271" dirty="0">
                <a:solidFill>
                  <a:srgbClr val="374151"/>
                </a:solidFill>
                <a:latin typeface="+mn-lt"/>
              </a:rPr>
              <a:t>Module 2 — Hybrid Retrieval: Contextual BM25 (sparse) + pgvector Cosine (dense) → Reciprocal Rank Fusion (k=60) → Top 15 candidates.</a:t>
            </a:r>
          </a:p>
          <a:p>
            <a:pPr marL="285750" indent="-285750">
              <a:lnSpc>
                <a:spcPct val="100000"/>
              </a:lnSpc>
              <a:spcAft>
                <a:spcPts val="500"/>
              </a:spcAft>
              <a:buFont typeface="Arial"/>
              <a:buChar char="•"/>
            </a:pPr>
            <a:r>
              <a:rPr lang="en-US" sz="1271" dirty="0">
                <a:solidFill>
                  <a:srgbClr val="374151"/>
                </a:solidFill>
                <a:latin typeface="+mn-lt"/>
              </a:rPr>
              <a:t>Module 3 — HippoRAG Knowledge Graph: entity extraction → Associative Personalized PageRank → multi-hop clause linkage across 50+ pages.</a:t>
            </a:r>
          </a:p>
          <a:p>
            <a:pPr marL="285750" indent="-285750">
              <a:lnSpc>
                <a:spcPct val="100000"/>
              </a:lnSpc>
              <a:spcAft>
                <a:spcPts val="500"/>
              </a:spcAft>
              <a:buFont typeface="Arial"/>
              <a:buChar char="•"/>
            </a:pPr>
            <a:r>
              <a:rPr lang="en-US" sz="1271" dirty="0">
                <a:solidFill>
                  <a:srgbClr val="374151"/>
                </a:solidFill>
                <a:latin typeface="+mn-lt"/>
              </a:rPr>
              <a:t>Module 4 — CRAG &amp; Rerank: Corrective RAG scoring (CORRECT/AMBIGUOUS/INCORRECT) → query expansion → BGE Cross-Encoder → Top 8 chunks.</a:t>
            </a:r>
          </a:p>
          <a:p>
            <a:pPr marL="285750" indent="-285750">
              <a:lnSpc>
                <a:spcPct val="100000"/>
              </a:lnSpc>
              <a:spcAft>
                <a:spcPts val="500"/>
              </a:spcAft>
              <a:buFont typeface="Arial"/>
              <a:buChar char="•"/>
            </a:pPr>
            <a:r>
              <a:rPr lang="en-US" sz="1271" dirty="0">
                <a:solidFill>
                  <a:srgbClr val="374151"/>
                </a:solidFill>
                <a:latin typeface="+mn-lt"/>
              </a:rPr>
              <a:t>Module 5 — Guardrails &amp; Verify: MiniCheck atomic NLI → Numerical set-difference guard → OKF rule validation → Automated Self-Refine loop.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System Architecture &amp; Five Core Modules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PolicyGraph-RAG | LTIMindtree</a:t>
            </a:r>
          </a:p>
          <a:p>
            <a:pPr algn="r"/>
            <a:endParaRPr lang="en-US" dirty="0"/>
          </a:p>
        </p:txBody>
      </p:sp>
      <p:sp>
        <p:nvSpPr>
          <p:cNvPr id="19" name="Chevron 18"/>
          <p:cNvSpPr/>
          <p:nvPr/>
        </p:nvSpPr>
        <p:spPr>
          <a:xfrm>
            <a:off x="250000" y="4880000"/>
            <a:ext cx="1999999" cy="880000"/>
          </a:xfrm>
          <a:prstGeom prst="chevron">
            <a:avLst/>
          </a:prstGeom>
          <a:solidFill>
            <a:srgbClr val="1A365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8000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PDF Upload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Calibri"/>
              </a:rPr>
              <a:t>PyMuPDF + OCR</a:t>
            </a:r>
          </a:p>
        </p:txBody>
      </p:sp>
      <p:sp>
        <p:nvSpPr>
          <p:cNvPr id="20" name="Chevron 19"/>
          <p:cNvSpPr/>
          <p:nvPr/>
        </p:nvSpPr>
        <p:spPr>
          <a:xfrm>
            <a:off x="1849999" y="4880000"/>
            <a:ext cx="1999999" cy="880000"/>
          </a:xfrm>
          <a:prstGeom prst="chevron">
            <a:avLst/>
          </a:prstGeom>
          <a:solidFill>
            <a:srgbClr val="0E749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8000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Breadcrumb
Ingestion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Calibri"/>
              </a:rPr>
              <a:t>900/150 Window</a:t>
            </a:r>
          </a:p>
        </p:txBody>
      </p:sp>
      <p:sp>
        <p:nvSpPr>
          <p:cNvPr id="21" name="Chevron 20"/>
          <p:cNvSpPr/>
          <p:nvPr/>
        </p:nvSpPr>
        <p:spPr>
          <a:xfrm>
            <a:off x="3449998" y="4880000"/>
            <a:ext cx="1999999" cy="880000"/>
          </a:xfrm>
          <a:prstGeom prst="chevron">
            <a:avLst/>
          </a:prstGeom>
          <a:solidFill>
            <a:srgbClr val="1A365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8000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Hybrid
Retrieval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Calibri"/>
              </a:rPr>
              <a:t>BM25 + pgvector
RRF k=60</a:t>
            </a:r>
          </a:p>
        </p:txBody>
      </p:sp>
      <p:sp>
        <p:nvSpPr>
          <p:cNvPr id="22" name="Chevron 21"/>
          <p:cNvSpPr/>
          <p:nvPr/>
        </p:nvSpPr>
        <p:spPr>
          <a:xfrm>
            <a:off x="5049997" y="4880000"/>
            <a:ext cx="1999999" cy="880000"/>
          </a:xfrm>
          <a:prstGeom prst="chevron">
            <a:avLst/>
          </a:prstGeom>
          <a:solidFill>
            <a:srgbClr val="0E749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8000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HippoRAG
Graph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Calibri"/>
              </a:rPr>
              <a:t>PageRank Walk
Multi-hop</a:t>
            </a:r>
          </a:p>
        </p:txBody>
      </p:sp>
      <p:sp>
        <p:nvSpPr>
          <p:cNvPr id="23" name="Chevron 22"/>
          <p:cNvSpPr/>
          <p:nvPr/>
        </p:nvSpPr>
        <p:spPr>
          <a:xfrm>
            <a:off x="6649996" y="4880000"/>
            <a:ext cx="1999999" cy="880000"/>
          </a:xfrm>
          <a:prstGeom prst="chevron">
            <a:avLst/>
          </a:prstGeom>
          <a:solidFill>
            <a:srgbClr val="1A365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8000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CRAG +
Rerank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Calibri"/>
              </a:rPr>
              <a:t>BGE Cross-
Encoder</a:t>
            </a:r>
          </a:p>
        </p:txBody>
      </p:sp>
      <p:sp>
        <p:nvSpPr>
          <p:cNvPr id="24" name="Chevron 23"/>
          <p:cNvSpPr/>
          <p:nvPr/>
        </p:nvSpPr>
        <p:spPr>
          <a:xfrm>
            <a:off x="8249995" y="4880000"/>
            <a:ext cx="1999999" cy="880000"/>
          </a:xfrm>
          <a:prstGeom prst="chevron">
            <a:avLst/>
          </a:prstGeom>
          <a:solidFill>
            <a:srgbClr val="D9770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8000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Guardrails
OKF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Calibri"/>
              </a:rPr>
              <a:t>MiniCheck +
Set-Diff Guard</a:t>
            </a:r>
          </a:p>
        </p:txBody>
      </p:sp>
      <p:sp>
        <p:nvSpPr>
          <p:cNvPr id="25" name="Chevron 24"/>
          <p:cNvSpPr/>
          <p:nvPr/>
        </p:nvSpPr>
        <p:spPr>
          <a:xfrm>
            <a:off x="9849994" y="4880000"/>
            <a:ext cx="1999999" cy="880000"/>
          </a:xfrm>
          <a:prstGeom prst="chevron">
            <a:avLst/>
          </a:prstGeom>
          <a:solidFill>
            <a:srgbClr val="10956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8000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Verified
Answer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Calibri"/>
              </a:rPr>
              <a:t>Citations +
0.98 Conf.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285750" indent="-285750">
              <a:lnSpc>
                <a:spcPct val="100000"/>
              </a:lnSpc>
              <a:spcAft>
                <a:spcPts val="450"/>
              </a:spcAft>
              <a:buFont typeface="Arial"/>
              <a:buChar char="•"/>
            </a:pPr>
            <a:r>
              <a:rPr lang="en-US" sz="1271" dirty="0">
                <a:solidFill>
                  <a:srgbClr val="374151"/>
                </a:solidFill>
                <a:latin typeface="+mn-lt"/>
              </a:rPr>
              <a:t>① Clause Fragmentation: fixed 500-char chunking severs maternity benefit from its mandatory 24-month waiting period → false eligibility advice.</a:t>
            </a:r>
          </a:p>
          <a:p>
            <a:pPr marL="285750" indent="-285750">
              <a:lnSpc>
                <a:spcPct val="100000"/>
              </a:lnSpc>
              <a:spcAft>
                <a:spcPts val="450"/>
              </a:spcAft>
              <a:buFont typeface="Arial"/>
              <a:buChar char="•"/>
            </a:pPr>
            <a:r>
              <a:rPr lang="en-US" sz="1271" dirty="0">
                <a:solidFill>
                  <a:srgbClr val="374151"/>
                </a:solidFill>
                <a:latin typeface="+mn-lt"/>
              </a:rPr>
              <a:t>② Vector Number-Blindness: dense embeddings cannot distinguish '1% room rent cap' from '2% room rent cap' or exact clause codes.</a:t>
            </a:r>
          </a:p>
          <a:p>
            <a:pPr marL="285750" indent="-285750">
              <a:lnSpc>
                <a:spcPct val="100000"/>
              </a:lnSpc>
              <a:spcAft>
                <a:spcPts val="450"/>
              </a:spcAft>
              <a:buFont typeface="Arial"/>
              <a:buChar char="•"/>
            </a:pPr>
            <a:r>
              <a:rPr lang="en-US" sz="1271" dirty="0">
                <a:solidFill>
                  <a:srgbClr val="374151"/>
                </a:solidFill>
                <a:latin typeface="+mn-lt"/>
              </a:rPr>
              <a:t>③ Temporal Contamination: standard RAG silently blends expired 2022 terms with active 2024 policy during adjudication → wrong claim outcome.</a:t>
            </a:r>
          </a:p>
          <a:p>
            <a:pPr marL="285750" indent="-285750">
              <a:lnSpc>
                <a:spcPct val="100000"/>
              </a:lnSpc>
              <a:spcAft>
                <a:spcPts val="450"/>
              </a:spcAft>
              <a:buFont typeface="Arial"/>
              <a:buChar char="•"/>
            </a:pPr>
            <a:r>
              <a:rPr lang="en-US" sz="1271" dirty="0">
                <a:solidFill>
                  <a:srgbClr val="374151"/>
                </a:solidFill>
                <a:latin typeface="+mn-lt"/>
              </a:rPr>
              <a:t>④ Financial Hallucination: LLMs invent plausible co-pay percentages and sub-limits not in the contract → wrongful rejection / payout errors.</a:t>
            </a:r>
          </a:p>
          <a:p>
            <a:pPr marL="285750" indent="-285750">
              <a:lnSpc>
                <a:spcPct val="100000"/>
              </a:lnSpc>
              <a:spcAft>
                <a:spcPts val="450"/>
              </a:spcAft>
              <a:buFont typeface="Arial"/>
              <a:buChar char="•"/>
            </a:pPr>
            <a:r>
              <a:rPr lang="en-US" sz="1271" dirty="0">
                <a:solidFill>
                  <a:srgbClr val="374151"/>
                </a:solidFill>
                <a:latin typeface="+mn-lt"/>
              </a:rPr>
              <a:t>⑤ Pairwise Comparison Inefficiency: brute-force 200×220 = 44,000 LLM API calls → 45+ minutes and $50+ per document comparison.</a:t>
            </a:r>
          </a:p>
          <a:p>
            <a:pPr marL="285750" indent="-285750">
              <a:lnSpc>
                <a:spcPct val="100000"/>
              </a:lnSpc>
              <a:spcAft>
                <a:spcPts val="450"/>
              </a:spcAft>
              <a:buFont typeface="Arial"/>
              <a:buChar char="•"/>
            </a:pPr>
            <a:r>
              <a:rPr lang="en-US" sz="1271" dirty="0">
                <a:solidFill>
                  <a:srgbClr val="374151"/>
                </a:solidFill>
                <a:latin typeface="+mn-lt"/>
              </a:rPr>
              <a:t>Business Impact: wrongful claim rejections · policyholder litigation · IRDAI compliance violations.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Statement: 5 Critical RAG Failure Modes in Insurance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PolicyGraph-RAG | LTIMindtree</a:t>
            </a:r>
          </a:p>
          <a:p>
            <a:pPr algn="r"/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280000" y="4910000"/>
            <a:ext cx="2100000" cy="550000"/>
          </a:xfrm>
          <a:prstGeom prst="roundRect">
            <a:avLst/>
          </a:prstGeom>
          <a:solidFill>
            <a:srgbClr val="1A365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Clause
Fragment-
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50000" y="4910000"/>
            <a:ext cx="2100000" cy="550000"/>
          </a:xfrm>
          <a:prstGeom prst="roundRect">
            <a:avLst/>
          </a:prstGeom>
          <a:solidFill>
            <a:srgbClr val="0E749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Vector
Number-
Blindness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20000" y="4910000"/>
            <a:ext cx="2100000" cy="550000"/>
          </a:xfrm>
          <a:prstGeom prst="roundRect">
            <a:avLst/>
          </a:prstGeom>
          <a:solidFill>
            <a:srgbClr val="1A365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Temporal
Contamin-
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90000" y="4910000"/>
            <a:ext cx="2100000" cy="550000"/>
          </a:xfrm>
          <a:prstGeom prst="roundRect">
            <a:avLst/>
          </a:prstGeom>
          <a:solidFill>
            <a:srgbClr val="DC262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Financial
Hallucin-
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0000" y="4910000"/>
            <a:ext cx="2100000" cy="550000"/>
          </a:xfrm>
          <a:prstGeom prst="roundRect">
            <a:avLst/>
          </a:prstGeom>
          <a:solidFill>
            <a:srgbClr val="B4530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Pairwise
Ineffici-
ency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2C3DBE-E507-D889-A890-2C56D2A65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285750" indent="-285750">
              <a:lnSpc>
                <a:spcPct val="100000"/>
              </a:lnSpc>
              <a:spcAft>
                <a:spcPts val="480"/>
              </a:spcAft>
              <a:buFont typeface="Arial"/>
              <a:buChar char="•"/>
            </a:pPr>
            <a:r>
              <a:rPr lang="en-US" sz="1271" dirty="0">
                <a:solidFill>
                  <a:srgbClr val="374151"/>
                </a:solidFill>
                <a:latin typeface="+mn-lt"/>
              </a:rPr>
              <a:t>Step 1 — PDF Ingestion: MIME validation (≤25MB) → PyMuPDF text extract → OCR fallback → section header regex detection → sentence sliding window (900/150 chars) → breadcrumb injection → 384-dim batch embedding → PostgreSQL bulk insert (status: ready).</a:t>
            </a:r>
          </a:p>
          <a:p>
            <a:pPr marL="285750" indent="-285750">
              <a:lnSpc>
                <a:spcPct val="100000"/>
              </a:lnSpc>
              <a:spcAft>
                <a:spcPts val="480"/>
              </a:spcAft>
              <a:buFont typeface="Arial"/>
              <a:buChar char="•"/>
            </a:pPr>
            <a:r>
              <a:rPr lang="en-US" sz="1271" dirty="0">
                <a:solidFill>
                  <a:srgbClr val="374151"/>
                </a:solidFill>
                <a:latin typeface="+mn-lt"/>
              </a:rPr>
              <a:t>Step 2 — Hybrid Search: Temporal SQL filter (effective_from ≤ date ≤ effective_until) → parallel BM25 lexical + pgvector cosine → RRF fusion (k=60) → Top 15 candidates.</a:t>
            </a:r>
          </a:p>
          <a:p>
            <a:pPr marL="285750" indent="-285750">
              <a:lnSpc>
                <a:spcPct val="100000"/>
              </a:lnSpc>
              <a:spcAft>
                <a:spcPts val="480"/>
              </a:spcAft>
              <a:buFont typeface="Arial"/>
              <a:buChar char="•"/>
            </a:pPr>
            <a:r>
              <a:rPr lang="en-US" sz="1271" dirty="0">
                <a:solidFill>
                  <a:srgbClr val="374151"/>
                </a:solidFill>
                <a:latin typeface="+mn-lt"/>
              </a:rPr>
              <a:t>Step 3 — HippoRAG Graph Traversal: Entity extraction → Associative PageRank → multi-hop: Condition → Sub-limit → Exclusion → Waiting Period links.</a:t>
            </a:r>
          </a:p>
          <a:p>
            <a:pPr marL="285750" indent="-285750">
              <a:lnSpc>
                <a:spcPct val="100000"/>
              </a:lnSpc>
              <a:spcAft>
                <a:spcPts val="480"/>
              </a:spcAft>
              <a:buFont typeface="Arial"/>
              <a:buChar char="•"/>
            </a:pPr>
            <a:r>
              <a:rPr lang="en-US" sz="1271" dirty="0">
                <a:solidFill>
                  <a:srgbClr val="374151"/>
                </a:solidFill>
                <a:latin typeface="+mn-lt"/>
              </a:rPr>
              <a:t>Step 4 — CRAG &amp; Rerank: Retrieval grader (CORRECT/AMBIGUOUS/INCORRECT) → Query expansion if INCORRECT → BGE Cross-Encoder → Top 8 evidence chunks.</a:t>
            </a:r>
          </a:p>
          <a:p>
            <a:pPr marL="285750" indent="-285750">
              <a:lnSpc>
                <a:spcPct val="100000"/>
              </a:lnSpc>
              <a:spcAft>
                <a:spcPts val="480"/>
              </a:spcAft>
              <a:buFont typeface="Arial"/>
              <a:buChar char="•"/>
            </a:pPr>
            <a:r>
              <a:rPr lang="en-US" sz="1271" dirty="0">
                <a:solidFill>
                  <a:srgbClr val="374151"/>
                </a:solidFill>
                <a:latin typeface="+mn-lt"/>
              </a:rPr>
              <a:t>Step 5 — Verify &amp; Self-Refine: LLM generation (evidence-constrained) → MiniCheck atomic claims → Numerical set-difference guard → OKF rule validation → Self-Refine loop if violations → Final verified response + page citations.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Methodology: End-to-End Dataflow Pipeline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PolicyGraph-RAG | LTIMindtree</a:t>
            </a:r>
          </a:p>
          <a:p>
            <a:pPr algn="r"/>
            <a:endParaRPr lang="en-US" dirty="0"/>
          </a:p>
        </p:txBody>
      </p:sp>
      <p:sp>
        <p:nvSpPr>
          <p:cNvPr id="7" name="Chevron 6"/>
          <p:cNvSpPr/>
          <p:nvPr/>
        </p:nvSpPr>
        <p:spPr>
          <a:xfrm>
            <a:off x="250000" y="4910000"/>
            <a:ext cx="2320000" cy="830000"/>
          </a:xfrm>
          <a:prstGeom prst="chevron">
            <a:avLst/>
          </a:prstGeom>
          <a:solidFill>
            <a:srgbClr val="1A365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800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PDF Ingestion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Calibri"/>
              </a:rPr>
              <a:t>PyMuPDF · OCR · 900/150</a:t>
            </a:r>
          </a:p>
        </p:txBody>
      </p:sp>
      <p:sp>
        <p:nvSpPr>
          <p:cNvPr id="8" name="Chevron 7"/>
          <p:cNvSpPr/>
          <p:nvPr/>
        </p:nvSpPr>
        <p:spPr>
          <a:xfrm>
            <a:off x="2106000" y="4910000"/>
            <a:ext cx="2320000" cy="830000"/>
          </a:xfrm>
          <a:prstGeom prst="chevron">
            <a:avLst/>
          </a:prstGeom>
          <a:solidFill>
            <a:srgbClr val="0E749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800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Hybrid Search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Calibri"/>
              </a:rPr>
              <a:t>BM25 + RRF k=60</a:t>
            </a:r>
          </a:p>
        </p:txBody>
      </p:sp>
      <p:sp>
        <p:nvSpPr>
          <p:cNvPr id="9" name="Chevron 8"/>
          <p:cNvSpPr/>
          <p:nvPr/>
        </p:nvSpPr>
        <p:spPr>
          <a:xfrm>
            <a:off x="3962000" y="4910000"/>
            <a:ext cx="2320000" cy="830000"/>
          </a:xfrm>
          <a:prstGeom prst="chevron">
            <a:avLst/>
          </a:prstGeom>
          <a:solidFill>
            <a:srgbClr val="1A365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800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HippoRAG
Graph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Calibri"/>
              </a:rPr>
              <a:t>Entity · PageRank</a:t>
            </a:r>
          </a:p>
        </p:txBody>
      </p:sp>
      <p:sp>
        <p:nvSpPr>
          <p:cNvPr id="10" name="Chevron 9"/>
          <p:cNvSpPr/>
          <p:nvPr/>
        </p:nvSpPr>
        <p:spPr>
          <a:xfrm>
            <a:off x="5818000" y="4910000"/>
            <a:ext cx="2320000" cy="830000"/>
          </a:xfrm>
          <a:prstGeom prst="chevron">
            <a:avLst/>
          </a:prstGeom>
          <a:solidFill>
            <a:srgbClr val="0E749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800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CRAG &amp;
Rerank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Calibri"/>
              </a:rPr>
              <a:t>BGE Cross-Encoder</a:t>
            </a:r>
          </a:p>
        </p:txBody>
      </p:sp>
      <p:sp>
        <p:nvSpPr>
          <p:cNvPr id="11" name="Chevron 10"/>
          <p:cNvSpPr/>
          <p:nvPr/>
        </p:nvSpPr>
        <p:spPr>
          <a:xfrm>
            <a:off x="7674000" y="4910000"/>
            <a:ext cx="2320000" cy="830000"/>
          </a:xfrm>
          <a:prstGeom prst="chevron">
            <a:avLst/>
          </a:prstGeom>
          <a:solidFill>
            <a:srgbClr val="D9770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800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Verify &amp;
Self-Refine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Calibri"/>
              </a:rPr>
              <a:t>MiniCheck · OKF</a:t>
            </a:r>
          </a:p>
        </p:txBody>
      </p:sp>
      <p:sp>
        <p:nvSpPr>
          <p:cNvPr id="12" name="Chevron 11"/>
          <p:cNvSpPr/>
          <p:nvPr/>
        </p:nvSpPr>
        <p:spPr>
          <a:xfrm>
            <a:off x="9530000" y="4910000"/>
            <a:ext cx="2320000" cy="830000"/>
          </a:xfrm>
          <a:prstGeom prst="chevron">
            <a:avLst/>
          </a:prstGeom>
          <a:solidFill>
            <a:srgbClr val="10956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800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Verified
Response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Calibri"/>
              </a:rPr>
              <a:t>Citations · 0.98 Conf</a:t>
            </a:r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285750" indent="-285750">
              <a:lnSpc>
                <a:spcPct val="100000"/>
              </a:lnSpc>
              <a:spcAft>
                <a:spcPts val="500"/>
              </a:spcAft>
              <a:buFont typeface="Arial"/>
              <a:buChar char="•"/>
            </a:pPr>
            <a:r>
              <a:rPr lang="en-US" sz="1312" dirty="0">
                <a:solidFill>
                  <a:srgbClr val="374151"/>
                </a:solidFill>
                <a:latin typeface="+mn-lt"/>
              </a:rPr>
              <a:t>Layer 1 — OKF Canonical Engine (Deterministic Truth): auto-discovers Git-versioned Markdown+YAML ontologies; resolves concepts, traverses links, validates rules. Files: cataract_treatment.md, room_rent_capping.md, pre_existing_diseases.md.</a:t>
            </a:r>
          </a:p>
          <a:p>
            <a:pPr marL="285750" indent="-285750">
              <a:lnSpc>
                <a:spcPct val="100000"/>
              </a:lnSpc>
              <a:spcAft>
                <a:spcPts val="500"/>
              </a:spcAft>
              <a:buFont typeface="Arial"/>
              <a:buChar char="•"/>
            </a:pPr>
            <a:r>
              <a:rPr lang="en-US" sz="1312" dirty="0">
                <a:solidFill>
                  <a:srgbClr val="374151"/>
                </a:solidFill>
                <a:latin typeface="+mn-lt"/>
              </a:rPr>
              <a:t>Layer 2 — Contextual RAG (Evidentiary): HyDE / Adaptive-RAG query router → temporal SQL filter → HippoRAG associative traversal → CRAG corrective grading → BGE reranker.</a:t>
            </a:r>
          </a:p>
          <a:p>
            <a:pPr marL="285750" indent="-285750">
              <a:lnSpc>
                <a:spcPct val="100000"/>
              </a:lnSpc>
              <a:spcAft>
                <a:spcPts val="500"/>
              </a:spcAft>
              <a:buFont typeface="Arial"/>
              <a:buChar char="•"/>
            </a:pPr>
            <a:r>
              <a:rPr lang="en-US" sz="1312" dirty="0">
                <a:solidFill>
                  <a:srgbClr val="374151"/>
                </a:solidFill>
                <a:latin typeface="+mn-lt"/>
              </a:rPr>
              <a:t>Layer 3 — Grounded Synthesis + Dual Verification: LLM generator (evidence-constrained) → MiniCheck propositional NLI → OKF deterministic rule validator → Self-Refine correction loop → Structured verified response.</a:t>
            </a:r>
          </a:p>
          <a:p>
            <a:pPr marL="285750" indent="-285750">
              <a:lnSpc>
                <a:spcPct val="100000"/>
              </a:lnSpc>
              <a:spcAft>
                <a:spcPts val="500"/>
              </a:spcAft>
              <a:buFont typeface="Arial"/>
              <a:buChar char="•"/>
            </a:pPr>
            <a:r>
              <a:rPr lang="en-US" sz="1312" dirty="0">
                <a:solidFill>
                  <a:srgbClr val="374151"/>
                </a:solidFill>
                <a:latin typeface="+mn-lt"/>
              </a:rPr>
              <a:t>Key OKF Sample Rule (cataract_treatment.md): standard_waiting_period_months: 24 · default_sub_limit_inr: 40,000 · day_care_eligible: true · lens_type_covered: Monofocal.</a:t>
            </a:r>
          </a:p>
          <a:p>
            <a:pPr marL="285750" indent="-285750">
              <a:lnSpc>
                <a:spcPct val="100000"/>
              </a:lnSpc>
              <a:spcAft>
                <a:spcPts val="500"/>
              </a:spcAft>
              <a:buFont typeface="Arial"/>
              <a:buChar char="•"/>
            </a:pPr>
            <a:r>
              <a:rPr lang="en-US" sz="1312" dirty="0">
                <a:solidFill>
                  <a:srgbClr val="374151"/>
                </a:solidFill>
                <a:latin typeface="+mn-lt"/>
              </a:rPr>
              <a:t>Hybrid Advantage: OKF as the Rulebook (Brain) + RAG as Document Eyes — ensures zero hallucination on statutory rules + discovery of policy-specific nuances.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Approach: OKF + RAG Hybrid SOTA Architecture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PolicyGraph-RAG | LTIMindtree</a:t>
            </a:r>
          </a:p>
          <a:p>
            <a:pPr algn="r"/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280000" y="4860000"/>
            <a:ext cx="3500000" cy="700000"/>
          </a:xfrm>
          <a:prstGeom prst="roundRect">
            <a:avLst/>
          </a:prstGeom>
          <a:solidFill>
            <a:srgbClr val="1A365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LAYER 1: OKF CANONICAL ENGINE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Deterministic Statutory Truth
cataract · room_rent · PED · IRDAI 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80000" y="4860000"/>
            <a:ext cx="3500000" cy="700000"/>
          </a:xfrm>
          <a:prstGeom prst="roundRect">
            <a:avLst/>
          </a:prstGeom>
          <a:solidFill>
            <a:srgbClr val="0E749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LAYER 2: CONTEXTUAL RAG + HippoRAG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Evidentiary PDF Discovery
Temporal Filter → BM25/pgvector → PageRank → CRAG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80000" y="4860000"/>
            <a:ext cx="3500000" cy="700000"/>
          </a:xfrm>
          <a:prstGeom prst="roundRect">
            <a:avLst/>
          </a:prstGeom>
          <a:solidFill>
            <a:srgbClr val="10956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LAYER 3: SYNTHESIS + DUAL VERIFY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Grounded LLM → MiniCheck NLI → OKF Guardrail → Self-Refine</a:t>
            </a:r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00000"/>
            <a:ext cx="10624338" cy="1750000"/>
          </a:xfrm>
        </p:spPr>
        <p:txBody>
          <a:bodyPr/>
          <a:lstStyle/>
          <a:p>
            <a:pPr marL="285750" indent="-285750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lang="en-US" sz="1394" dirty="0">
                <a:solidFill>
                  <a:srgbClr val="374151"/>
                </a:solidFill>
                <a:latin typeface="+mn-lt"/>
              </a:rPr>
              <a:t>Demo 1 — Waiting Period Check: 18-month policy · cataract claim ₹50,000 → REJECTED (OKF: 24-month wait active; must wait 6 more months; cap ₹40,000/eye).</a:t>
            </a:r>
          </a:p>
          <a:p>
            <a:pPr marL="285750" indent="-285750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lang="en-US" sz="1394" dirty="0">
                <a:solidFill>
                  <a:srgbClr val="374151"/>
                </a:solidFill>
                <a:latin typeface="+mn-lt"/>
              </a:rPr>
              <a:t>Demo 2 — Room Rent Deduction: ₹15,000/day actual vs ₹5,000/day eligible (1% of ₹5L SI) → Payable Ratio = 33.33% → surgeon/OT fees slashed by 66.67%.</a:t>
            </a:r>
          </a:p>
          <a:p>
            <a:pPr marL="285750" indent="-285750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lang="en-US" sz="1394" dirty="0">
                <a:solidFill>
                  <a:srgbClr val="374151"/>
                </a:solidFill>
                <a:latin typeface="+mn-lt"/>
              </a:rPr>
              <a:t>Demo 3 — Cross-Version Diff (2022 v1 vs 2024 v2): NumPy N×M cosine matrix prunes 85% unchanged → ~15–20 LLM calls → new co-pay clause detected in 28 seconds.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Implementation &amp; Results: Live Demo Scenarios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PolicyGraph-RAG | LTIMindtree</a:t>
            </a:r>
          </a:p>
          <a:p>
            <a:pPr algn="r"/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50000" y="3050000"/>
          <a:ext cx="114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0000"/>
                <a:gridCol w="2500000"/>
                <a:gridCol w="2900000"/>
                <a:gridCol w="2700000"/>
              </a:tblGrid>
              <a:tr h="514285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 RAG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PolicyGraph-RAG v2.5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514285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Hallucination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✓ 100% Eliminated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285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Multi-Hop Retrieval Recall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48.2%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94.6%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↑ +96.2% Boost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14285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Policy Ingestion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64 sec (timeout)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120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⚡ 99.8% Faster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285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Cross-Version Comparison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45 minutes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28 seconds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⚡ 96× Speedup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14285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LLM Tokens per Comparison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~420,000 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~45,000 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↓ 89% Cost Cut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29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Evidence Citation Accuracy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N/A (hallucinated)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100% page-accurate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✓ Full Traceability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285750" indent="-285750">
              <a:lnSpc>
                <a:spcPct val="100000"/>
              </a:lnSpc>
              <a:spcAft>
                <a:spcPts val="420"/>
              </a:spcAft>
              <a:buFont typeface="Arial"/>
              <a:buChar char="•"/>
            </a:pPr>
            <a:r>
              <a:rPr lang="en-US" sz="1230" dirty="0">
                <a:solidFill>
                  <a:srgbClr val="374151"/>
                </a:solidFill>
                <a:latin typeface="+mn-lt"/>
              </a:rPr>
              <a:t>Challenge 1 — Clause Fragmentation → Section-aware chunker (regex header detection + 900/150 sliding window + breadcrumb injection) → 100% conditional clause preservation.</a:t>
            </a:r>
          </a:p>
          <a:p>
            <a:pPr marL="285750" indent="-285750">
              <a:lnSpc>
                <a:spcPct val="100000"/>
              </a:lnSpc>
              <a:spcAft>
                <a:spcPts val="420"/>
              </a:spcAft>
              <a:buFont typeface="Arial"/>
              <a:buChar char="•"/>
            </a:pPr>
            <a:r>
              <a:rPr lang="en-US" sz="1230" dirty="0">
                <a:solidFill>
                  <a:srgbClr val="374151"/>
                </a:solidFill>
                <a:latin typeface="+mn-lt"/>
              </a:rPr>
              <a:t>Challenge 2 — Search Missing Numbers vs Synonyms → Hybrid BM25 + pgvector via RRF (k=60) (rank-based, scale-invariant) → high-precision for both exact codes &amp; semantic questions.</a:t>
            </a:r>
          </a:p>
          <a:p>
            <a:pPr marL="285750" indent="-285750">
              <a:lnSpc>
                <a:spcPct val="100000"/>
              </a:lnSpc>
              <a:spcAft>
                <a:spcPts val="420"/>
              </a:spcAft>
              <a:buFont typeface="Arial"/>
              <a:buChar char="•"/>
            </a:pPr>
            <a:r>
              <a:rPr lang="en-US" sz="1230" dirty="0">
                <a:solidFill>
                  <a:srgbClr val="374151"/>
                </a:solidFill>
                <a:latin typeface="+mn-lt"/>
              </a:rPr>
              <a:t>Challenge 3 — Financial Hallucinations → Deterministic post-generation verifier: Unsupported = Numbers(Answer) \ Numbers(Evidence); if non-empty → flagged &amp; suppressed.</a:t>
            </a:r>
          </a:p>
          <a:p>
            <a:pPr marL="285750" indent="-285750">
              <a:lnSpc>
                <a:spcPct val="100000"/>
              </a:lnSpc>
              <a:spcAft>
                <a:spcPts val="420"/>
              </a:spcAft>
              <a:buFont typeface="Arial"/>
              <a:buChar char="•"/>
            </a:pPr>
            <a:r>
              <a:rPr lang="en-US" sz="1230" dirty="0">
                <a:solidFill>
                  <a:srgbClr val="374151"/>
                </a:solidFill>
                <a:latin typeface="+mn-lt"/>
              </a:rPr>
              <a:t>Challenge 4 — Temporal Contamination → SQL-first temporal scoping (effective_from ≤ date ≤ effective_until) executed BEFORE vector distance → complete cross-version isolation.</a:t>
            </a:r>
          </a:p>
          <a:p>
            <a:pPr marL="285750" indent="-285750">
              <a:lnSpc>
                <a:spcPct val="100000"/>
              </a:lnSpc>
              <a:spcAft>
                <a:spcPts val="420"/>
              </a:spcAft>
              <a:buFont typeface="Arial"/>
              <a:buChar char="•"/>
            </a:pPr>
            <a:r>
              <a:rPr lang="en-US" sz="1230" dirty="0">
                <a:solidFill>
                  <a:srgbClr val="374151"/>
                </a:solidFill>
                <a:latin typeface="+mn-lt"/>
              </a:rPr>
              <a:t>Challenge 5 — Contradiction Detection Cost → Two-tier: NumPy N×M cosine matrix prunes 85% → only ~15–20 changed clauses hit LLM → 45 min → 28 sec, 90%+ cost saved.</a:t>
            </a:r>
          </a:p>
          <a:p>
            <a:pPr marL="285750" indent="-285750">
              <a:lnSpc>
                <a:spcPct val="100000"/>
              </a:lnSpc>
              <a:spcAft>
                <a:spcPts val="420"/>
              </a:spcAft>
              <a:buFont typeface="Arial"/>
              <a:buChar char="•"/>
            </a:pPr>
            <a:r>
              <a:rPr lang="en-US" sz="1230" dirty="0">
                <a:solidFill>
                  <a:srgbClr val="374151"/>
                </a:solidFill>
                <a:latin typeface="+mn-lt"/>
              </a:rPr>
              <a:t>Challenge 6 — Ingestion Timeouts → FastAPI BackgroundTasks + singleton embedding model cache → upload response: 60+ sec → 120ms, 100% reliability.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Engineering Challenges &amp; Solutions (6 Deep-Dives)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PolicyGraph-RAG | LTIMindtree</a:t>
            </a:r>
          </a:p>
          <a:p>
            <a:pPr algn="r"/>
            <a:endParaRPr lang="en-US" dirty="0"/>
          </a:p>
        </p:txBody>
      </p:sp>
      <p:sp>
        <p:nvSpPr>
          <p:cNvPr id="7" name="Chevron 6"/>
          <p:cNvSpPr/>
          <p:nvPr/>
        </p:nvSpPr>
        <p:spPr>
          <a:xfrm>
            <a:off x="250000" y="4890000"/>
            <a:ext cx="2274509" cy="830000"/>
          </a:xfrm>
          <a:prstGeom prst="chevron">
            <a:avLst/>
          </a:prstGeom>
          <a:solidFill>
            <a:srgbClr val="1A365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8000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Chunking
Fixed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Regex+Breadcrumb
Chunker</a:t>
            </a:r>
          </a:p>
        </p:txBody>
      </p:sp>
      <p:sp>
        <p:nvSpPr>
          <p:cNvPr id="8" name="Chevron 7"/>
          <p:cNvSpPr/>
          <p:nvPr/>
        </p:nvSpPr>
        <p:spPr>
          <a:xfrm>
            <a:off x="2115097" y="4890000"/>
            <a:ext cx="2274509" cy="830000"/>
          </a:xfrm>
          <a:prstGeom prst="chevron">
            <a:avLst/>
          </a:prstGeom>
          <a:solidFill>
            <a:srgbClr val="0E749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8000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Search
Gaps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BM25+pgvector
RRF k=60</a:t>
            </a:r>
          </a:p>
        </p:txBody>
      </p:sp>
      <p:sp>
        <p:nvSpPr>
          <p:cNvPr id="9" name="Chevron 8"/>
          <p:cNvSpPr/>
          <p:nvPr/>
        </p:nvSpPr>
        <p:spPr>
          <a:xfrm>
            <a:off x="3980194" y="4890000"/>
            <a:ext cx="2274509" cy="830000"/>
          </a:xfrm>
          <a:prstGeom prst="chevron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8000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Hallucin-
ation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Set-Diff
Guard</a:t>
            </a:r>
          </a:p>
        </p:txBody>
      </p:sp>
      <p:sp>
        <p:nvSpPr>
          <p:cNvPr id="10" name="Chevron 9"/>
          <p:cNvSpPr/>
          <p:nvPr/>
        </p:nvSpPr>
        <p:spPr>
          <a:xfrm>
            <a:off x="5845291" y="4890000"/>
            <a:ext cx="2274509" cy="830000"/>
          </a:xfrm>
          <a:prstGeom prst="chevron">
            <a:avLst/>
          </a:prstGeom>
          <a:solidFill>
            <a:srgbClr val="1A365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8000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Temporal
Leak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SQL Temporal
Filter</a:t>
            </a:r>
          </a:p>
        </p:txBody>
      </p:sp>
      <p:sp>
        <p:nvSpPr>
          <p:cNvPr id="11" name="Chevron 10"/>
          <p:cNvSpPr/>
          <p:nvPr/>
        </p:nvSpPr>
        <p:spPr>
          <a:xfrm>
            <a:off x="7710388" y="4890000"/>
            <a:ext cx="2274509" cy="830000"/>
          </a:xfrm>
          <a:prstGeom prst="chevron">
            <a:avLst/>
          </a:prstGeom>
          <a:solidFill>
            <a:srgbClr val="0E749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8000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Contra-
diction Cost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NumPy Matrix
85% Pruning</a:t>
            </a:r>
          </a:p>
        </p:txBody>
      </p:sp>
      <p:sp>
        <p:nvSpPr>
          <p:cNvPr id="12" name="Chevron 11"/>
          <p:cNvSpPr/>
          <p:nvPr/>
        </p:nvSpPr>
        <p:spPr>
          <a:xfrm>
            <a:off x="9575485" y="4890000"/>
            <a:ext cx="2274509" cy="830000"/>
          </a:xfrm>
          <a:prstGeom prst="chevron">
            <a:avLst/>
          </a:prstGeom>
          <a:solidFill>
            <a:srgbClr val="10956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8000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Upload
Timeout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Async BG
Tasks 120ms</a:t>
            </a: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03C842-0779-BE44-EECA-2F2EE3FA7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285750" indent="-285750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lang="en-US" sz="1230" dirty="0">
                <a:solidFill>
                  <a:srgbClr val="374151"/>
                </a:solidFill>
                <a:latin typeface="+mn-lt"/>
              </a:rPr>
              <a:t>Demonstrated zero legal hallucination via deterministic OKF grounding + HippoRAG associative graph → 0.0% numerical hallucination rate.</a:t>
            </a:r>
          </a:p>
          <a:p>
            <a:pPr marL="285750" indent="-285750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lang="en-US" sz="1230" dirty="0">
                <a:solidFill>
                  <a:srgbClr val="374151"/>
                </a:solidFill>
                <a:latin typeface="+mn-lt"/>
              </a:rPr>
              <a:t>Validated hybrid RRF retrieval superiority: 94.6% multi-hop recall vs. 48.2% naive vector baseline — a 96.2% improvement.</a:t>
            </a:r>
          </a:p>
          <a:p>
            <a:pPr marL="285750" indent="-285750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lang="en-US" sz="1230" dirty="0">
                <a:solidFill>
                  <a:srgbClr val="374151"/>
                </a:solidFill>
                <a:latin typeface="+mn-lt"/>
              </a:rPr>
              <a:t>Proved algorithmic cost-efficiency: contradiction detection cut from 45 min to 28 sec (96× speedup) · ingestion from 64 sec to 120ms (99.8% faster).</a:t>
            </a:r>
          </a:p>
          <a:p>
            <a:pPr marL="285750" indent="-285750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lang="en-US" sz="1230" dirty="0">
                <a:solidFill>
                  <a:srgbClr val="374151"/>
                </a:solidFill>
                <a:latin typeface="+mn-lt"/>
              </a:rPr>
              <a:t>Delivered production-ready full-stack system tested on 29 real IRDAI-governed statutory PDFs from 10 top Indian insurers.</a:t>
            </a:r>
          </a:p>
          <a:p>
            <a:pPr marL="285750" indent="-285750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lang="en-US" sz="1230" dirty="0">
                <a:solidFill>
                  <a:srgbClr val="374151"/>
                </a:solidFill>
                <a:latin typeface="+mn-lt"/>
              </a:rPr>
              <a:t>Future Scope 1: Multi-modal Vision LLM — parse hospital discharge summaries, itemized bills &amp; scanned medical reports.</a:t>
            </a:r>
          </a:p>
          <a:p>
            <a:pPr marL="285750" indent="-285750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lang="en-US" sz="1230" dirty="0">
                <a:solidFill>
                  <a:srgbClr val="374151"/>
                </a:solidFill>
                <a:latin typeface="+mn-lt"/>
              </a:rPr>
              <a:t>Future Scope 2: DeBERTa-v3 NLI upgrade to replace heuristic verifier + Neo4j migration via graph_query.py adapter swap.</a:t>
            </a:r>
          </a:p>
          <a:p>
            <a:pPr marL="285750" indent="-285750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lang="en-US" sz="1230" dirty="0">
                <a:solidFill>
                  <a:srgbClr val="374151"/>
                </a:solidFill>
                <a:latin typeface="+mn-lt"/>
              </a:rPr>
              <a:t>Future Scope 3: Vernacular Indian language layer (Hindi/Telugu/Tamil) + NHCX/ABDM API integration for national health claim exchange.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Conclusion &amp; Future 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PolicyGraph-RAG | LTIMindtree</a:t>
            </a:r>
          </a:p>
          <a:p>
            <a:pPr algn="r"/>
            <a:endParaRPr lang="en-US" dirty="0"/>
          </a:p>
        </p:txBody>
      </p:sp>
      <p:sp>
        <p:nvSpPr>
          <p:cNvPr id="7" name="Chevron 6"/>
          <p:cNvSpPr/>
          <p:nvPr/>
        </p:nvSpPr>
        <p:spPr>
          <a:xfrm>
            <a:off x="250000" y="5200000"/>
            <a:ext cx="2761904" cy="700000"/>
          </a:xfrm>
          <a:prstGeom prst="chevron">
            <a:avLst/>
          </a:prstGeom>
          <a:solidFill>
            <a:srgbClr val="10956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80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Review III
v2.5 ✓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Calibri"/>
              </a:rPr>
              <a:t>Delivered
Oct 2026</a:t>
            </a:r>
          </a:p>
        </p:txBody>
      </p:sp>
      <p:sp>
        <p:nvSpPr>
          <p:cNvPr id="8" name="Chevron 7"/>
          <p:cNvSpPr/>
          <p:nvPr/>
        </p:nvSpPr>
        <p:spPr>
          <a:xfrm>
            <a:off x="2459523" y="5200000"/>
            <a:ext cx="2761904" cy="700000"/>
          </a:xfrm>
          <a:prstGeom prst="chevron">
            <a:avLst/>
          </a:prstGeom>
          <a:solidFill>
            <a:srgbClr val="1A365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80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Phase 4A
Q1 2027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Calibri"/>
              </a:rPr>
              <a:t>Multi-modal
Vision Parser</a:t>
            </a:r>
          </a:p>
        </p:txBody>
      </p:sp>
      <p:sp>
        <p:nvSpPr>
          <p:cNvPr id="9" name="Chevron 8"/>
          <p:cNvSpPr/>
          <p:nvPr/>
        </p:nvSpPr>
        <p:spPr>
          <a:xfrm>
            <a:off x="4669046" y="5200000"/>
            <a:ext cx="2761904" cy="700000"/>
          </a:xfrm>
          <a:prstGeom prst="chevron">
            <a:avLst/>
          </a:prstGeom>
          <a:solidFill>
            <a:srgbClr val="0E749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80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Phase 4B
Q2 2027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Calibri"/>
              </a:rPr>
              <a:t>NHCX/ABDM
API Connect</a:t>
            </a:r>
          </a:p>
        </p:txBody>
      </p:sp>
      <p:sp>
        <p:nvSpPr>
          <p:cNvPr id="10" name="Chevron 9"/>
          <p:cNvSpPr/>
          <p:nvPr/>
        </p:nvSpPr>
        <p:spPr>
          <a:xfrm>
            <a:off x="6878569" y="5200000"/>
            <a:ext cx="2761904" cy="700000"/>
          </a:xfrm>
          <a:prstGeom prst="chevron">
            <a:avLst/>
          </a:prstGeom>
          <a:solidFill>
            <a:srgbClr val="D9770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80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Phase 4C
Q3 2027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Calibri"/>
              </a:rPr>
              <a:t>DeBERTa NLI
+ Neo4j</a:t>
            </a:r>
          </a:p>
        </p:txBody>
      </p:sp>
      <p:sp>
        <p:nvSpPr>
          <p:cNvPr id="11" name="Chevron 10"/>
          <p:cNvSpPr/>
          <p:nvPr/>
        </p:nvSpPr>
        <p:spPr>
          <a:xfrm>
            <a:off x="9088092" y="5200000"/>
            <a:ext cx="2761904" cy="700000"/>
          </a:xfrm>
          <a:prstGeom prst="chevron">
            <a:avLst/>
          </a:prstGeom>
          <a:solidFill>
            <a:srgbClr val="1A365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80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Phase 4D
Q4 2027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Calibri"/>
              </a:rPr>
              <a:t>Vernacular
Hindi/Telugu</a:t>
            </a:r>
          </a:p>
        </p:txBody>
      </p:sp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285750" indent="-285750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lang="en-US" sz="1476" dirty="0">
                <a:solidFill>
                  <a:srgbClr val="374151"/>
                </a:solidFill>
                <a:latin typeface="+mn-lt"/>
              </a:rPr>
              <a:t>Sincere gratitude to our Academic Project Guide and University Faculty for continuous technical mentorship, timely reviews, and academic guidance throughout the M.Tech Capstone lifecycle.</a:t>
            </a:r>
          </a:p>
          <a:p>
            <a:pPr marL="285750" indent="-285750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lang="en-US" sz="1476" dirty="0">
                <a:solidFill>
                  <a:srgbClr val="374151"/>
                </a:solidFill>
                <a:latin typeface="+mn-lt"/>
              </a:rPr>
              <a:t>Heartfelt appreciation to our Industry Mentors at LTIMindtree for sharing enterprise architectural best practices, InsurTech domain expertise, and production engineering standards.</a:t>
            </a:r>
          </a:p>
          <a:p>
            <a:pPr marL="285750" indent="-285750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lang="en-US" sz="1476" dirty="0">
                <a:solidFill>
                  <a:srgbClr val="374151"/>
                </a:solidFill>
                <a:latin typeface="+mn-lt"/>
              </a:rPr>
              <a:t>Grateful to the Department and University for laboratory computing facilities, PostgreSQL/GPU inference access, and a conducive research environment.</a:t>
            </a:r>
          </a:p>
          <a:p>
            <a:pPr marL="285750" indent="-285750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lang="en-US" sz="1476" dirty="0">
                <a:solidFill>
                  <a:srgbClr val="374151"/>
                </a:solidFill>
                <a:latin typeface="+mn-lt"/>
              </a:rPr>
              <a:t>Special thanks to LTIMindtree's Advanced Industry Integrated Program for bridging academic research and real-world production engineering.</a:t>
            </a:r>
          </a:p>
          <a:p>
            <a:pPr marL="285750" indent="-285750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lang="en-US" sz="1476" dirty="0">
                <a:solidFill>
                  <a:srgbClr val="374151"/>
                </a:solidFill>
                <a:latin typeface="+mn-lt"/>
              </a:rPr>
              <a:t>Sincere thanks to family, peers, and colleagues for their patience, encouragement, and constructive feedback across all three review phases.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Acknowledgement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PolicyGraph-RAG | LTIMindtree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285750" indent="-285750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lang="en-US" sz="1312" dirty="0">
                <a:solidFill>
                  <a:srgbClr val="374151"/>
                </a:solidFill>
                <a:latin typeface="+mn-lt"/>
              </a:rPr>
              <a:t>[1] P. Lewis et al., 'Retrieval-Augmented Generation for Knowledge-Intensive NLP Tasks,' NeurIPS, vol. 33, pp. 9459–9474, 2020.</a:t>
            </a:r>
          </a:p>
          <a:p>
            <a:pPr marL="285750" indent="-285750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lang="en-US" sz="1312" dirty="0">
                <a:solidFill>
                  <a:srgbClr val="374151"/>
                </a:solidFill>
                <a:latin typeface="+mn-lt"/>
              </a:rPr>
              <a:t>[2] S. Yan et al., 'Corrective Retrieval Augmented Generation (CRAG),' arXiv:2401.15884, 2024.</a:t>
            </a:r>
          </a:p>
          <a:p>
            <a:pPr marL="285750" indent="-285750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lang="en-US" sz="1312" dirty="0">
                <a:solidFill>
                  <a:srgbClr val="374151"/>
                </a:solidFill>
                <a:latin typeface="+mn-lt"/>
              </a:rPr>
              <a:t>[3] B. Jimenez Gutierrez et al., 'HippoRAG: Neurobiologically Inspired Long-Term Memory for LLMs,' NeurIPS, 2024.</a:t>
            </a:r>
          </a:p>
          <a:p>
            <a:pPr marL="285750" indent="-285750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lang="en-US" sz="1312" dirty="0">
                <a:solidFill>
                  <a:srgbClr val="374151"/>
                </a:solidFill>
                <a:latin typeface="+mn-lt"/>
              </a:rPr>
              <a:t>[4] L. Qiu et al., 'MiniCheck: Efficient Fact-Checking of LLMs on Grounding Documents,' EMNLP, 2024.</a:t>
            </a:r>
          </a:p>
          <a:p>
            <a:pPr marL="285750" indent="-285750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lang="en-US" sz="1312" dirty="0">
                <a:solidFill>
                  <a:srgbClr val="374151"/>
                </a:solidFill>
                <a:latin typeface="+mn-lt"/>
              </a:rPr>
              <a:t>[5] G. V. Cormack et al., 'Reciprocal Rank Fusion Outperforms Condorcet and Individual Rank Learning Methods,' SIGIR, pp. 758–759, 2009.</a:t>
            </a:r>
          </a:p>
          <a:p>
            <a:pPr marL="285750" indent="-285750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lang="en-US" sz="1312" dirty="0">
                <a:solidFill>
                  <a:srgbClr val="374151"/>
                </a:solidFill>
                <a:latin typeface="+mn-lt"/>
              </a:rPr>
              <a:t>[6] A. Asai et al., 'Self-RAG: Learning to Retrieve, Generate, and Critique through Self-Reflection,' ICLR, 2024.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References (IEEE Format)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PolicyGraph-RAG | LTIMindtree</a:t>
            </a:r>
          </a:p>
          <a:p>
            <a:pPr algn="r"/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285750" indent="-285750">
              <a:lnSpc>
                <a:spcPct val="100000"/>
              </a:lnSpc>
              <a:spcAft>
                <a:spcPts val="450"/>
              </a:spcAft>
              <a:buFont typeface="Arial"/>
              <a:buChar char="•"/>
            </a:pPr>
            <a:r>
              <a:rPr lang="en-US" sz="1271" dirty="0">
                <a:solidFill>
                  <a:srgbClr val="374151"/>
                </a:solidFill>
                <a:latin typeface="+mn-lt"/>
              </a:rPr>
              <a:t>6-table relational schema: policies → policy_versions (temporal anchor) → chunks (384-dim VECTOR embedding) → contradictions · query_logs · evidence.</a:t>
            </a:r>
          </a:p>
          <a:p>
            <a:pPr marL="285750" indent="-285750">
              <a:lnSpc>
                <a:spcPct val="100000"/>
              </a:lnSpc>
              <a:spcAft>
                <a:spcPts val="450"/>
              </a:spcAft>
              <a:buFont typeface="Arial"/>
              <a:buChar char="•"/>
            </a:pPr>
            <a:r>
              <a:rPr lang="en-US" sz="1271" dirty="0">
                <a:solidFill>
                  <a:srgbClr val="374151"/>
                </a:solidFill>
                <a:latin typeface="+mn-lt"/>
              </a:rPr>
              <a:t>Temporal Anchor: effective_from DATE + effective_until DATE on policy_versions; composite index idx_versions_temporal enables O(log n) date scoping.</a:t>
            </a:r>
          </a:p>
          <a:p>
            <a:pPr marL="285750" indent="-285750">
              <a:lnSpc>
                <a:spcPct val="100000"/>
              </a:lnSpc>
              <a:spcAft>
                <a:spcPts val="450"/>
              </a:spcAft>
              <a:buFont typeface="Arial"/>
              <a:buChar char="•"/>
            </a:pPr>
            <a:r>
              <a:rPr lang="en-US" sz="1271" dirty="0">
                <a:solidFill>
                  <a:srgbClr val="374151"/>
                </a:solidFill>
                <a:latin typeface="+mn-lt"/>
              </a:rPr>
              <a:t>Vector Store: chunks.embedding VECTOR(384) with HNSW index (m=16, ef_construction=64, vector_cosine_ops) → sub-millisecond ANN search at 25,000+ chunks.</a:t>
            </a:r>
          </a:p>
          <a:p>
            <a:pPr marL="285750" indent="-285750">
              <a:lnSpc>
                <a:spcPct val="100000"/>
              </a:lnSpc>
              <a:spcAft>
                <a:spcPts val="450"/>
              </a:spcAft>
              <a:buFont typeface="Arial"/>
              <a:buChar char="•"/>
            </a:pPr>
            <a:r>
              <a:rPr lang="en-US" sz="1271" dirty="0">
                <a:solidFill>
                  <a:srgbClr val="374151"/>
                </a:solidFill>
                <a:latin typeface="+mn-lt"/>
              </a:rPr>
              <a:t>HNSW vs IVFFlat: HNSW chosen for &gt;98% recall, real-time incremental inserts (no re-training), and sub-millisecond latency; IVFFlat requires full re-index on new chunks.</a:t>
            </a:r>
          </a:p>
          <a:p>
            <a:pPr marL="285750" indent="-285750">
              <a:lnSpc>
                <a:spcPct val="100000"/>
              </a:lnSpc>
              <a:spcAft>
                <a:spcPts val="450"/>
              </a:spcAft>
              <a:buFont typeface="Arial"/>
              <a:buChar char="•"/>
            </a:pPr>
            <a:r>
              <a:rPr lang="en-US" sz="1271" dirty="0">
                <a:solidFill>
                  <a:srgbClr val="374151"/>
                </a:solidFill>
                <a:latin typeface="+mn-lt"/>
              </a:rPr>
              <a:t>Cascade Integrity: ON DELETE CASCADE from policies → versions → chunks; ACID transactions prevent dual-write inconsistency vs standalone vector DBs.</a:t>
            </a:r>
          </a:p>
          <a:p>
            <a:pPr marL="285750" indent="-285750">
              <a:lnSpc>
                <a:spcPct val="100000"/>
              </a:lnSpc>
              <a:spcAft>
                <a:spcPts val="450"/>
              </a:spcAft>
              <a:buFont typeface="Arial"/>
              <a:buChar char="•"/>
            </a:pPr>
            <a:r>
              <a:rPr lang="en-US" sz="1271" dirty="0">
                <a:solidFill>
                  <a:srgbClr val="374151"/>
                </a:solidFill>
                <a:latin typeface="+mn-lt"/>
              </a:rPr>
              <a:t>Scale Plan: table partitioning by policy_version_id + Redis BM25 cache + PostgreSQL read replicas for 100,000+ document scale.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 Design: PostgreSQL 15 + pgvector Schema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PolicyGraph-RAG | LTIMindtree</a:t>
            </a:r>
          </a:p>
          <a:p>
            <a:pPr algn="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250000" y="4890000"/>
            <a:ext cx="1800000" cy="680000"/>
          </a:xfrm>
          <a:prstGeom prst="roundRect">
            <a:avLst/>
          </a:prstGeom>
          <a:solidFill>
            <a:srgbClr val="1A365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policies
(id · name · insurer)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4890000"/>
            <a:ext cx="1800000" cy="680000"/>
          </a:xfrm>
          <a:prstGeom prst="roundRect">
            <a:avLst/>
          </a:prstGeom>
          <a:solidFill>
            <a:srgbClr val="0E749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policy_versions
(temporal anchor
effective_from/until)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10000" y="4890000"/>
            <a:ext cx="1800000" cy="680000"/>
          </a:xfrm>
          <a:prstGeom prst="roundRect">
            <a:avLst/>
          </a:prstGeom>
          <a:solidFill>
            <a:srgbClr val="1A365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chunks
(content · page
embedding VECTOR(384))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40000" y="4890000"/>
            <a:ext cx="1800000" cy="680000"/>
          </a:xfrm>
          <a:prstGeom prst="roundRect">
            <a:avLst/>
          </a:prstGeom>
          <a:solidFill>
            <a:srgbClr val="0E749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HNSW Index
(m=16 · ef=64
vector_cosine_ops)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60000" y="4890000"/>
            <a:ext cx="1800000" cy="680000"/>
          </a:xfrm>
          <a:prstGeom prst="roundRect">
            <a:avLst/>
          </a:prstGeom>
          <a:solidFill>
            <a:srgbClr val="10956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contradictions
query_logs · evidence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285750" indent="-285750">
              <a:lnSpc>
                <a:spcPct val="100000"/>
              </a:lnSpc>
              <a:spcAft>
                <a:spcPts val="450"/>
              </a:spcAft>
              <a:buFont typeface="Arial"/>
              <a:buChar char="•"/>
            </a:pPr>
            <a:r>
              <a:rPr lang="en-US" sz="1271" dirty="0">
                <a:solidFill>
                  <a:srgbClr val="374151"/>
                </a:solidFill>
                <a:latin typeface="+mn-lt"/>
              </a:rPr>
              <a:t>POST /api/policies/upload → MIME validate (PDF ≤25MB) → UUID filename → DB record (status=pending) → BackgroundTask ingest → instant 200 OK in ~120ms.</a:t>
            </a:r>
          </a:p>
          <a:p>
            <a:pPr marL="285750" indent="-285750">
              <a:lnSpc>
                <a:spcPct val="100000"/>
              </a:lnSpc>
              <a:spcAft>
                <a:spcPts val="450"/>
              </a:spcAft>
              <a:buFont typeface="Arial"/>
              <a:buChar char="•"/>
            </a:pPr>
            <a:r>
              <a:rPr lang="en-US" sz="1271" dirty="0">
                <a:solidFill>
                  <a:srgbClr val="374151"/>
                </a:solidFill>
                <a:latin typeface="+mn-lt"/>
              </a:rPr>
              <a:t>POST /api/chat/query → payload: {question, policy_id, as_of_date, top_k=8} → full OKF + RAG + MiniCheck pipeline → response: answer, evidence[], confidence, crag_regime, okf_rules_applied, reasoning_paths.</a:t>
            </a:r>
          </a:p>
          <a:p>
            <a:pPr marL="285750" indent="-285750">
              <a:lnSpc>
                <a:spcPct val="100000"/>
              </a:lnSpc>
              <a:spcAft>
                <a:spcPts val="450"/>
              </a:spcAft>
              <a:buFont typeface="Arial"/>
              <a:buChar char="•"/>
            </a:pPr>
            <a:r>
              <a:rPr lang="en-US" sz="1271" dirty="0">
                <a:solidFill>
                  <a:srgbClr val="374151"/>
                </a:solidFill>
                <a:latin typeface="+mn-lt"/>
              </a:rPr>
              <a:t>POST /api/policies/compare → Two-tier contradiction engine: NumPy cosine matrix → LLM classify CONTRADICTORY|UPDATED|ADDED|REMOVED → response with diff table.</a:t>
            </a:r>
          </a:p>
          <a:p>
            <a:pPr marL="285750" indent="-285750">
              <a:lnSpc>
                <a:spcPct val="100000"/>
              </a:lnSpc>
              <a:spcAft>
                <a:spcPts val="450"/>
              </a:spcAft>
              <a:buFont typeface="Arial"/>
              <a:buChar char="•"/>
            </a:pPr>
            <a:r>
              <a:rPr lang="en-US" sz="1271" dirty="0">
                <a:solidFill>
                  <a:srgbClr val="374151"/>
                </a:solidFill>
                <a:latin typeface="+mn-lt"/>
              </a:rPr>
              <a:t>GET /api/graph/{id} → NetworkX multi-digraph: 7 relation types (HAS_VERSION, CONTAINS, COVERS, EXCLUDES, HAS_WAITING_PERIOD, SUPERSEDES, CONTRADICTS) → D3.js frontend.</a:t>
            </a:r>
          </a:p>
          <a:p>
            <a:pPr marL="285750" indent="-285750">
              <a:lnSpc>
                <a:spcPct val="100000"/>
              </a:lnSpc>
              <a:spcAft>
                <a:spcPts val="450"/>
              </a:spcAft>
              <a:buFont typeface="Arial"/>
              <a:buChar char="•"/>
            </a:pPr>
            <a:r>
              <a:rPr lang="en-US" sz="1271" dirty="0">
                <a:solidFill>
                  <a:srgbClr val="374151"/>
                </a:solidFill>
                <a:latin typeface="+mn-lt"/>
              </a:rPr>
              <a:t>GET /api/okf/concepts + /api/okf/graph → OKF ontology browser with concept files, rules YAML, and inter-concept link graph.</a:t>
            </a:r>
          </a:p>
          <a:p>
            <a:pPr marL="285750" indent="-285750">
              <a:lnSpc>
                <a:spcPct val="100000"/>
              </a:lnSpc>
              <a:spcAft>
                <a:spcPts val="450"/>
              </a:spcAft>
              <a:buFont typeface="Arial"/>
              <a:buChar char="•"/>
            </a:pPr>
            <a:r>
              <a:rPr lang="en-US" sz="1271" dirty="0">
                <a:solidFill>
                  <a:srgbClr val="374151"/>
                </a:solidFill>
                <a:latin typeface="+mn-lt"/>
              </a:rPr>
              <a:t>Security: CORS locked to localhost:3000 · JWT auth on admin routes · PII anonymizer scrubs Aadhaar/phone before LLM calls · global exception middleware sanitizes error responses.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REST API Specification &amp; System Integration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PolicyGraph-RAG | LTIMindtree</a:t>
            </a:r>
          </a:p>
          <a:p>
            <a:pPr algn="r"/>
            <a:endParaRPr lang="en-US" dirty="0"/>
          </a:p>
        </p:txBody>
      </p:sp>
      <p:sp>
        <p:nvSpPr>
          <p:cNvPr id="6" name="Chevron 5"/>
          <p:cNvSpPr/>
          <p:nvPr/>
        </p:nvSpPr>
        <p:spPr>
          <a:xfrm>
            <a:off x="250000" y="4890000"/>
            <a:ext cx="2274509" cy="830000"/>
          </a:xfrm>
          <a:prstGeom prst="chevron">
            <a:avLst/>
          </a:prstGeom>
          <a:solidFill>
            <a:srgbClr val="1A365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800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Upload
/api/policies
/upload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120ms · BG Task</a:t>
            </a:r>
          </a:p>
        </p:txBody>
      </p:sp>
      <p:sp>
        <p:nvSpPr>
          <p:cNvPr id="7" name="Chevron 6"/>
          <p:cNvSpPr/>
          <p:nvPr/>
        </p:nvSpPr>
        <p:spPr>
          <a:xfrm>
            <a:off x="2115097" y="4890000"/>
            <a:ext cx="2274509" cy="830000"/>
          </a:xfrm>
          <a:prstGeom prst="chevron">
            <a:avLst/>
          </a:prstGeom>
          <a:solidFill>
            <a:srgbClr val="0E749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800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Query
/api/chat
/query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OKF+RAG+
MiniCheck</a:t>
            </a:r>
          </a:p>
        </p:txBody>
      </p:sp>
      <p:sp>
        <p:nvSpPr>
          <p:cNvPr id="8" name="Chevron 7"/>
          <p:cNvSpPr/>
          <p:nvPr/>
        </p:nvSpPr>
        <p:spPr>
          <a:xfrm>
            <a:off x="3980194" y="4890000"/>
            <a:ext cx="2274509" cy="830000"/>
          </a:xfrm>
          <a:prstGeom prst="chevron">
            <a:avLst/>
          </a:prstGeom>
          <a:solidFill>
            <a:srgbClr val="1A365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800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Compare
/api/policies
/compare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Matrix Diff
28 sec</a:t>
            </a:r>
          </a:p>
        </p:txBody>
      </p:sp>
      <p:sp>
        <p:nvSpPr>
          <p:cNvPr id="9" name="Chevron 8"/>
          <p:cNvSpPr/>
          <p:nvPr/>
        </p:nvSpPr>
        <p:spPr>
          <a:xfrm>
            <a:off x="5845291" y="4890000"/>
            <a:ext cx="2274509" cy="830000"/>
          </a:xfrm>
          <a:prstGeom prst="chevron">
            <a:avLst/>
          </a:prstGeom>
          <a:solidFill>
            <a:srgbClr val="0E749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800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Graph
/api/graph
/{id}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NetworkX
D3.js</a:t>
            </a:r>
          </a:p>
        </p:txBody>
      </p:sp>
      <p:sp>
        <p:nvSpPr>
          <p:cNvPr id="10" name="Chevron 9"/>
          <p:cNvSpPr/>
          <p:nvPr/>
        </p:nvSpPr>
        <p:spPr>
          <a:xfrm>
            <a:off x="7710388" y="4890000"/>
            <a:ext cx="2274509" cy="830000"/>
          </a:xfrm>
          <a:prstGeom prst="chevron">
            <a:avLst/>
          </a:prstGeom>
          <a:solidFill>
            <a:srgbClr val="D9770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800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OKF API
/api/okf
/concepts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Ontology
Browser</a:t>
            </a:r>
          </a:p>
        </p:txBody>
      </p:sp>
      <p:sp>
        <p:nvSpPr>
          <p:cNvPr id="11" name="Chevron 10"/>
          <p:cNvSpPr/>
          <p:nvPr/>
        </p:nvSpPr>
        <p:spPr>
          <a:xfrm>
            <a:off x="9575485" y="4890000"/>
            <a:ext cx="2274509" cy="830000"/>
          </a:xfrm>
          <a:prstGeom prst="chevron">
            <a:avLst/>
          </a:prstGeom>
          <a:solidFill>
            <a:srgbClr val="10956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800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Security
JWT · CORS
PII Scrub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Prod-Ready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285750" indent="-285750">
              <a:lnSpc>
                <a:spcPct val="100000"/>
              </a:lnSpc>
              <a:spcAft>
                <a:spcPts val="450"/>
              </a:spcAft>
              <a:buFont typeface="Arial"/>
              <a:buChar char="•"/>
            </a:pPr>
            <a:r>
              <a:rPr lang="en-US" sz="1271" dirty="0">
                <a:solidFill>
                  <a:srgbClr val="374151"/>
                </a:solidFill>
                <a:latin typeface="+mn-lt"/>
              </a:rPr>
              <a:t>7-Relationship Multi-DiGraph (NetworkX → Neo4j ready): HAS_VERSION · CONTAINS · COVERS · EXCLUDES · HAS_WAITING_PERIOD · SUPERSEDES · CONTRADICTS.</a:t>
            </a:r>
          </a:p>
          <a:p>
            <a:pPr marL="285750" indent="-285750">
              <a:lnSpc>
                <a:spcPct val="100000"/>
              </a:lnSpc>
              <a:spcAft>
                <a:spcPts val="450"/>
              </a:spcAft>
              <a:buFont typeface="Arial"/>
              <a:buChar char="•"/>
            </a:pPr>
            <a:r>
              <a:rPr lang="en-US" sz="1271" dirty="0">
                <a:solidFill>
                  <a:srgbClr val="374151"/>
                </a:solidFill>
                <a:latin typeface="+mn-lt"/>
              </a:rPr>
              <a:t>HippoRAG Associative PageRank: entities extracted from chunks → personalized PageRank walks multi-hop paths → links Cataract → 24m Wait → ₹40k Sub-limit → PED Exclusion.</a:t>
            </a:r>
          </a:p>
          <a:p>
            <a:pPr marL="285750" indent="-285750">
              <a:lnSpc>
                <a:spcPct val="100000"/>
              </a:lnSpc>
              <a:spcAft>
                <a:spcPts val="450"/>
              </a:spcAft>
              <a:buFont typeface="Arial"/>
              <a:buChar char="•"/>
            </a:pPr>
            <a:r>
              <a:rPr lang="en-US" sz="1271" dirty="0">
                <a:solidFill>
                  <a:srgbClr val="374151"/>
                </a:solidFill>
                <a:latin typeface="+mn-lt"/>
              </a:rPr>
              <a:t>OKF Canonical Ontology (knowledge_base/okf/): 5 concept files — cataract_treatment.md · room_rent_capping.md · pre_existing_diseases.md · maternity_coverage.md · statutory_irdai_guidelines.md.</a:t>
            </a:r>
          </a:p>
          <a:p>
            <a:pPr marL="285750" indent="-285750">
              <a:lnSpc>
                <a:spcPct val="100000"/>
              </a:lnSpc>
              <a:spcAft>
                <a:spcPts val="450"/>
              </a:spcAft>
              <a:buFont typeface="Arial"/>
              <a:buChar char="•"/>
            </a:pPr>
            <a:r>
              <a:rPr lang="en-US" sz="1271" dirty="0">
                <a:solidFill>
                  <a:srgbClr val="374151"/>
                </a:solidFill>
                <a:latin typeface="+mn-lt"/>
              </a:rPr>
              <a:t>OKF Engine (okf_engine.py): auto-discovers YAML frontmatter → resolves concepts by tag/synonym → traverses prerequisite_clauses / governed_by / mandated_by links → validate_answer_against_rules().</a:t>
            </a:r>
          </a:p>
          <a:p>
            <a:pPr marL="285750" indent="-285750">
              <a:lnSpc>
                <a:spcPct val="100000"/>
              </a:lnSpc>
              <a:spcAft>
                <a:spcPts val="450"/>
              </a:spcAft>
              <a:buFont typeface="Arial"/>
              <a:buChar char="•"/>
            </a:pPr>
            <a:r>
              <a:rPr lang="en-US" sz="1271" dirty="0">
                <a:solidFill>
                  <a:srgbClr val="374151"/>
                </a:solidFill>
                <a:latin typeface="+mn-lt"/>
              </a:rPr>
              <a:t>Neo4j Migration Path: graph_query.py is the single adapter file; replacing its contents with Cypher queries upgrades to enterprise graph DB with zero backend refactoring.</a:t>
            </a:r>
          </a:p>
          <a:p>
            <a:pPr marL="285750" indent="-285750">
              <a:lnSpc>
                <a:spcPct val="100000"/>
              </a:lnSpc>
              <a:spcAft>
                <a:spcPts val="450"/>
              </a:spcAft>
              <a:buFont typeface="Arial"/>
              <a:buChar char="•"/>
            </a:pPr>
            <a:r>
              <a:rPr lang="en-US" sz="1271" dirty="0">
                <a:solidFill>
                  <a:srgbClr val="374151"/>
                </a:solidFill>
                <a:latin typeface="+mn-lt"/>
              </a:rPr>
              <a:t>Frontend: React Force Graph / D3.js force-directed visualization — node inspection, OKF concept clusters, HippoRAG entity clusters, CONTRADICTS edge highlighting in red.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Knowledge Graph: HippoRAG + OKF Ontology Architecture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PolicyGraph-RAG | LTIMindtree</a:t>
            </a:r>
          </a:p>
          <a:p>
            <a:pPr algn="r"/>
            <a:endParaRPr lang="en-US" dirty="0"/>
          </a:p>
        </p:txBody>
      </p:sp>
      <p:sp>
        <p:nvSpPr>
          <p:cNvPr id="6" name="Chevron 5"/>
          <p:cNvSpPr/>
          <p:nvPr/>
        </p:nvSpPr>
        <p:spPr>
          <a:xfrm>
            <a:off x="250000" y="4880000"/>
            <a:ext cx="2320000" cy="850000"/>
          </a:xfrm>
          <a:prstGeom prst="chevron">
            <a:avLst/>
          </a:prstGeom>
          <a:solidFill>
            <a:srgbClr val="1A365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800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POLICY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Calibri"/>
              </a:rPr>
              <a:t>insurer · name · id</a:t>
            </a:r>
          </a:p>
        </p:txBody>
      </p:sp>
      <p:sp>
        <p:nvSpPr>
          <p:cNvPr id="7" name="Chevron 6"/>
          <p:cNvSpPr/>
          <p:nvPr/>
        </p:nvSpPr>
        <p:spPr>
          <a:xfrm>
            <a:off x="2106000" y="4880000"/>
            <a:ext cx="2320000" cy="850000"/>
          </a:xfrm>
          <a:prstGeom prst="chevron">
            <a:avLst/>
          </a:prstGeom>
          <a:solidFill>
            <a:srgbClr val="0E749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800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VERSION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Calibri"/>
              </a:rPr>
              <a:t>effective_from
effective_until</a:t>
            </a:r>
          </a:p>
        </p:txBody>
      </p:sp>
      <p:sp>
        <p:nvSpPr>
          <p:cNvPr id="8" name="Chevron 7"/>
          <p:cNvSpPr/>
          <p:nvPr/>
        </p:nvSpPr>
        <p:spPr>
          <a:xfrm>
            <a:off x="3962000" y="4880000"/>
            <a:ext cx="2320000" cy="850000"/>
          </a:xfrm>
          <a:prstGeom prst="chevron">
            <a:avLst/>
          </a:prstGeom>
          <a:solidFill>
            <a:srgbClr val="1A365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800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CLAUSE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Calibri"/>
              </a:rPr>
              <a:t>content · page
section</a:t>
            </a:r>
          </a:p>
        </p:txBody>
      </p:sp>
      <p:sp>
        <p:nvSpPr>
          <p:cNvPr id="9" name="Chevron 8"/>
          <p:cNvSpPr/>
          <p:nvPr/>
        </p:nvSpPr>
        <p:spPr>
          <a:xfrm>
            <a:off x="5818000" y="4880000"/>
            <a:ext cx="2320000" cy="850000"/>
          </a:xfrm>
          <a:prstGeom prst="chevron">
            <a:avLst/>
          </a:prstGeom>
          <a:solidFill>
            <a:srgbClr val="0E749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800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BENEFIT
EXCLUSION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Calibri"/>
              </a:rPr>
              <a:t>COVERS
EXCLUDES</a:t>
            </a:r>
          </a:p>
        </p:txBody>
      </p:sp>
      <p:sp>
        <p:nvSpPr>
          <p:cNvPr id="10" name="Chevron 9"/>
          <p:cNvSpPr/>
          <p:nvPr/>
        </p:nvSpPr>
        <p:spPr>
          <a:xfrm>
            <a:off x="7674000" y="4880000"/>
            <a:ext cx="2320000" cy="850000"/>
          </a:xfrm>
          <a:prstGeom prst="chevron">
            <a:avLst/>
          </a:prstGeom>
          <a:solidFill>
            <a:srgbClr val="D9770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800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WAITING
PERIOD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Calibri"/>
              </a:rPr>
              <a:t>HAS_WAIT
SUPERSEDES</a:t>
            </a:r>
          </a:p>
        </p:txBody>
      </p:sp>
      <p:sp>
        <p:nvSpPr>
          <p:cNvPr id="11" name="Chevron 10"/>
          <p:cNvSpPr/>
          <p:nvPr/>
        </p:nvSpPr>
        <p:spPr>
          <a:xfrm>
            <a:off x="9530000" y="4880000"/>
            <a:ext cx="2320000" cy="850000"/>
          </a:xfrm>
          <a:prstGeom prst="chevron">
            <a:avLst/>
          </a:prstGeom>
          <a:solidFill>
            <a:srgbClr val="10956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800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CONTRADICTS
OKF RULE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Calibri"/>
              </a:rPr>
              <a:t>Cross-version
Violations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285750" indent="-285750">
              <a:lnSpc>
                <a:spcPct val="100000"/>
              </a:lnSpc>
              <a:spcAft>
                <a:spcPts val="450"/>
              </a:spcAft>
              <a:buFont typeface="Arial"/>
              <a:buChar char="•"/>
            </a:pPr>
            <a:r>
              <a:rPr lang="en-US" sz="1271" dirty="0">
                <a:solidFill>
                  <a:srgbClr val="374151"/>
                </a:solidFill>
                <a:latin typeface="+mn-lt"/>
              </a:rPr>
              <a:t>Multi-Tier Upload Defense: MIME validation (application/pdf) → file size cap (≤25MB, partial purge) → filename sanitize (UUID prefix + regex strip) → PyMuPDF sandboxed parse.</a:t>
            </a:r>
          </a:p>
          <a:p>
            <a:pPr marL="285750" indent="-285750">
              <a:lnSpc>
                <a:spcPct val="100000"/>
              </a:lnSpc>
              <a:spcAft>
                <a:spcPts val="450"/>
              </a:spcAft>
              <a:buFont typeface="Arial"/>
              <a:buChar char="•"/>
            </a:pPr>
            <a:r>
              <a:rPr lang="en-US" sz="1271" dirty="0">
                <a:solidFill>
                  <a:srgbClr val="374151"/>
                </a:solidFill>
                <a:latin typeface="+mn-lt"/>
              </a:rPr>
              <a:t>Prompt Injection Defense: evidence chunks isolated in [Evidence i]…[End Evidence] structural delimiters → system instructions declared immutable → verifier flags suspicious output.</a:t>
            </a:r>
          </a:p>
          <a:p>
            <a:pPr marL="285750" indent="-285750">
              <a:lnSpc>
                <a:spcPct val="100000"/>
              </a:lnSpc>
              <a:spcAft>
                <a:spcPts val="450"/>
              </a:spcAft>
              <a:buFont typeface="Arial"/>
              <a:buChar char="•"/>
            </a:pPr>
            <a:r>
              <a:rPr lang="en-US" sz="1271" dirty="0">
                <a:solidFill>
                  <a:srgbClr val="374151"/>
                </a:solidFill>
                <a:latin typeface="+mn-lt"/>
              </a:rPr>
              <a:t>PII Anonymizer (pii_anonymizer.py): auto-scrubs Aadhaar numbers, SSNs, phone numbers, and policy IDs from queries before LLM API calls.</a:t>
            </a:r>
          </a:p>
          <a:p>
            <a:pPr marL="285750" indent="-285750">
              <a:lnSpc>
                <a:spcPct val="100000"/>
              </a:lnSpc>
              <a:spcAft>
                <a:spcPts val="450"/>
              </a:spcAft>
              <a:buFont typeface="Arial"/>
              <a:buChar char="•"/>
            </a:pPr>
            <a:r>
              <a:rPr lang="en-US" sz="1271" dirty="0">
                <a:solidFill>
                  <a:srgbClr val="374151"/>
                </a:solidFill>
                <a:latin typeface="+mn-lt"/>
              </a:rPr>
              <a:t>IRDAI Regulatory Compliance: patient_context.py enforces PED moratorium caps (max 36 months), standardized exclusion lists, and proportionate deduction logic.</a:t>
            </a:r>
          </a:p>
          <a:p>
            <a:pPr marL="285750" indent="-285750">
              <a:lnSpc>
                <a:spcPct val="100000"/>
              </a:lnSpc>
              <a:spcAft>
                <a:spcPts val="450"/>
              </a:spcAft>
              <a:buFont typeface="Arial"/>
              <a:buChar char="•"/>
            </a:pPr>
            <a:r>
              <a:rPr lang="en-US" sz="1271" dirty="0">
                <a:solidFill>
                  <a:srgbClr val="374151"/>
                </a:solidFill>
                <a:latin typeface="+mn-lt"/>
              </a:rPr>
              <a:t>JWT Authentication (auth.py): protects admin routes, policy uploads, and patient data endpoints; CORS locked to trusted origins.</a:t>
            </a:r>
          </a:p>
          <a:p>
            <a:pPr marL="285750" indent="-285750">
              <a:lnSpc>
                <a:spcPct val="100000"/>
              </a:lnSpc>
              <a:spcAft>
                <a:spcPts val="450"/>
              </a:spcAft>
              <a:buFont typeface="Arial"/>
              <a:buChar char="•"/>
            </a:pPr>
            <a:r>
              <a:rPr lang="en-US" sz="1271" dirty="0">
                <a:solidFill>
                  <a:srgbClr val="374151"/>
                </a:solidFill>
                <a:latin typeface="+mn-lt"/>
              </a:rPr>
              <a:t>Production Stack: FastAPI async + uvicorn · SQLAlchemy 2.0 + asyncpg pool · singleton embedding model cache (15ms inference) · HIPAA/GDPR pseudonymized query logs · configurable retention.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Security, Compliance &amp; Production Highlights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PolicyGraph-RAG | LTIMindtree</a:t>
            </a:r>
          </a:p>
          <a:p>
            <a:pPr algn="r"/>
            <a:endParaRPr lang="en-US" dirty="0"/>
          </a:p>
        </p:txBody>
      </p:sp>
      <p:sp>
        <p:nvSpPr>
          <p:cNvPr id="6" name="Chevron 5"/>
          <p:cNvSpPr/>
          <p:nvPr/>
        </p:nvSpPr>
        <p:spPr>
          <a:xfrm>
            <a:off x="250000" y="4890000"/>
            <a:ext cx="2274509" cy="830000"/>
          </a:xfrm>
          <a:prstGeom prst="chevron">
            <a:avLst/>
          </a:prstGeom>
          <a:solidFill>
            <a:srgbClr val="1A365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8000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MIME + Size
Validation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≤25MB · UUID
Sandbox Parse</a:t>
            </a:r>
          </a:p>
        </p:txBody>
      </p:sp>
      <p:sp>
        <p:nvSpPr>
          <p:cNvPr id="7" name="Chevron 6"/>
          <p:cNvSpPr/>
          <p:nvPr/>
        </p:nvSpPr>
        <p:spPr>
          <a:xfrm>
            <a:off x="2115097" y="4890000"/>
            <a:ext cx="2274509" cy="830000"/>
          </a:xfrm>
          <a:prstGeom prst="chevron">
            <a:avLst/>
          </a:prstGeom>
          <a:solidFill>
            <a:srgbClr val="0E749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8000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Prompt Injection
Defense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[Evidence i]
Delimiters</a:t>
            </a:r>
          </a:p>
        </p:txBody>
      </p:sp>
      <p:sp>
        <p:nvSpPr>
          <p:cNvPr id="8" name="Chevron 7"/>
          <p:cNvSpPr/>
          <p:nvPr/>
        </p:nvSpPr>
        <p:spPr>
          <a:xfrm>
            <a:off x="3980194" y="4890000"/>
            <a:ext cx="2274509" cy="830000"/>
          </a:xfrm>
          <a:prstGeom prst="chevron">
            <a:avLst/>
          </a:prstGeom>
          <a:solidFill>
            <a:srgbClr val="1A365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8000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PII Scrubber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Aadhaar · SSN
Phone Strip</a:t>
            </a:r>
          </a:p>
        </p:txBody>
      </p:sp>
      <p:sp>
        <p:nvSpPr>
          <p:cNvPr id="9" name="Chevron 8"/>
          <p:cNvSpPr/>
          <p:nvPr/>
        </p:nvSpPr>
        <p:spPr>
          <a:xfrm>
            <a:off x="5845291" y="4890000"/>
            <a:ext cx="2274509" cy="830000"/>
          </a:xfrm>
          <a:prstGeom prst="chevron">
            <a:avLst/>
          </a:prstGeom>
          <a:solidFill>
            <a:srgbClr val="0E749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8000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IRDAI
Compliance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PED Moratorium
36-month Cap</a:t>
            </a:r>
          </a:p>
        </p:txBody>
      </p:sp>
      <p:sp>
        <p:nvSpPr>
          <p:cNvPr id="10" name="Chevron 9"/>
          <p:cNvSpPr/>
          <p:nvPr/>
        </p:nvSpPr>
        <p:spPr>
          <a:xfrm>
            <a:off x="7710388" y="4890000"/>
            <a:ext cx="2274509" cy="830000"/>
          </a:xfrm>
          <a:prstGeom prst="chevron">
            <a:avLst/>
          </a:prstGeom>
          <a:solidFill>
            <a:srgbClr val="D9770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8000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JWT Auth
+ CORS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Admin Routes
Trusted Origins</a:t>
            </a:r>
          </a:p>
        </p:txBody>
      </p:sp>
      <p:sp>
        <p:nvSpPr>
          <p:cNvPr id="11" name="Chevron 10"/>
          <p:cNvSpPr/>
          <p:nvPr/>
        </p:nvSpPr>
        <p:spPr>
          <a:xfrm>
            <a:off x="9575485" y="4890000"/>
            <a:ext cx="2274509" cy="830000"/>
          </a:xfrm>
          <a:prstGeom prst="chevron">
            <a:avLst/>
          </a:prstGeom>
          <a:solidFill>
            <a:srgbClr val="10956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8000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HIPAA/GDPR
Audit Logs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Pseudo IDs
Retention Ctrl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4" name="Picture 3" descr="PolicyBazaar_vs_PolicyGraph-RAG__Smarter_Insurance_Ins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00" y="950000"/>
            <a:ext cx="11792000" cy="53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pic>
        <p:nvPicPr>
          <p:cNvPr id="4" name="Picture 3" descr="Hybrid_OKF___RA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980000"/>
            <a:ext cx="11832000" cy="537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205</Words>
  <Application>Microsoft Office PowerPoint</Application>
  <PresentationFormat>Widescreen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(Body)</vt:lpstr>
      <vt:lpstr>Calibri Light</vt:lpstr>
      <vt:lpstr>Frutiger 45 bold</vt:lpstr>
      <vt:lpstr>Frutiger LT Pro 45 Light</vt:lpstr>
      <vt:lpstr>source-serif-pro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HARI PRASATH</cp:lastModifiedBy>
  <cp:revision>14</cp:revision>
  <dcterms:created xsi:type="dcterms:W3CDTF">2024-05-13T10:33:11Z</dcterms:created>
  <dcterms:modified xsi:type="dcterms:W3CDTF">2025-10-06T09:41:15Z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